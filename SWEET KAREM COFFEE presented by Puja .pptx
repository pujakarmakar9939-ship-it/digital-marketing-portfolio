
<file path=[Content_Types].xml><?xml version="1.0" encoding="utf-8"?>
<Types xmlns="http://schemas.openxmlformats.org/package/2006/content-types">
  <Default Extension="png" ContentType="image/png"/>
  <Default Extension="svg" ContentType="image/svg+xml"/>
  <Default Extension="webp"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86" r:id="rId3"/>
    <p:sldId id="257" r:id="rId4"/>
    <p:sldId id="289" r:id="rId5"/>
    <p:sldId id="288" r:id="rId6"/>
    <p:sldId id="294" r:id="rId7"/>
    <p:sldId id="262" r:id="rId8"/>
    <p:sldId id="259" r:id="rId9"/>
    <p:sldId id="296" r:id="rId10"/>
    <p:sldId id="297" r:id="rId11"/>
    <p:sldId id="298" r:id="rId12"/>
    <p:sldId id="299" r:id="rId13"/>
    <p:sldId id="300" r:id="rId14"/>
    <p:sldId id="302" r:id="rId15"/>
    <p:sldId id="303" r:id="rId16"/>
    <p:sldId id="304" r:id="rId17"/>
    <p:sldId id="335" r:id="rId18"/>
    <p:sldId id="307" r:id="rId19"/>
    <p:sldId id="308" r:id="rId20"/>
    <p:sldId id="301" r:id="rId21"/>
    <p:sldId id="305" r:id="rId22"/>
    <p:sldId id="306" r:id="rId23"/>
    <p:sldId id="309" r:id="rId24"/>
    <p:sldId id="310" r:id="rId25"/>
    <p:sldId id="311" r:id="rId26"/>
    <p:sldId id="312" r:id="rId27"/>
    <p:sldId id="318" r:id="rId28"/>
    <p:sldId id="316" r:id="rId29"/>
    <p:sldId id="313" r:id="rId30"/>
    <p:sldId id="317" r:id="rId31"/>
    <p:sldId id="325" r:id="rId32"/>
    <p:sldId id="330" r:id="rId33"/>
    <p:sldId id="331" r:id="rId34"/>
    <p:sldId id="332" r:id="rId35"/>
    <p:sldId id="333" r:id="rId36"/>
    <p:sldId id="334" r:id="rId37"/>
    <p:sldId id="320" r:id="rId38"/>
    <p:sldId id="321" r:id="rId39"/>
    <p:sldId id="322" r:id="rId40"/>
    <p:sldId id="323" r:id="rId41"/>
    <p:sldId id="324" r:id="rId42"/>
    <p:sldId id="326" r:id="rId43"/>
    <p:sldId id="327" r:id="rId44"/>
    <p:sldId id="328" r:id="rId45"/>
    <p:sldId id="314" r:id="rId46"/>
    <p:sldId id="315" r:id="rId47"/>
    <p:sldId id="319" r:id="rId48"/>
    <p:sldId id="258" r:id="rId49"/>
    <p:sldId id="260" r:id="rId50"/>
    <p:sldId id="290" r:id="rId51"/>
    <p:sldId id="261" r:id="rId52"/>
    <p:sldId id="292" r:id="rId53"/>
    <p:sldId id="266" r:id="rId54"/>
    <p:sldId id="267" r:id="rId55"/>
    <p:sldId id="268" r:id="rId56"/>
    <p:sldId id="269" r:id="rId57"/>
    <p:sldId id="271" r:id="rId58"/>
    <p:sldId id="293" r:id="rId59"/>
    <p:sldId id="272" r:id="rId60"/>
    <p:sldId id="273" r:id="rId61"/>
    <p:sldId id="274" r:id="rId62"/>
    <p:sldId id="275" r:id="rId63"/>
    <p:sldId id="276" r:id="rId64"/>
    <p:sldId id="277" r:id="rId65"/>
    <p:sldId id="278" r:id="rId66"/>
    <p:sldId id="279" r:id="rId67"/>
    <p:sldId id="280" r:id="rId6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204" autoAdjust="0"/>
    <p:restoredTop sz="94660"/>
  </p:normalViewPr>
  <p:slideViewPr>
    <p:cSldViewPr snapToGrid="0">
      <p:cViewPr varScale="1">
        <p:scale>
          <a:sx n="81" d="100"/>
          <a:sy n="81" d="100"/>
        </p:scale>
        <p:origin x="744"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7" Type="http://schemas.openxmlformats.org/officeDocument/2006/relationships/slide" Target="slides/slide6.xml"/><Relationship Id="rId71"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8121793-E63D-4EEB-81F3-48E12F652B53}" type="doc">
      <dgm:prSet loTypeId="urn:microsoft.com/office/officeart/2005/8/layout/hierarchy2" loCatId="hierarchy" qsTypeId="urn:microsoft.com/office/officeart/2005/8/quickstyle/simple1" qsCatId="simple" csTypeId="urn:microsoft.com/office/officeart/2005/8/colors/accent1_2" csCatId="accent1" phldr="1"/>
      <dgm:spPr/>
      <dgm:t>
        <a:bodyPr/>
        <a:lstStyle/>
        <a:p>
          <a:endParaRPr lang="en-IN"/>
        </a:p>
      </dgm:t>
    </dgm:pt>
    <dgm:pt modelId="{C43E42AA-EAB5-4A36-807B-2D224BC287B2}">
      <dgm:prSet phldrT="[Text]">
        <dgm:style>
          <a:lnRef idx="1">
            <a:schemeClr val="accent4"/>
          </a:lnRef>
          <a:fillRef idx="3">
            <a:schemeClr val="accent4"/>
          </a:fillRef>
          <a:effectRef idx="2">
            <a:schemeClr val="accent4"/>
          </a:effectRef>
          <a:fontRef idx="minor">
            <a:schemeClr val="lt1"/>
          </a:fontRef>
        </dgm:style>
      </dgm:prSet>
      <dgm:spPr/>
      <dgm:t>
        <a:bodyPr/>
        <a:lstStyle/>
        <a:p>
          <a:r>
            <a:rPr lang="en-IN" b="1" dirty="0"/>
            <a:t>Project Manager 1+</a:t>
          </a:r>
        </a:p>
      </dgm:t>
    </dgm:pt>
    <dgm:pt modelId="{86405AD2-09A1-44F9-A96C-7FF1FFED2DDB}" type="parTrans" cxnId="{8D96F886-17B3-4FA4-BE9A-4EF536E0BE46}">
      <dgm:prSet/>
      <dgm:spPr/>
      <dgm:t>
        <a:bodyPr/>
        <a:lstStyle/>
        <a:p>
          <a:endParaRPr lang="en-IN"/>
        </a:p>
      </dgm:t>
    </dgm:pt>
    <dgm:pt modelId="{2C4415DB-1A25-494B-9DFC-E7891D6DFDB9}" type="sibTrans" cxnId="{8D96F886-17B3-4FA4-BE9A-4EF536E0BE46}">
      <dgm:prSet/>
      <dgm:spPr/>
      <dgm:t>
        <a:bodyPr/>
        <a:lstStyle/>
        <a:p>
          <a:endParaRPr lang="en-IN"/>
        </a:p>
      </dgm:t>
    </dgm:pt>
    <dgm:pt modelId="{5961BD67-C8AE-4D04-91E1-3EBD12BD79EF}">
      <dgm:prSet phldrT="[Text]">
        <dgm:style>
          <a:lnRef idx="1">
            <a:schemeClr val="accent6"/>
          </a:lnRef>
          <a:fillRef idx="2">
            <a:schemeClr val="accent6"/>
          </a:fillRef>
          <a:effectRef idx="1">
            <a:schemeClr val="accent6"/>
          </a:effectRef>
          <a:fontRef idx="minor">
            <a:schemeClr val="dk1"/>
          </a:fontRef>
        </dgm:style>
      </dgm:prSet>
      <dgm:spPr/>
      <dgm:t>
        <a:bodyPr/>
        <a:lstStyle/>
        <a:p>
          <a:r>
            <a:rPr lang="en-IN" b="1" dirty="0"/>
            <a:t>SEO 2+</a:t>
          </a:r>
        </a:p>
      </dgm:t>
    </dgm:pt>
    <dgm:pt modelId="{5E224065-9A6A-4F98-87CA-75403A987688}" type="parTrans" cxnId="{D571FB94-E615-46F6-98A7-C936C6FAE27A}">
      <dgm:prSet>
        <dgm:style>
          <a:lnRef idx="3">
            <a:schemeClr val="dk1"/>
          </a:lnRef>
          <a:fillRef idx="0">
            <a:schemeClr val="dk1"/>
          </a:fillRef>
          <a:effectRef idx="2">
            <a:schemeClr val="dk1"/>
          </a:effectRef>
          <a:fontRef idx="minor">
            <a:schemeClr val="tx1"/>
          </a:fontRef>
        </dgm:style>
      </dgm:prSet>
      <dgm:spPr/>
      <dgm:t>
        <a:bodyPr/>
        <a:lstStyle/>
        <a:p>
          <a:endParaRPr lang="en-IN"/>
        </a:p>
      </dgm:t>
    </dgm:pt>
    <dgm:pt modelId="{79D2C080-790F-4EFA-944B-B7AA25ABD060}" type="sibTrans" cxnId="{D571FB94-E615-46F6-98A7-C936C6FAE27A}">
      <dgm:prSet/>
      <dgm:spPr/>
      <dgm:t>
        <a:bodyPr/>
        <a:lstStyle/>
        <a:p>
          <a:endParaRPr lang="en-IN"/>
        </a:p>
      </dgm:t>
    </dgm:pt>
    <dgm:pt modelId="{D54E64A9-9922-443A-853D-3601737F0AA2}">
      <dgm:prSet phldrT="[Text]">
        <dgm:style>
          <a:lnRef idx="1">
            <a:schemeClr val="accent2"/>
          </a:lnRef>
          <a:fillRef idx="2">
            <a:schemeClr val="accent2"/>
          </a:fillRef>
          <a:effectRef idx="1">
            <a:schemeClr val="accent2"/>
          </a:effectRef>
          <a:fontRef idx="minor">
            <a:schemeClr val="dk1"/>
          </a:fontRef>
        </dgm:style>
      </dgm:prSet>
      <dgm:spPr/>
      <dgm:t>
        <a:bodyPr/>
        <a:lstStyle/>
        <a:p>
          <a:r>
            <a:rPr lang="en-IN" b="1" dirty="0"/>
            <a:t>Social Media 2+</a:t>
          </a:r>
        </a:p>
      </dgm:t>
    </dgm:pt>
    <dgm:pt modelId="{C3ECEBB8-2642-46E1-96C5-EEC0A1AA9A1D}" type="parTrans" cxnId="{7C1E3CF1-896A-4E2E-8A54-B4E1EF5EDEFE}">
      <dgm:prSet>
        <dgm:style>
          <a:lnRef idx="3">
            <a:schemeClr val="dk1"/>
          </a:lnRef>
          <a:fillRef idx="0">
            <a:schemeClr val="dk1"/>
          </a:fillRef>
          <a:effectRef idx="2">
            <a:schemeClr val="dk1"/>
          </a:effectRef>
          <a:fontRef idx="minor">
            <a:schemeClr val="tx1"/>
          </a:fontRef>
        </dgm:style>
      </dgm:prSet>
      <dgm:spPr/>
      <dgm:t>
        <a:bodyPr/>
        <a:lstStyle/>
        <a:p>
          <a:endParaRPr lang="en-IN"/>
        </a:p>
      </dgm:t>
    </dgm:pt>
    <dgm:pt modelId="{EEB7D86D-B58F-434A-B338-7C998F5601B0}" type="sibTrans" cxnId="{7C1E3CF1-896A-4E2E-8A54-B4E1EF5EDEFE}">
      <dgm:prSet/>
      <dgm:spPr/>
      <dgm:t>
        <a:bodyPr/>
        <a:lstStyle/>
        <a:p>
          <a:endParaRPr lang="en-IN"/>
        </a:p>
      </dgm:t>
    </dgm:pt>
    <dgm:pt modelId="{8BCD78C8-20E7-4F37-81ED-23F93A80B7A8}">
      <dgm:prSet phldrT="[Text]">
        <dgm:style>
          <a:lnRef idx="1">
            <a:schemeClr val="accent2"/>
          </a:lnRef>
          <a:fillRef idx="2">
            <a:schemeClr val="accent2"/>
          </a:fillRef>
          <a:effectRef idx="1">
            <a:schemeClr val="accent2"/>
          </a:effectRef>
          <a:fontRef idx="minor">
            <a:schemeClr val="dk1"/>
          </a:fontRef>
        </dgm:style>
      </dgm:prSet>
      <dgm:spPr/>
      <dgm:t>
        <a:bodyPr/>
        <a:lstStyle/>
        <a:p>
          <a:r>
            <a:rPr lang="en-IN" b="1" dirty="0"/>
            <a:t>PPC 2+</a:t>
          </a:r>
        </a:p>
      </dgm:t>
    </dgm:pt>
    <dgm:pt modelId="{EDD56E9B-99CA-4B01-9902-7C5ABB113F45}" type="parTrans" cxnId="{E0CF15DF-B017-4D2F-BF01-36136ED1C755}">
      <dgm:prSet>
        <dgm:style>
          <a:lnRef idx="3">
            <a:schemeClr val="dk1"/>
          </a:lnRef>
          <a:fillRef idx="0">
            <a:schemeClr val="dk1"/>
          </a:fillRef>
          <a:effectRef idx="2">
            <a:schemeClr val="dk1"/>
          </a:effectRef>
          <a:fontRef idx="minor">
            <a:schemeClr val="tx1"/>
          </a:fontRef>
        </dgm:style>
      </dgm:prSet>
      <dgm:spPr/>
      <dgm:t>
        <a:bodyPr/>
        <a:lstStyle/>
        <a:p>
          <a:endParaRPr lang="en-IN"/>
        </a:p>
      </dgm:t>
    </dgm:pt>
    <dgm:pt modelId="{D54E04E9-5570-445E-AE49-2545CD54A171}" type="sibTrans" cxnId="{E0CF15DF-B017-4D2F-BF01-36136ED1C755}">
      <dgm:prSet/>
      <dgm:spPr/>
      <dgm:t>
        <a:bodyPr/>
        <a:lstStyle/>
        <a:p>
          <a:endParaRPr lang="en-IN"/>
        </a:p>
      </dgm:t>
    </dgm:pt>
    <dgm:pt modelId="{8F7810E5-7215-4549-A612-30ECD406E5A9}">
      <dgm:prSet phldrT="[Text]">
        <dgm:style>
          <a:lnRef idx="1">
            <a:schemeClr val="accent6"/>
          </a:lnRef>
          <a:fillRef idx="2">
            <a:schemeClr val="accent6"/>
          </a:fillRef>
          <a:effectRef idx="1">
            <a:schemeClr val="accent6"/>
          </a:effectRef>
          <a:fontRef idx="minor">
            <a:schemeClr val="dk1"/>
          </a:fontRef>
        </dgm:style>
      </dgm:prSet>
      <dgm:spPr/>
      <dgm:t>
        <a:bodyPr/>
        <a:lstStyle/>
        <a:p>
          <a:r>
            <a:rPr lang="en-IN" b="1" dirty="0"/>
            <a:t>Content 2+</a:t>
          </a:r>
        </a:p>
      </dgm:t>
    </dgm:pt>
    <dgm:pt modelId="{A3AC0F4D-D4F8-47F4-A841-7B62EE6A2CF0}" type="parTrans" cxnId="{3E121ECE-9927-4E54-ADF3-4121F9D6C221}">
      <dgm:prSet>
        <dgm:style>
          <a:lnRef idx="3">
            <a:schemeClr val="dk1"/>
          </a:lnRef>
          <a:fillRef idx="0">
            <a:schemeClr val="dk1"/>
          </a:fillRef>
          <a:effectRef idx="2">
            <a:schemeClr val="dk1"/>
          </a:effectRef>
          <a:fontRef idx="minor">
            <a:schemeClr val="tx1"/>
          </a:fontRef>
        </dgm:style>
      </dgm:prSet>
      <dgm:spPr/>
      <dgm:t>
        <a:bodyPr/>
        <a:lstStyle/>
        <a:p>
          <a:endParaRPr lang="en-IN"/>
        </a:p>
      </dgm:t>
    </dgm:pt>
    <dgm:pt modelId="{C68EB622-A77B-4743-B55B-779CC9D644F4}" type="sibTrans" cxnId="{3E121ECE-9927-4E54-ADF3-4121F9D6C221}">
      <dgm:prSet/>
      <dgm:spPr/>
      <dgm:t>
        <a:bodyPr/>
        <a:lstStyle/>
        <a:p>
          <a:endParaRPr lang="en-IN"/>
        </a:p>
      </dgm:t>
    </dgm:pt>
    <dgm:pt modelId="{8BD3876C-D0B8-4019-9F38-7EA0252F8CAB}">
      <dgm:prSet phldrT="[Text]">
        <dgm:style>
          <a:lnRef idx="1">
            <a:schemeClr val="accent5"/>
          </a:lnRef>
          <a:fillRef idx="2">
            <a:schemeClr val="accent5"/>
          </a:fillRef>
          <a:effectRef idx="1">
            <a:schemeClr val="accent5"/>
          </a:effectRef>
          <a:fontRef idx="minor">
            <a:schemeClr val="dk1"/>
          </a:fontRef>
        </dgm:style>
      </dgm:prSet>
      <dgm:spPr/>
      <dgm:t>
        <a:bodyPr/>
        <a:lstStyle/>
        <a:p>
          <a:r>
            <a:rPr lang="en-IN" b="1" dirty="0"/>
            <a:t>Creative 2+</a:t>
          </a:r>
        </a:p>
      </dgm:t>
    </dgm:pt>
    <dgm:pt modelId="{AE84F53E-C275-4B18-A46E-3A46B22FD1B5}" type="parTrans" cxnId="{E586A7BC-A294-4E35-BD40-547C4DF08012}">
      <dgm:prSet>
        <dgm:style>
          <a:lnRef idx="3">
            <a:schemeClr val="dk1"/>
          </a:lnRef>
          <a:fillRef idx="0">
            <a:schemeClr val="dk1"/>
          </a:fillRef>
          <a:effectRef idx="2">
            <a:schemeClr val="dk1"/>
          </a:effectRef>
          <a:fontRef idx="minor">
            <a:schemeClr val="tx1"/>
          </a:fontRef>
        </dgm:style>
      </dgm:prSet>
      <dgm:spPr/>
      <dgm:t>
        <a:bodyPr/>
        <a:lstStyle/>
        <a:p>
          <a:endParaRPr lang="en-IN"/>
        </a:p>
      </dgm:t>
    </dgm:pt>
    <dgm:pt modelId="{7517CC87-0D01-4EC0-93A4-2964A60DF501}" type="sibTrans" cxnId="{E586A7BC-A294-4E35-BD40-547C4DF08012}">
      <dgm:prSet/>
      <dgm:spPr/>
      <dgm:t>
        <a:bodyPr/>
        <a:lstStyle/>
        <a:p>
          <a:endParaRPr lang="en-IN"/>
        </a:p>
      </dgm:t>
    </dgm:pt>
    <dgm:pt modelId="{6254D8C4-20B1-4A25-8EDE-9DDB36BDA777}" type="pres">
      <dgm:prSet presAssocID="{18121793-E63D-4EEB-81F3-48E12F652B53}" presName="diagram" presStyleCnt="0">
        <dgm:presLayoutVars>
          <dgm:chPref val="1"/>
          <dgm:dir/>
          <dgm:animOne val="branch"/>
          <dgm:animLvl val="lvl"/>
          <dgm:resizeHandles val="exact"/>
        </dgm:presLayoutVars>
      </dgm:prSet>
      <dgm:spPr/>
    </dgm:pt>
    <dgm:pt modelId="{A5BE4C9F-9399-4202-817E-D510B1B185D1}" type="pres">
      <dgm:prSet presAssocID="{C43E42AA-EAB5-4A36-807B-2D224BC287B2}" presName="root1" presStyleCnt="0"/>
      <dgm:spPr/>
    </dgm:pt>
    <dgm:pt modelId="{9D1AC5C4-8C86-48EA-979A-A3AF49B51E65}" type="pres">
      <dgm:prSet presAssocID="{C43E42AA-EAB5-4A36-807B-2D224BC287B2}" presName="LevelOneTextNode" presStyleLbl="node0" presStyleIdx="0" presStyleCnt="1">
        <dgm:presLayoutVars>
          <dgm:chPref val="3"/>
        </dgm:presLayoutVars>
      </dgm:prSet>
      <dgm:spPr/>
    </dgm:pt>
    <dgm:pt modelId="{580143FA-16E5-49CE-A55C-A53381B58CDE}" type="pres">
      <dgm:prSet presAssocID="{C43E42AA-EAB5-4A36-807B-2D224BC287B2}" presName="level2hierChild" presStyleCnt="0"/>
      <dgm:spPr/>
    </dgm:pt>
    <dgm:pt modelId="{AE82C28C-06B1-4C8E-98B3-82924245C419}" type="pres">
      <dgm:prSet presAssocID="{5E224065-9A6A-4F98-87CA-75403A987688}" presName="conn2-1" presStyleLbl="parChTrans1D2" presStyleIdx="0" presStyleCnt="2"/>
      <dgm:spPr/>
    </dgm:pt>
    <dgm:pt modelId="{4202FB95-C7C5-441D-ADAE-D090FBAB25D3}" type="pres">
      <dgm:prSet presAssocID="{5E224065-9A6A-4F98-87CA-75403A987688}" presName="connTx" presStyleLbl="parChTrans1D2" presStyleIdx="0" presStyleCnt="2"/>
      <dgm:spPr/>
    </dgm:pt>
    <dgm:pt modelId="{275FEFC0-4F57-4373-8970-DF994932F8EF}" type="pres">
      <dgm:prSet presAssocID="{5961BD67-C8AE-4D04-91E1-3EBD12BD79EF}" presName="root2" presStyleCnt="0"/>
      <dgm:spPr/>
    </dgm:pt>
    <dgm:pt modelId="{B7A9D937-D3F4-456A-A994-102B8E5464F0}" type="pres">
      <dgm:prSet presAssocID="{5961BD67-C8AE-4D04-91E1-3EBD12BD79EF}" presName="LevelTwoTextNode" presStyleLbl="node2" presStyleIdx="0" presStyleCnt="2">
        <dgm:presLayoutVars>
          <dgm:chPref val="3"/>
        </dgm:presLayoutVars>
      </dgm:prSet>
      <dgm:spPr/>
    </dgm:pt>
    <dgm:pt modelId="{D9420463-8308-45B7-ADA6-E99E33ED6F74}" type="pres">
      <dgm:prSet presAssocID="{5961BD67-C8AE-4D04-91E1-3EBD12BD79EF}" presName="level3hierChild" presStyleCnt="0"/>
      <dgm:spPr/>
    </dgm:pt>
    <dgm:pt modelId="{031B293B-6A09-4B6D-8105-AF01F3D406EB}" type="pres">
      <dgm:prSet presAssocID="{C3ECEBB8-2642-46E1-96C5-EEC0A1AA9A1D}" presName="conn2-1" presStyleLbl="parChTrans1D3" presStyleIdx="0" presStyleCnt="3"/>
      <dgm:spPr/>
    </dgm:pt>
    <dgm:pt modelId="{8C9B96CC-9185-4EC2-AD1F-93977C4887C3}" type="pres">
      <dgm:prSet presAssocID="{C3ECEBB8-2642-46E1-96C5-EEC0A1AA9A1D}" presName="connTx" presStyleLbl="parChTrans1D3" presStyleIdx="0" presStyleCnt="3"/>
      <dgm:spPr/>
    </dgm:pt>
    <dgm:pt modelId="{E96658F3-43BF-46BB-B92F-026430752BEF}" type="pres">
      <dgm:prSet presAssocID="{D54E64A9-9922-443A-853D-3601737F0AA2}" presName="root2" presStyleCnt="0"/>
      <dgm:spPr/>
    </dgm:pt>
    <dgm:pt modelId="{DF6A63FE-B06E-48BF-8EDE-D9CF55DE7CC1}" type="pres">
      <dgm:prSet presAssocID="{D54E64A9-9922-443A-853D-3601737F0AA2}" presName="LevelTwoTextNode" presStyleLbl="node3" presStyleIdx="0" presStyleCnt="3">
        <dgm:presLayoutVars>
          <dgm:chPref val="3"/>
        </dgm:presLayoutVars>
      </dgm:prSet>
      <dgm:spPr/>
    </dgm:pt>
    <dgm:pt modelId="{A86ACA44-5A56-4412-8A30-41FA0A51F09E}" type="pres">
      <dgm:prSet presAssocID="{D54E64A9-9922-443A-853D-3601737F0AA2}" presName="level3hierChild" presStyleCnt="0"/>
      <dgm:spPr/>
    </dgm:pt>
    <dgm:pt modelId="{0FC0A00E-56B5-4F50-B1DD-A0967E266DB2}" type="pres">
      <dgm:prSet presAssocID="{EDD56E9B-99CA-4B01-9902-7C5ABB113F45}" presName="conn2-1" presStyleLbl="parChTrans1D3" presStyleIdx="1" presStyleCnt="3"/>
      <dgm:spPr/>
    </dgm:pt>
    <dgm:pt modelId="{00B8E7E0-8302-4D15-9C01-32D787A2243E}" type="pres">
      <dgm:prSet presAssocID="{EDD56E9B-99CA-4B01-9902-7C5ABB113F45}" presName="connTx" presStyleLbl="parChTrans1D3" presStyleIdx="1" presStyleCnt="3"/>
      <dgm:spPr/>
    </dgm:pt>
    <dgm:pt modelId="{71FF6D84-9DB4-4E28-A6C1-7394FDBC8AF1}" type="pres">
      <dgm:prSet presAssocID="{8BCD78C8-20E7-4F37-81ED-23F93A80B7A8}" presName="root2" presStyleCnt="0"/>
      <dgm:spPr/>
    </dgm:pt>
    <dgm:pt modelId="{4A84EBD3-31A4-47A0-8163-9E93B3C74914}" type="pres">
      <dgm:prSet presAssocID="{8BCD78C8-20E7-4F37-81ED-23F93A80B7A8}" presName="LevelTwoTextNode" presStyleLbl="node3" presStyleIdx="1" presStyleCnt="3">
        <dgm:presLayoutVars>
          <dgm:chPref val="3"/>
        </dgm:presLayoutVars>
      </dgm:prSet>
      <dgm:spPr/>
    </dgm:pt>
    <dgm:pt modelId="{0E56A77C-C709-43CB-B692-C9369B66CD06}" type="pres">
      <dgm:prSet presAssocID="{8BCD78C8-20E7-4F37-81ED-23F93A80B7A8}" presName="level3hierChild" presStyleCnt="0"/>
      <dgm:spPr/>
    </dgm:pt>
    <dgm:pt modelId="{EBB65680-DCAA-4D3B-980B-F5BC7B4F5918}" type="pres">
      <dgm:prSet presAssocID="{A3AC0F4D-D4F8-47F4-A841-7B62EE6A2CF0}" presName="conn2-1" presStyleLbl="parChTrans1D2" presStyleIdx="1" presStyleCnt="2"/>
      <dgm:spPr/>
    </dgm:pt>
    <dgm:pt modelId="{D2168C05-46DC-4804-B984-D294A7EE1CC9}" type="pres">
      <dgm:prSet presAssocID="{A3AC0F4D-D4F8-47F4-A841-7B62EE6A2CF0}" presName="connTx" presStyleLbl="parChTrans1D2" presStyleIdx="1" presStyleCnt="2"/>
      <dgm:spPr/>
    </dgm:pt>
    <dgm:pt modelId="{99A042D5-4989-4A4D-BB4E-9322179E2FB4}" type="pres">
      <dgm:prSet presAssocID="{8F7810E5-7215-4549-A612-30ECD406E5A9}" presName="root2" presStyleCnt="0"/>
      <dgm:spPr/>
    </dgm:pt>
    <dgm:pt modelId="{4577BA5D-119F-4929-87E9-204DCE9FE8D5}" type="pres">
      <dgm:prSet presAssocID="{8F7810E5-7215-4549-A612-30ECD406E5A9}" presName="LevelTwoTextNode" presStyleLbl="node2" presStyleIdx="1" presStyleCnt="2">
        <dgm:presLayoutVars>
          <dgm:chPref val="3"/>
        </dgm:presLayoutVars>
      </dgm:prSet>
      <dgm:spPr/>
    </dgm:pt>
    <dgm:pt modelId="{938CBDDC-9A4E-43DA-B092-CCB9D15FE13A}" type="pres">
      <dgm:prSet presAssocID="{8F7810E5-7215-4549-A612-30ECD406E5A9}" presName="level3hierChild" presStyleCnt="0"/>
      <dgm:spPr/>
    </dgm:pt>
    <dgm:pt modelId="{076C3268-3D62-456D-A529-FBFA8148D9BF}" type="pres">
      <dgm:prSet presAssocID="{AE84F53E-C275-4B18-A46E-3A46B22FD1B5}" presName="conn2-1" presStyleLbl="parChTrans1D3" presStyleIdx="2" presStyleCnt="3"/>
      <dgm:spPr/>
    </dgm:pt>
    <dgm:pt modelId="{DB7F42DC-289D-4B2D-9FE8-146521076863}" type="pres">
      <dgm:prSet presAssocID="{AE84F53E-C275-4B18-A46E-3A46B22FD1B5}" presName="connTx" presStyleLbl="parChTrans1D3" presStyleIdx="2" presStyleCnt="3"/>
      <dgm:spPr/>
    </dgm:pt>
    <dgm:pt modelId="{283B6FA0-7224-447F-B77E-42433CA8C11E}" type="pres">
      <dgm:prSet presAssocID="{8BD3876C-D0B8-4019-9F38-7EA0252F8CAB}" presName="root2" presStyleCnt="0"/>
      <dgm:spPr/>
    </dgm:pt>
    <dgm:pt modelId="{F87388DF-84A2-49E7-8608-8CB6553E33B6}" type="pres">
      <dgm:prSet presAssocID="{8BD3876C-D0B8-4019-9F38-7EA0252F8CAB}" presName="LevelTwoTextNode" presStyleLbl="node3" presStyleIdx="2" presStyleCnt="3">
        <dgm:presLayoutVars>
          <dgm:chPref val="3"/>
        </dgm:presLayoutVars>
      </dgm:prSet>
      <dgm:spPr/>
    </dgm:pt>
    <dgm:pt modelId="{F5515789-836E-4BF9-A286-9397203B0FCA}" type="pres">
      <dgm:prSet presAssocID="{8BD3876C-D0B8-4019-9F38-7EA0252F8CAB}" presName="level3hierChild" presStyleCnt="0"/>
      <dgm:spPr/>
    </dgm:pt>
  </dgm:ptLst>
  <dgm:cxnLst>
    <dgm:cxn modelId="{473AC500-1E9F-4F9A-A5FF-88C0E8111CF7}" type="presOf" srcId="{C43E42AA-EAB5-4A36-807B-2D224BC287B2}" destId="{9D1AC5C4-8C86-48EA-979A-A3AF49B51E65}" srcOrd="0" destOrd="0" presId="urn:microsoft.com/office/officeart/2005/8/layout/hierarchy2"/>
    <dgm:cxn modelId="{6233A006-3443-440A-8722-D0526264975F}" type="presOf" srcId="{8BCD78C8-20E7-4F37-81ED-23F93A80B7A8}" destId="{4A84EBD3-31A4-47A0-8163-9E93B3C74914}" srcOrd="0" destOrd="0" presId="urn:microsoft.com/office/officeart/2005/8/layout/hierarchy2"/>
    <dgm:cxn modelId="{8B38D62A-0076-4965-8106-175FB3A696BF}" type="presOf" srcId="{8F7810E5-7215-4549-A612-30ECD406E5A9}" destId="{4577BA5D-119F-4929-87E9-204DCE9FE8D5}" srcOrd="0" destOrd="0" presId="urn:microsoft.com/office/officeart/2005/8/layout/hierarchy2"/>
    <dgm:cxn modelId="{40E34634-F859-4DB1-9C65-1077691236B4}" type="presOf" srcId="{5E224065-9A6A-4F98-87CA-75403A987688}" destId="{4202FB95-C7C5-441D-ADAE-D090FBAB25D3}" srcOrd="1" destOrd="0" presId="urn:microsoft.com/office/officeart/2005/8/layout/hierarchy2"/>
    <dgm:cxn modelId="{FA461F47-5FCE-4346-8C57-B2D23E7AFA0E}" type="presOf" srcId="{8BD3876C-D0B8-4019-9F38-7EA0252F8CAB}" destId="{F87388DF-84A2-49E7-8608-8CB6553E33B6}" srcOrd="0" destOrd="0" presId="urn:microsoft.com/office/officeart/2005/8/layout/hierarchy2"/>
    <dgm:cxn modelId="{8112CE48-5610-4F16-ABBA-B06B5BE4DCF2}" type="presOf" srcId="{D54E64A9-9922-443A-853D-3601737F0AA2}" destId="{DF6A63FE-B06E-48BF-8EDE-D9CF55DE7CC1}" srcOrd="0" destOrd="0" presId="urn:microsoft.com/office/officeart/2005/8/layout/hierarchy2"/>
    <dgm:cxn modelId="{403C514E-1602-4E6C-9726-2963CBC13351}" type="presOf" srcId="{AE84F53E-C275-4B18-A46E-3A46B22FD1B5}" destId="{DB7F42DC-289D-4B2D-9FE8-146521076863}" srcOrd="1" destOrd="0" presId="urn:microsoft.com/office/officeart/2005/8/layout/hierarchy2"/>
    <dgm:cxn modelId="{DADE3E6F-144E-4787-8344-075AA43526D1}" type="presOf" srcId="{AE84F53E-C275-4B18-A46E-3A46B22FD1B5}" destId="{076C3268-3D62-456D-A529-FBFA8148D9BF}" srcOrd="0" destOrd="0" presId="urn:microsoft.com/office/officeart/2005/8/layout/hierarchy2"/>
    <dgm:cxn modelId="{BC81504F-DA3D-4333-933F-DCBAD608D0DE}" type="presOf" srcId="{18121793-E63D-4EEB-81F3-48E12F652B53}" destId="{6254D8C4-20B1-4A25-8EDE-9DDB36BDA777}" srcOrd="0" destOrd="0" presId="urn:microsoft.com/office/officeart/2005/8/layout/hierarchy2"/>
    <dgm:cxn modelId="{D25B2950-023D-47DE-883F-4E1A58E9E184}" type="presOf" srcId="{C3ECEBB8-2642-46E1-96C5-EEC0A1AA9A1D}" destId="{031B293B-6A09-4B6D-8105-AF01F3D406EB}" srcOrd="0" destOrd="0" presId="urn:microsoft.com/office/officeart/2005/8/layout/hierarchy2"/>
    <dgm:cxn modelId="{1E2F9356-910B-4137-8032-3B171E9283D0}" type="presOf" srcId="{EDD56E9B-99CA-4B01-9902-7C5ABB113F45}" destId="{00B8E7E0-8302-4D15-9C01-32D787A2243E}" srcOrd="1" destOrd="0" presId="urn:microsoft.com/office/officeart/2005/8/layout/hierarchy2"/>
    <dgm:cxn modelId="{8D96F886-17B3-4FA4-BE9A-4EF536E0BE46}" srcId="{18121793-E63D-4EEB-81F3-48E12F652B53}" destId="{C43E42AA-EAB5-4A36-807B-2D224BC287B2}" srcOrd="0" destOrd="0" parTransId="{86405AD2-09A1-44F9-A96C-7FF1FFED2DDB}" sibTransId="{2C4415DB-1A25-494B-9DFC-E7891D6DFDB9}"/>
    <dgm:cxn modelId="{D571FB94-E615-46F6-98A7-C936C6FAE27A}" srcId="{C43E42AA-EAB5-4A36-807B-2D224BC287B2}" destId="{5961BD67-C8AE-4D04-91E1-3EBD12BD79EF}" srcOrd="0" destOrd="0" parTransId="{5E224065-9A6A-4F98-87CA-75403A987688}" sibTransId="{79D2C080-790F-4EFA-944B-B7AA25ABD060}"/>
    <dgm:cxn modelId="{32F7A6A4-00B7-44AD-884B-2145DB1EF53D}" type="presOf" srcId="{5E224065-9A6A-4F98-87CA-75403A987688}" destId="{AE82C28C-06B1-4C8E-98B3-82924245C419}" srcOrd="0" destOrd="0" presId="urn:microsoft.com/office/officeart/2005/8/layout/hierarchy2"/>
    <dgm:cxn modelId="{495000B1-42AA-45B2-B4E2-CF431B3914AC}" type="presOf" srcId="{A3AC0F4D-D4F8-47F4-A841-7B62EE6A2CF0}" destId="{D2168C05-46DC-4804-B984-D294A7EE1CC9}" srcOrd="1" destOrd="0" presId="urn:microsoft.com/office/officeart/2005/8/layout/hierarchy2"/>
    <dgm:cxn modelId="{199BB1B2-F03B-4813-AD35-391E814CD8A8}" type="presOf" srcId="{C3ECEBB8-2642-46E1-96C5-EEC0A1AA9A1D}" destId="{8C9B96CC-9185-4EC2-AD1F-93977C4887C3}" srcOrd="1" destOrd="0" presId="urn:microsoft.com/office/officeart/2005/8/layout/hierarchy2"/>
    <dgm:cxn modelId="{E586A7BC-A294-4E35-BD40-547C4DF08012}" srcId="{8F7810E5-7215-4549-A612-30ECD406E5A9}" destId="{8BD3876C-D0B8-4019-9F38-7EA0252F8CAB}" srcOrd="0" destOrd="0" parTransId="{AE84F53E-C275-4B18-A46E-3A46B22FD1B5}" sibTransId="{7517CC87-0D01-4EC0-93A4-2964A60DF501}"/>
    <dgm:cxn modelId="{3E121ECE-9927-4E54-ADF3-4121F9D6C221}" srcId="{C43E42AA-EAB5-4A36-807B-2D224BC287B2}" destId="{8F7810E5-7215-4549-A612-30ECD406E5A9}" srcOrd="1" destOrd="0" parTransId="{A3AC0F4D-D4F8-47F4-A841-7B62EE6A2CF0}" sibTransId="{C68EB622-A77B-4743-B55B-779CC9D644F4}"/>
    <dgm:cxn modelId="{E98BA8D5-0C46-499D-9FE9-CDA98553BA26}" type="presOf" srcId="{EDD56E9B-99CA-4B01-9902-7C5ABB113F45}" destId="{0FC0A00E-56B5-4F50-B1DD-A0967E266DB2}" srcOrd="0" destOrd="0" presId="urn:microsoft.com/office/officeart/2005/8/layout/hierarchy2"/>
    <dgm:cxn modelId="{4131D8D8-25D3-49B3-BD65-181D79A034D9}" type="presOf" srcId="{A3AC0F4D-D4F8-47F4-A841-7B62EE6A2CF0}" destId="{EBB65680-DCAA-4D3B-980B-F5BC7B4F5918}" srcOrd="0" destOrd="0" presId="urn:microsoft.com/office/officeart/2005/8/layout/hierarchy2"/>
    <dgm:cxn modelId="{E0CF15DF-B017-4D2F-BF01-36136ED1C755}" srcId="{5961BD67-C8AE-4D04-91E1-3EBD12BD79EF}" destId="{8BCD78C8-20E7-4F37-81ED-23F93A80B7A8}" srcOrd="1" destOrd="0" parTransId="{EDD56E9B-99CA-4B01-9902-7C5ABB113F45}" sibTransId="{D54E04E9-5570-445E-AE49-2545CD54A171}"/>
    <dgm:cxn modelId="{107B32EE-9D2D-4658-9731-F6E8D954BCFD}" type="presOf" srcId="{5961BD67-C8AE-4D04-91E1-3EBD12BD79EF}" destId="{B7A9D937-D3F4-456A-A994-102B8E5464F0}" srcOrd="0" destOrd="0" presId="urn:microsoft.com/office/officeart/2005/8/layout/hierarchy2"/>
    <dgm:cxn modelId="{7C1E3CF1-896A-4E2E-8A54-B4E1EF5EDEFE}" srcId="{5961BD67-C8AE-4D04-91E1-3EBD12BD79EF}" destId="{D54E64A9-9922-443A-853D-3601737F0AA2}" srcOrd="0" destOrd="0" parTransId="{C3ECEBB8-2642-46E1-96C5-EEC0A1AA9A1D}" sibTransId="{EEB7D86D-B58F-434A-B338-7C998F5601B0}"/>
    <dgm:cxn modelId="{A6AEA2FB-B487-40B1-BD7D-4780B9DDFC7D}" type="presParOf" srcId="{6254D8C4-20B1-4A25-8EDE-9DDB36BDA777}" destId="{A5BE4C9F-9399-4202-817E-D510B1B185D1}" srcOrd="0" destOrd="0" presId="urn:microsoft.com/office/officeart/2005/8/layout/hierarchy2"/>
    <dgm:cxn modelId="{10E2BEC5-80BC-4DE3-B669-D0B4702624EC}" type="presParOf" srcId="{A5BE4C9F-9399-4202-817E-D510B1B185D1}" destId="{9D1AC5C4-8C86-48EA-979A-A3AF49B51E65}" srcOrd="0" destOrd="0" presId="urn:microsoft.com/office/officeart/2005/8/layout/hierarchy2"/>
    <dgm:cxn modelId="{C4525B16-73F0-44B1-B39F-C2D0B769DC1F}" type="presParOf" srcId="{A5BE4C9F-9399-4202-817E-D510B1B185D1}" destId="{580143FA-16E5-49CE-A55C-A53381B58CDE}" srcOrd="1" destOrd="0" presId="urn:microsoft.com/office/officeart/2005/8/layout/hierarchy2"/>
    <dgm:cxn modelId="{0F03FB5D-9BF3-483B-B6D5-59E90C9FC89F}" type="presParOf" srcId="{580143FA-16E5-49CE-A55C-A53381B58CDE}" destId="{AE82C28C-06B1-4C8E-98B3-82924245C419}" srcOrd="0" destOrd="0" presId="urn:microsoft.com/office/officeart/2005/8/layout/hierarchy2"/>
    <dgm:cxn modelId="{6DE65342-C5BE-481F-8262-C1DB6FE18747}" type="presParOf" srcId="{AE82C28C-06B1-4C8E-98B3-82924245C419}" destId="{4202FB95-C7C5-441D-ADAE-D090FBAB25D3}" srcOrd="0" destOrd="0" presId="urn:microsoft.com/office/officeart/2005/8/layout/hierarchy2"/>
    <dgm:cxn modelId="{5F83D17E-675A-4BF7-AC6B-DE430C96893A}" type="presParOf" srcId="{580143FA-16E5-49CE-A55C-A53381B58CDE}" destId="{275FEFC0-4F57-4373-8970-DF994932F8EF}" srcOrd="1" destOrd="0" presId="urn:microsoft.com/office/officeart/2005/8/layout/hierarchy2"/>
    <dgm:cxn modelId="{88EB9888-5B5E-4E95-8A6F-E8E1BCA89144}" type="presParOf" srcId="{275FEFC0-4F57-4373-8970-DF994932F8EF}" destId="{B7A9D937-D3F4-456A-A994-102B8E5464F0}" srcOrd="0" destOrd="0" presId="urn:microsoft.com/office/officeart/2005/8/layout/hierarchy2"/>
    <dgm:cxn modelId="{77458A2B-7CC6-45D0-95C9-5C7BA29AF25C}" type="presParOf" srcId="{275FEFC0-4F57-4373-8970-DF994932F8EF}" destId="{D9420463-8308-45B7-ADA6-E99E33ED6F74}" srcOrd="1" destOrd="0" presId="urn:microsoft.com/office/officeart/2005/8/layout/hierarchy2"/>
    <dgm:cxn modelId="{C30CCB23-E8BF-4CEC-99B7-80FAC63BCC8A}" type="presParOf" srcId="{D9420463-8308-45B7-ADA6-E99E33ED6F74}" destId="{031B293B-6A09-4B6D-8105-AF01F3D406EB}" srcOrd="0" destOrd="0" presId="urn:microsoft.com/office/officeart/2005/8/layout/hierarchy2"/>
    <dgm:cxn modelId="{EE077415-78AE-419D-941A-6F58FEE02C42}" type="presParOf" srcId="{031B293B-6A09-4B6D-8105-AF01F3D406EB}" destId="{8C9B96CC-9185-4EC2-AD1F-93977C4887C3}" srcOrd="0" destOrd="0" presId="urn:microsoft.com/office/officeart/2005/8/layout/hierarchy2"/>
    <dgm:cxn modelId="{2012E67C-CDC4-4536-8F8A-99D0213E5F24}" type="presParOf" srcId="{D9420463-8308-45B7-ADA6-E99E33ED6F74}" destId="{E96658F3-43BF-46BB-B92F-026430752BEF}" srcOrd="1" destOrd="0" presId="urn:microsoft.com/office/officeart/2005/8/layout/hierarchy2"/>
    <dgm:cxn modelId="{C330C0BD-8575-495E-8F78-77BF5DD342F1}" type="presParOf" srcId="{E96658F3-43BF-46BB-B92F-026430752BEF}" destId="{DF6A63FE-B06E-48BF-8EDE-D9CF55DE7CC1}" srcOrd="0" destOrd="0" presId="urn:microsoft.com/office/officeart/2005/8/layout/hierarchy2"/>
    <dgm:cxn modelId="{908E58FA-3707-4B46-92E2-C9504C16BFAB}" type="presParOf" srcId="{E96658F3-43BF-46BB-B92F-026430752BEF}" destId="{A86ACA44-5A56-4412-8A30-41FA0A51F09E}" srcOrd="1" destOrd="0" presId="urn:microsoft.com/office/officeart/2005/8/layout/hierarchy2"/>
    <dgm:cxn modelId="{2AB787D3-13DC-4397-A3CD-8159C77A31F5}" type="presParOf" srcId="{D9420463-8308-45B7-ADA6-E99E33ED6F74}" destId="{0FC0A00E-56B5-4F50-B1DD-A0967E266DB2}" srcOrd="2" destOrd="0" presId="urn:microsoft.com/office/officeart/2005/8/layout/hierarchy2"/>
    <dgm:cxn modelId="{A007059E-773A-4DF8-BE8C-C8706E7E03D8}" type="presParOf" srcId="{0FC0A00E-56B5-4F50-B1DD-A0967E266DB2}" destId="{00B8E7E0-8302-4D15-9C01-32D787A2243E}" srcOrd="0" destOrd="0" presId="urn:microsoft.com/office/officeart/2005/8/layout/hierarchy2"/>
    <dgm:cxn modelId="{FC85F963-BA82-4E6C-A3DC-A08C61C540DF}" type="presParOf" srcId="{D9420463-8308-45B7-ADA6-E99E33ED6F74}" destId="{71FF6D84-9DB4-4E28-A6C1-7394FDBC8AF1}" srcOrd="3" destOrd="0" presId="urn:microsoft.com/office/officeart/2005/8/layout/hierarchy2"/>
    <dgm:cxn modelId="{891FD04D-AA0C-4B9E-9A3C-FBAC35733AE4}" type="presParOf" srcId="{71FF6D84-9DB4-4E28-A6C1-7394FDBC8AF1}" destId="{4A84EBD3-31A4-47A0-8163-9E93B3C74914}" srcOrd="0" destOrd="0" presId="urn:microsoft.com/office/officeart/2005/8/layout/hierarchy2"/>
    <dgm:cxn modelId="{7AA14711-E5C9-406C-995C-09ED51B20D37}" type="presParOf" srcId="{71FF6D84-9DB4-4E28-A6C1-7394FDBC8AF1}" destId="{0E56A77C-C709-43CB-B692-C9369B66CD06}" srcOrd="1" destOrd="0" presId="urn:microsoft.com/office/officeart/2005/8/layout/hierarchy2"/>
    <dgm:cxn modelId="{F5F0B901-5C0C-4895-A4BD-41F867DFC2D5}" type="presParOf" srcId="{580143FA-16E5-49CE-A55C-A53381B58CDE}" destId="{EBB65680-DCAA-4D3B-980B-F5BC7B4F5918}" srcOrd="2" destOrd="0" presId="urn:microsoft.com/office/officeart/2005/8/layout/hierarchy2"/>
    <dgm:cxn modelId="{D181492F-8CDA-483B-A92D-C843809955AF}" type="presParOf" srcId="{EBB65680-DCAA-4D3B-980B-F5BC7B4F5918}" destId="{D2168C05-46DC-4804-B984-D294A7EE1CC9}" srcOrd="0" destOrd="0" presId="urn:microsoft.com/office/officeart/2005/8/layout/hierarchy2"/>
    <dgm:cxn modelId="{1085BE2E-F994-46BB-8A31-382FE3FE883F}" type="presParOf" srcId="{580143FA-16E5-49CE-A55C-A53381B58CDE}" destId="{99A042D5-4989-4A4D-BB4E-9322179E2FB4}" srcOrd="3" destOrd="0" presId="urn:microsoft.com/office/officeart/2005/8/layout/hierarchy2"/>
    <dgm:cxn modelId="{3868DB4B-BCF3-4C12-A0E2-9113A6783E76}" type="presParOf" srcId="{99A042D5-4989-4A4D-BB4E-9322179E2FB4}" destId="{4577BA5D-119F-4929-87E9-204DCE9FE8D5}" srcOrd="0" destOrd="0" presId="urn:microsoft.com/office/officeart/2005/8/layout/hierarchy2"/>
    <dgm:cxn modelId="{CD16E362-1427-4E5F-BF62-04ACB77AF6E7}" type="presParOf" srcId="{99A042D5-4989-4A4D-BB4E-9322179E2FB4}" destId="{938CBDDC-9A4E-43DA-B092-CCB9D15FE13A}" srcOrd="1" destOrd="0" presId="urn:microsoft.com/office/officeart/2005/8/layout/hierarchy2"/>
    <dgm:cxn modelId="{1C6E2FDC-7A85-4600-B799-9BE202A86D71}" type="presParOf" srcId="{938CBDDC-9A4E-43DA-B092-CCB9D15FE13A}" destId="{076C3268-3D62-456D-A529-FBFA8148D9BF}" srcOrd="0" destOrd="0" presId="urn:microsoft.com/office/officeart/2005/8/layout/hierarchy2"/>
    <dgm:cxn modelId="{5A0EC6BA-26BA-4A8B-A905-387449EB8C32}" type="presParOf" srcId="{076C3268-3D62-456D-A529-FBFA8148D9BF}" destId="{DB7F42DC-289D-4B2D-9FE8-146521076863}" srcOrd="0" destOrd="0" presId="urn:microsoft.com/office/officeart/2005/8/layout/hierarchy2"/>
    <dgm:cxn modelId="{45D4E50A-4FD5-42EA-A201-35CF6A3A3561}" type="presParOf" srcId="{938CBDDC-9A4E-43DA-B092-CCB9D15FE13A}" destId="{283B6FA0-7224-447F-B77E-42433CA8C11E}" srcOrd="1" destOrd="0" presId="urn:microsoft.com/office/officeart/2005/8/layout/hierarchy2"/>
    <dgm:cxn modelId="{BF6606C0-B1BA-422C-A129-9199EE28BCA3}" type="presParOf" srcId="{283B6FA0-7224-447F-B77E-42433CA8C11E}" destId="{F87388DF-84A2-49E7-8608-8CB6553E33B6}" srcOrd="0" destOrd="0" presId="urn:microsoft.com/office/officeart/2005/8/layout/hierarchy2"/>
    <dgm:cxn modelId="{35454C2F-3971-49B1-BFFA-39CA8C7F16F9}" type="presParOf" srcId="{283B6FA0-7224-447F-B77E-42433CA8C11E}" destId="{F5515789-836E-4BF9-A286-9397203B0FCA}" srcOrd="1" destOrd="0" presId="urn:microsoft.com/office/officeart/2005/8/layout/hierarchy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149199A-4E6A-41DB-B566-445D47441A23}" type="doc">
      <dgm:prSet loTypeId="urn:microsoft.com/office/officeart/2005/8/layout/orgChart1" loCatId="hierarchy" qsTypeId="urn:microsoft.com/office/officeart/2005/8/quickstyle/simple1" qsCatId="simple" csTypeId="urn:microsoft.com/office/officeart/2005/8/colors/colorful3" csCatId="colorful" phldr="1"/>
      <dgm:spPr/>
      <dgm:t>
        <a:bodyPr/>
        <a:lstStyle/>
        <a:p>
          <a:endParaRPr lang="en-IN"/>
        </a:p>
      </dgm:t>
    </dgm:pt>
    <dgm:pt modelId="{897DF24C-7A22-4E6A-BD25-6FB2CFC80D3C}">
      <dgm:prSet phldrT="[Text]" custT="1"/>
      <dgm:spPr/>
      <dgm:t>
        <a:bodyPr/>
        <a:lstStyle/>
        <a:p>
          <a:r>
            <a:rPr lang="en-IN" sz="2400" dirty="0"/>
            <a:t>Clear Roles &amp; Responsibility</a:t>
          </a:r>
        </a:p>
      </dgm:t>
    </dgm:pt>
    <dgm:pt modelId="{80E19186-9D22-422E-BCA4-04CC2A6409A9}" type="parTrans" cxnId="{B9861E2E-9D28-4ECD-9245-C1EDC817E03E}">
      <dgm:prSet/>
      <dgm:spPr/>
      <dgm:t>
        <a:bodyPr/>
        <a:lstStyle/>
        <a:p>
          <a:endParaRPr lang="en-IN"/>
        </a:p>
      </dgm:t>
    </dgm:pt>
    <dgm:pt modelId="{52665076-118D-446D-8891-25860385B085}" type="sibTrans" cxnId="{B9861E2E-9D28-4ECD-9245-C1EDC817E03E}">
      <dgm:prSet/>
      <dgm:spPr/>
      <dgm:t>
        <a:bodyPr/>
        <a:lstStyle/>
        <a:p>
          <a:endParaRPr lang="en-IN"/>
        </a:p>
      </dgm:t>
    </dgm:pt>
    <dgm:pt modelId="{7DE55946-9507-4E5F-A889-B791D52AA186}" type="asst">
      <dgm:prSet phldrT="[Text]" custT="1">
        <dgm:style>
          <a:lnRef idx="1">
            <a:schemeClr val="accent5"/>
          </a:lnRef>
          <a:fillRef idx="2">
            <a:schemeClr val="accent5"/>
          </a:fillRef>
          <a:effectRef idx="1">
            <a:schemeClr val="accent5"/>
          </a:effectRef>
          <a:fontRef idx="minor">
            <a:schemeClr val="dk1"/>
          </a:fontRef>
        </dgm:style>
      </dgm:prSet>
      <dgm:spPr/>
      <dgm:t>
        <a:bodyPr/>
        <a:lstStyle/>
        <a:p>
          <a:r>
            <a:rPr lang="en-IN" sz="2400" dirty="0"/>
            <a:t>Define Goals &amp; KPIs</a:t>
          </a:r>
        </a:p>
      </dgm:t>
    </dgm:pt>
    <dgm:pt modelId="{EA3B090A-A48F-4911-80FC-F16789A64F06}" type="parTrans" cxnId="{0C42837C-FD63-4F77-AD61-98564597B6C8}">
      <dgm:prSet/>
      <dgm:spPr/>
      <dgm:t>
        <a:bodyPr/>
        <a:lstStyle/>
        <a:p>
          <a:endParaRPr lang="en-IN"/>
        </a:p>
      </dgm:t>
    </dgm:pt>
    <dgm:pt modelId="{62D91F2F-FBD5-4092-8F09-1A7A62543F03}" type="sibTrans" cxnId="{0C42837C-FD63-4F77-AD61-98564597B6C8}">
      <dgm:prSet/>
      <dgm:spPr/>
      <dgm:t>
        <a:bodyPr/>
        <a:lstStyle/>
        <a:p>
          <a:endParaRPr lang="en-IN"/>
        </a:p>
      </dgm:t>
    </dgm:pt>
    <dgm:pt modelId="{C8258208-590D-40DA-8225-546F18AEE2F9}">
      <dgm:prSet phldrT="[Text]" custT="1"/>
      <dgm:spPr/>
      <dgm:t>
        <a:bodyPr/>
        <a:lstStyle/>
        <a:p>
          <a:r>
            <a:rPr lang="en-IN" sz="2400" dirty="0"/>
            <a:t>Regular Reporting &amp; Reviews (weekly &amp; monthly)</a:t>
          </a:r>
        </a:p>
      </dgm:t>
    </dgm:pt>
    <dgm:pt modelId="{44339EC1-A614-4CAC-ACFA-EB22DB3AF033}" type="parTrans" cxnId="{2078A50E-8136-4858-8C6D-6B7542CB6606}">
      <dgm:prSet/>
      <dgm:spPr/>
      <dgm:t>
        <a:bodyPr/>
        <a:lstStyle/>
        <a:p>
          <a:endParaRPr lang="en-IN"/>
        </a:p>
      </dgm:t>
    </dgm:pt>
    <dgm:pt modelId="{0496FB80-F977-4258-9F67-9F7BFB9B1947}" type="sibTrans" cxnId="{2078A50E-8136-4858-8C6D-6B7542CB6606}">
      <dgm:prSet/>
      <dgm:spPr/>
      <dgm:t>
        <a:bodyPr/>
        <a:lstStyle/>
        <a:p>
          <a:endParaRPr lang="en-IN"/>
        </a:p>
      </dgm:t>
    </dgm:pt>
    <dgm:pt modelId="{B4B03950-2AE9-4C0B-A5AE-41FA708B892B}">
      <dgm:prSet phldrT="[Text]" custT="1"/>
      <dgm:spPr/>
      <dgm:t>
        <a:bodyPr/>
        <a:lstStyle/>
        <a:p>
          <a:r>
            <a:rPr lang="en-IN" sz="2400" dirty="0"/>
            <a:t>Transparency in Execution</a:t>
          </a:r>
        </a:p>
      </dgm:t>
    </dgm:pt>
    <dgm:pt modelId="{67563D0F-3385-45EC-939D-62AA2FA08D08}" type="parTrans" cxnId="{B4A26DFC-0CE6-441C-BA93-637D807BDCF9}">
      <dgm:prSet/>
      <dgm:spPr/>
      <dgm:t>
        <a:bodyPr/>
        <a:lstStyle/>
        <a:p>
          <a:endParaRPr lang="en-IN"/>
        </a:p>
      </dgm:t>
    </dgm:pt>
    <dgm:pt modelId="{2F0DAB1F-1A8A-4E5B-8CC4-8FFD7EFC4233}" type="sibTrans" cxnId="{B4A26DFC-0CE6-441C-BA93-637D807BDCF9}">
      <dgm:prSet/>
      <dgm:spPr/>
      <dgm:t>
        <a:bodyPr/>
        <a:lstStyle/>
        <a:p>
          <a:endParaRPr lang="en-IN"/>
        </a:p>
      </dgm:t>
    </dgm:pt>
    <dgm:pt modelId="{53B4E199-7DD4-4755-B047-B573CD410577}" type="pres">
      <dgm:prSet presAssocID="{6149199A-4E6A-41DB-B566-445D47441A23}" presName="hierChild1" presStyleCnt="0">
        <dgm:presLayoutVars>
          <dgm:orgChart val="1"/>
          <dgm:chPref val="1"/>
          <dgm:dir/>
          <dgm:animOne val="branch"/>
          <dgm:animLvl val="lvl"/>
          <dgm:resizeHandles/>
        </dgm:presLayoutVars>
      </dgm:prSet>
      <dgm:spPr/>
    </dgm:pt>
    <dgm:pt modelId="{1FFD6D90-0739-4642-9147-35B9B93978E9}" type="pres">
      <dgm:prSet presAssocID="{897DF24C-7A22-4E6A-BD25-6FB2CFC80D3C}" presName="hierRoot1" presStyleCnt="0">
        <dgm:presLayoutVars>
          <dgm:hierBranch val="init"/>
        </dgm:presLayoutVars>
      </dgm:prSet>
      <dgm:spPr/>
    </dgm:pt>
    <dgm:pt modelId="{738C317C-44B7-4873-A8AD-7EDE90D2D4B0}" type="pres">
      <dgm:prSet presAssocID="{897DF24C-7A22-4E6A-BD25-6FB2CFC80D3C}" presName="rootComposite1" presStyleCnt="0"/>
      <dgm:spPr/>
    </dgm:pt>
    <dgm:pt modelId="{98EFBF0A-29DA-45A2-8F15-C6B4AE5EA25D}" type="pres">
      <dgm:prSet presAssocID="{897DF24C-7A22-4E6A-BD25-6FB2CFC80D3C}" presName="rootText1" presStyleLbl="node0" presStyleIdx="0" presStyleCnt="1" custScaleX="96260" custScaleY="60748">
        <dgm:presLayoutVars>
          <dgm:chPref val="3"/>
        </dgm:presLayoutVars>
      </dgm:prSet>
      <dgm:spPr/>
    </dgm:pt>
    <dgm:pt modelId="{8753BADA-1729-4668-B009-3793F457754C}" type="pres">
      <dgm:prSet presAssocID="{897DF24C-7A22-4E6A-BD25-6FB2CFC80D3C}" presName="rootConnector1" presStyleLbl="node1" presStyleIdx="0" presStyleCnt="0"/>
      <dgm:spPr/>
    </dgm:pt>
    <dgm:pt modelId="{80AA8088-9CC0-4035-9624-0A2527158E84}" type="pres">
      <dgm:prSet presAssocID="{897DF24C-7A22-4E6A-BD25-6FB2CFC80D3C}" presName="hierChild2" presStyleCnt="0"/>
      <dgm:spPr/>
    </dgm:pt>
    <dgm:pt modelId="{07CF03E2-F019-458A-AF80-9C15BD4DE6AF}" type="pres">
      <dgm:prSet presAssocID="{44339EC1-A614-4CAC-ACFA-EB22DB3AF033}" presName="Name37" presStyleLbl="parChTrans1D2" presStyleIdx="0" presStyleCnt="3"/>
      <dgm:spPr/>
    </dgm:pt>
    <dgm:pt modelId="{CECFD1D3-977D-42BB-B39B-2CAEF13C2A55}" type="pres">
      <dgm:prSet presAssocID="{C8258208-590D-40DA-8225-546F18AEE2F9}" presName="hierRoot2" presStyleCnt="0">
        <dgm:presLayoutVars>
          <dgm:hierBranch val="init"/>
        </dgm:presLayoutVars>
      </dgm:prSet>
      <dgm:spPr/>
    </dgm:pt>
    <dgm:pt modelId="{7B47146D-AC23-4BBE-BB7C-870983A3F591}" type="pres">
      <dgm:prSet presAssocID="{C8258208-590D-40DA-8225-546F18AEE2F9}" presName="rootComposite" presStyleCnt="0"/>
      <dgm:spPr/>
    </dgm:pt>
    <dgm:pt modelId="{5BADA78C-FA8E-49E3-8D03-DBE8FC0199CC}" type="pres">
      <dgm:prSet presAssocID="{C8258208-590D-40DA-8225-546F18AEE2F9}" presName="rootText" presStyleLbl="node2" presStyleIdx="0" presStyleCnt="2">
        <dgm:presLayoutVars>
          <dgm:chPref val="3"/>
        </dgm:presLayoutVars>
      </dgm:prSet>
      <dgm:spPr/>
    </dgm:pt>
    <dgm:pt modelId="{5CD8BC38-6D5F-43C1-810D-D9518A67FEFD}" type="pres">
      <dgm:prSet presAssocID="{C8258208-590D-40DA-8225-546F18AEE2F9}" presName="rootConnector" presStyleLbl="node2" presStyleIdx="0" presStyleCnt="2"/>
      <dgm:spPr/>
    </dgm:pt>
    <dgm:pt modelId="{FE876831-D9BA-4690-A38D-7987710BF3F2}" type="pres">
      <dgm:prSet presAssocID="{C8258208-590D-40DA-8225-546F18AEE2F9}" presName="hierChild4" presStyleCnt="0"/>
      <dgm:spPr/>
    </dgm:pt>
    <dgm:pt modelId="{23D7FCE0-0041-45B5-A6AC-2E3708A261FA}" type="pres">
      <dgm:prSet presAssocID="{C8258208-590D-40DA-8225-546F18AEE2F9}" presName="hierChild5" presStyleCnt="0"/>
      <dgm:spPr/>
    </dgm:pt>
    <dgm:pt modelId="{E17A3CED-2EFE-4B73-A1FD-52EFFE52A787}" type="pres">
      <dgm:prSet presAssocID="{67563D0F-3385-45EC-939D-62AA2FA08D08}" presName="Name37" presStyleLbl="parChTrans1D2" presStyleIdx="1" presStyleCnt="3"/>
      <dgm:spPr/>
    </dgm:pt>
    <dgm:pt modelId="{543D4E8C-0644-4CEE-AAA8-5CB5AFE82770}" type="pres">
      <dgm:prSet presAssocID="{B4B03950-2AE9-4C0B-A5AE-41FA708B892B}" presName="hierRoot2" presStyleCnt="0">
        <dgm:presLayoutVars>
          <dgm:hierBranch val="init"/>
        </dgm:presLayoutVars>
      </dgm:prSet>
      <dgm:spPr/>
    </dgm:pt>
    <dgm:pt modelId="{2C018B8F-32C4-4FFC-A566-4941868C1F97}" type="pres">
      <dgm:prSet presAssocID="{B4B03950-2AE9-4C0B-A5AE-41FA708B892B}" presName="rootComposite" presStyleCnt="0"/>
      <dgm:spPr/>
    </dgm:pt>
    <dgm:pt modelId="{CF8321AF-5662-4582-B4D9-4C0547514D59}" type="pres">
      <dgm:prSet presAssocID="{B4B03950-2AE9-4C0B-A5AE-41FA708B892B}" presName="rootText" presStyleLbl="node2" presStyleIdx="1" presStyleCnt="2">
        <dgm:presLayoutVars>
          <dgm:chPref val="3"/>
        </dgm:presLayoutVars>
      </dgm:prSet>
      <dgm:spPr/>
    </dgm:pt>
    <dgm:pt modelId="{8BFFAB63-A0F5-40DD-97CC-F8B0E5775D19}" type="pres">
      <dgm:prSet presAssocID="{B4B03950-2AE9-4C0B-A5AE-41FA708B892B}" presName="rootConnector" presStyleLbl="node2" presStyleIdx="1" presStyleCnt="2"/>
      <dgm:spPr/>
    </dgm:pt>
    <dgm:pt modelId="{D5EFBD46-C393-45CD-A757-4716793362AF}" type="pres">
      <dgm:prSet presAssocID="{B4B03950-2AE9-4C0B-A5AE-41FA708B892B}" presName="hierChild4" presStyleCnt="0"/>
      <dgm:spPr/>
    </dgm:pt>
    <dgm:pt modelId="{8F0028DA-0174-4CB7-B5E0-86F5DDAC5F2A}" type="pres">
      <dgm:prSet presAssocID="{B4B03950-2AE9-4C0B-A5AE-41FA708B892B}" presName="hierChild5" presStyleCnt="0"/>
      <dgm:spPr/>
    </dgm:pt>
    <dgm:pt modelId="{5C401921-8CEE-4594-9809-BA8E2C3F80D0}" type="pres">
      <dgm:prSet presAssocID="{897DF24C-7A22-4E6A-BD25-6FB2CFC80D3C}" presName="hierChild3" presStyleCnt="0"/>
      <dgm:spPr/>
    </dgm:pt>
    <dgm:pt modelId="{62DCE073-0BB0-4D3B-9845-CC5A8BC68FC2}" type="pres">
      <dgm:prSet presAssocID="{EA3B090A-A48F-4911-80FC-F16789A64F06}" presName="Name111" presStyleLbl="parChTrans1D2" presStyleIdx="2" presStyleCnt="3"/>
      <dgm:spPr/>
    </dgm:pt>
    <dgm:pt modelId="{2938B90E-1C75-4C0F-9180-CF259B77346D}" type="pres">
      <dgm:prSet presAssocID="{7DE55946-9507-4E5F-A889-B791D52AA186}" presName="hierRoot3" presStyleCnt="0">
        <dgm:presLayoutVars>
          <dgm:hierBranch val="init"/>
        </dgm:presLayoutVars>
      </dgm:prSet>
      <dgm:spPr/>
    </dgm:pt>
    <dgm:pt modelId="{24B1B1F1-9B86-4D2E-AB28-891119A421D1}" type="pres">
      <dgm:prSet presAssocID="{7DE55946-9507-4E5F-A889-B791D52AA186}" presName="rootComposite3" presStyleCnt="0"/>
      <dgm:spPr/>
    </dgm:pt>
    <dgm:pt modelId="{105E24B3-3CC0-4A90-BE4F-5784F0F0DD1F}" type="pres">
      <dgm:prSet presAssocID="{7DE55946-9507-4E5F-A889-B791D52AA186}" presName="rootText3" presStyleLbl="asst1" presStyleIdx="0" presStyleCnt="1">
        <dgm:presLayoutVars>
          <dgm:chPref val="3"/>
        </dgm:presLayoutVars>
      </dgm:prSet>
      <dgm:spPr/>
    </dgm:pt>
    <dgm:pt modelId="{DF481BCD-97BF-4D5D-90E1-E627A8AD69B7}" type="pres">
      <dgm:prSet presAssocID="{7DE55946-9507-4E5F-A889-B791D52AA186}" presName="rootConnector3" presStyleLbl="asst1" presStyleIdx="0" presStyleCnt="1"/>
      <dgm:spPr/>
    </dgm:pt>
    <dgm:pt modelId="{B9770A28-F657-43F5-8E64-625C07825B28}" type="pres">
      <dgm:prSet presAssocID="{7DE55946-9507-4E5F-A889-B791D52AA186}" presName="hierChild6" presStyleCnt="0"/>
      <dgm:spPr/>
    </dgm:pt>
    <dgm:pt modelId="{AD60F7BA-CA00-4FDA-9DF1-D1691216983E}" type="pres">
      <dgm:prSet presAssocID="{7DE55946-9507-4E5F-A889-B791D52AA186}" presName="hierChild7" presStyleCnt="0"/>
      <dgm:spPr/>
    </dgm:pt>
  </dgm:ptLst>
  <dgm:cxnLst>
    <dgm:cxn modelId="{19CF5905-F8A3-4FC7-BB4E-C609465274F0}" type="presOf" srcId="{44339EC1-A614-4CAC-ACFA-EB22DB3AF033}" destId="{07CF03E2-F019-458A-AF80-9C15BD4DE6AF}" srcOrd="0" destOrd="0" presId="urn:microsoft.com/office/officeart/2005/8/layout/orgChart1"/>
    <dgm:cxn modelId="{2078A50E-8136-4858-8C6D-6B7542CB6606}" srcId="{897DF24C-7A22-4E6A-BD25-6FB2CFC80D3C}" destId="{C8258208-590D-40DA-8225-546F18AEE2F9}" srcOrd="1" destOrd="0" parTransId="{44339EC1-A614-4CAC-ACFA-EB22DB3AF033}" sibTransId="{0496FB80-F977-4258-9F67-9F7BFB9B1947}"/>
    <dgm:cxn modelId="{B9861E2E-9D28-4ECD-9245-C1EDC817E03E}" srcId="{6149199A-4E6A-41DB-B566-445D47441A23}" destId="{897DF24C-7A22-4E6A-BD25-6FB2CFC80D3C}" srcOrd="0" destOrd="0" parTransId="{80E19186-9D22-422E-BCA4-04CC2A6409A9}" sibTransId="{52665076-118D-446D-8891-25860385B085}"/>
    <dgm:cxn modelId="{649CBA69-98E7-49AE-8DC8-FB92538EA35A}" type="presOf" srcId="{C8258208-590D-40DA-8225-546F18AEE2F9}" destId="{5CD8BC38-6D5F-43C1-810D-D9518A67FEFD}" srcOrd="1" destOrd="0" presId="urn:microsoft.com/office/officeart/2005/8/layout/orgChart1"/>
    <dgm:cxn modelId="{6135266A-32BA-44F5-A6A1-E04227E416B0}" type="presOf" srcId="{C8258208-590D-40DA-8225-546F18AEE2F9}" destId="{5BADA78C-FA8E-49E3-8D03-DBE8FC0199CC}" srcOrd="0" destOrd="0" presId="urn:microsoft.com/office/officeart/2005/8/layout/orgChart1"/>
    <dgm:cxn modelId="{655B616E-E6FE-471B-B6E4-770818C8DC84}" type="presOf" srcId="{897DF24C-7A22-4E6A-BD25-6FB2CFC80D3C}" destId="{8753BADA-1729-4668-B009-3793F457754C}" srcOrd="1" destOrd="0" presId="urn:microsoft.com/office/officeart/2005/8/layout/orgChart1"/>
    <dgm:cxn modelId="{52673D50-B046-4638-A1CC-6487807DA6C4}" type="presOf" srcId="{897DF24C-7A22-4E6A-BD25-6FB2CFC80D3C}" destId="{98EFBF0A-29DA-45A2-8F15-C6B4AE5EA25D}" srcOrd="0" destOrd="0" presId="urn:microsoft.com/office/officeart/2005/8/layout/orgChart1"/>
    <dgm:cxn modelId="{65E8CC70-1561-4CA0-9DDA-E5FBA6772349}" type="presOf" srcId="{B4B03950-2AE9-4C0B-A5AE-41FA708B892B}" destId="{8BFFAB63-A0F5-40DD-97CC-F8B0E5775D19}" srcOrd="1" destOrd="0" presId="urn:microsoft.com/office/officeart/2005/8/layout/orgChart1"/>
    <dgm:cxn modelId="{37642A73-927A-428F-9327-AE08653F6D2D}" type="presOf" srcId="{67563D0F-3385-45EC-939D-62AA2FA08D08}" destId="{E17A3CED-2EFE-4B73-A1FD-52EFFE52A787}" srcOrd="0" destOrd="0" presId="urn:microsoft.com/office/officeart/2005/8/layout/orgChart1"/>
    <dgm:cxn modelId="{0C42837C-FD63-4F77-AD61-98564597B6C8}" srcId="{897DF24C-7A22-4E6A-BD25-6FB2CFC80D3C}" destId="{7DE55946-9507-4E5F-A889-B791D52AA186}" srcOrd="0" destOrd="0" parTransId="{EA3B090A-A48F-4911-80FC-F16789A64F06}" sibTransId="{62D91F2F-FBD5-4092-8F09-1A7A62543F03}"/>
    <dgm:cxn modelId="{90A66381-895E-4DBF-B0AE-22FBF9513FC4}" type="presOf" srcId="{7DE55946-9507-4E5F-A889-B791D52AA186}" destId="{DF481BCD-97BF-4D5D-90E1-E627A8AD69B7}" srcOrd="1" destOrd="0" presId="urn:microsoft.com/office/officeart/2005/8/layout/orgChart1"/>
    <dgm:cxn modelId="{1C59C883-8C2B-41C3-B566-FDFDCF2F7D36}" type="presOf" srcId="{7DE55946-9507-4E5F-A889-B791D52AA186}" destId="{105E24B3-3CC0-4A90-BE4F-5784F0F0DD1F}" srcOrd="0" destOrd="0" presId="urn:microsoft.com/office/officeart/2005/8/layout/orgChart1"/>
    <dgm:cxn modelId="{72586990-AD3D-4DC7-991D-DA7F9DF3D804}" type="presOf" srcId="{B4B03950-2AE9-4C0B-A5AE-41FA708B892B}" destId="{CF8321AF-5662-4582-B4D9-4C0547514D59}" srcOrd="0" destOrd="0" presId="urn:microsoft.com/office/officeart/2005/8/layout/orgChart1"/>
    <dgm:cxn modelId="{BF96B9BC-9A4B-4D73-B449-1E5BC26231FF}" type="presOf" srcId="{EA3B090A-A48F-4911-80FC-F16789A64F06}" destId="{62DCE073-0BB0-4D3B-9845-CC5A8BC68FC2}" srcOrd="0" destOrd="0" presId="urn:microsoft.com/office/officeart/2005/8/layout/orgChart1"/>
    <dgm:cxn modelId="{838D36F9-D97B-41AC-A35C-4BF1D0AA0EB5}" type="presOf" srcId="{6149199A-4E6A-41DB-B566-445D47441A23}" destId="{53B4E199-7DD4-4755-B047-B573CD410577}" srcOrd="0" destOrd="0" presId="urn:microsoft.com/office/officeart/2005/8/layout/orgChart1"/>
    <dgm:cxn modelId="{B4A26DFC-0CE6-441C-BA93-637D807BDCF9}" srcId="{897DF24C-7A22-4E6A-BD25-6FB2CFC80D3C}" destId="{B4B03950-2AE9-4C0B-A5AE-41FA708B892B}" srcOrd="2" destOrd="0" parTransId="{67563D0F-3385-45EC-939D-62AA2FA08D08}" sibTransId="{2F0DAB1F-1A8A-4E5B-8CC4-8FFD7EFC4233}"/>
    <dgm:cxn modelId="{D3F753C8-24A7-44B9-AB79-48FE3BF0B20F}" type="presParOf" srcId="{53B4E199-7DD4-4755-B047-B573CD410577}" destId="{1FFD6D90-0739-4642-9147-35B9B93978E9}" srcOrd="0" destOrd="0" presId="urn:microsoft.com/office/officeart/2005/8/layout/orgChart1"/>
    <dgm:cxn modelId="{80E5720D-B39A-4D29-9A76-E27A6CA3F4EC}" type="presParOf" srcId="{1FFD6D90-0739-4642-9147-35B9B93978E9}" destId="{738C317C-44B7-4873-A8AD-7EDE90D2D4B0}" srcOrd="0" destOrd="0" presId="urn:microsoft.com/office/officeart/2005/8/layout/orgChart1"/>
    <dgm:cxn modelId="{8FC79F76-1AB7-403F-8367-89BBABB5CBBF}" type="presParOf" srcId="{738C317C-44B7-4873-A8AD-7EDE90D2D4B0}" destId="{98EFBF0A-29DA-45A2-8F15-C6B4AE5EA25D}" srcOrd="0" destOrd="0" presId="urn:microsoft.com/office/officeart/2005/8/layout/orgChart1"/>
    <dgm:cxn modelId="{3FCA705E-930A-4813-A860-4D2FE240B6EE}" type="presParOf" srcId="{738C317C-44B7-4873-A8AD-7EDE90D2D4B0}" destId="{8753BADA-1729-4668-B009-3793F457754C}" srcOrd="1" destOrd="0" presId="urn:microsoft.com/office/officeart/2005/8/layout/orgChart1"/>
    <dgm:cxn modelId="{70D8D5E6-FDE0-4504-BD2A-728468FB93E1}" type="presParOf" srcId="{1FFD6D90-0739-4642-9147-35B9B93978E9}" destId="{80AA8088-9CC0-4035-9624-0A2527158E84}" srcOrd="1" destOrd="0" presId="urn:microsoft.com/office/officeart/2005/8/layout/orgChart1"/>
    <dgm:cxn modelId="{360F5E43-B37A-458D-9A52-B54B6C294F0D}" type="presParOf" srcId="{80AA8088-9CC0-4035-9624-0A2527158E84}" destId="{07CF03E2-F019-458A-AF80-9C15BD4DE6AF}" srcOrd="0" destOrd="0" presId="urn:microsoft.com/office/officeart/2005/8/layout/orgChart1"/>
    <dgm:cxn modelId="{62C6CB0C-4494-41BD-BF7E-922558CE8CF6}" type="presParOf" srcId="{80AA8088-9CC0-4035-9624-0A2527158E84}" destId="{CECFD1D3-977D-42BB-B39B-2CAEF13C2A55}" srcOrd="1" destOrd="0" presId="urn:microsoft.com/office/officeart/2005/8/layout/orgChart1"/>
    <dgm:cxn modelId="{C6BFFACF-8DC5-4652-80E6-64CB622EEFFD}" type="presParOf" srcId="{CECFD1D3-977D-42BB-B39B-2CAEF13C2A55}" destId="{7B47146D-AC23-4BBE-BB7C-870983A3F591}" srcOrd="0" destOrd="0" presId="urn:microsoft.com/office/officeart/2005/8/layout/orgChart1"/>
    <dgm:cxn modelId="{D37A6462-CAE9-46D1-8701-EED873B6CF3F}" type="presParOf" srcId="{7B47146D-AC23-4BBE-BB7C-870983A3F591}" destId="{5BADA78C-FA8E-49E3-8D03-DBE8FC0199CC}" srcOrd="0" destOrd="0" presId="urn:microsoft.com/office/officeart/2005/8/layout/orgChart1"/>
    <dgm:cxn modelId="{6D665828-8914-4D9C-BC7A-EF5FCF25131B}" type="presParOf" srcId="{7B47146D-AC23-4BBE-BB7C-870983A3F591}" destId="{5CD8BC38-6D5F-43C1-810D-D9518A67FEFD}" srcOrd="1" destOrd="0" presId="urn:microsoft.com/office/officeart/2005/8/layout/orgChart1"/>
    <dgm:cxn modelId="{F7B03ECF-4467-4C52-9F9B-7F872882A26A}" type="presParOf" srcId="{CECFD1D3-977D-42BB-B39B-2CAEF13C2A55}" destId="{FE876831-D9BA-4690-A38D-7987710BF3F2}" srcOrd="1" destOrd="0" presId="urn:microsoft.com/office/officeart/2005/8/layout/orgChart1"/>
    <dgm:cxn modelId="{031A26D9-82E7-4454-9BDC-D6F774723603}" type="presParOf" srcId="{CECFD1D3-977D-42BB-B39B-2CAEF13C2A55}" destId="{23D7FCE0-0041-45B5-A6AC-2E3708A261FA}" srcOrd="2" destOrd="0" presId="urn:microsoft.com/office/officeart/2005/8/layout/orgChart1"/>
    <dgm:cxn modelId="{9704C7E8-2EFA-4447-98BA-F08E5E498F1C}" type="presParOf" srcId="{80AA8088-9CC0-4035-9624-0A2527158E84}" destId="{E17A3CED-2EFE-4B73-A1FD-52EFFE52A787}" srcOrd="2" destOrd="0" presId="urn:microsoft.com/office/officeart/2005/8/layout/orgChart1"/>
    <dgm:cxn modelId="{29140922-6E63-4662-BA68-DF21282471A9}" type="presParOf" srcId="{80AA8088-9CC0-4035-9624-0A2527158E84}" destId="{543D4E8C-0644-4CEE-AAA8-5CB5AFE82770}" srcOrd="3" destOrd="0" presId="urn:microsoft.com/office/officeart/2005/8/layout/orgChart1"/>
    <dgm:cxn modelId="{D3D98BD9-2105-47F3-A706-5884DB9ADD7F}" type="presParOf" srcId="{543D4E8C-0644-4CEE-AAA8-5CB5AFE82770}" destId="{2C018B8F-32C4-4FFC-A566-4941868C1F97}" srcOrd="0" destOrd="0" presId="urn:microsoft.com/office/officeart/2005/8/layout/orgChart1"/>
    <dgm:cxn modelId="{8042F4EC-0F00-4E25-8E67-F4EE79D34632}" type="presParOf" srcId="{2C018B8F-32C4-4FFC-A566-4941868C1F97}" destId="{CF8321AF-5662-4582-B4D9-4C0547514D59}" srcOrd="0" destOrd="0" presId="urn:microsoft.com/office/officeart/2005/8/layout/orgChart1"/>
    <dgm:cxn modelId="{7AB54C06-6D25-46ED-AA16-C286B783F656}" type="presParOf" srcId="{2C018B8F-32C4-4FFC-A566-4941868C1F97}" destId="{8BFFAB63-A0F5-40DD-97CC-F8B0E5775D19}" srcOrd="1" destOrd="0" presId="urn:microsoft.com/office/officeart/2005/8/layout/orgChart1"/>
    <dgm:cxn modelId="{618DF884-5C1D-425D-AFDA-2B0ECD867B46}" type="presParOf" srcId="{543D4E8C-0644-4CEE-AAA8-5CB5AFE82770}" destId="{D5EFBD46-C393-45CD-A757-4716793362AF}" srcOrd="1" destOrd="0" presId="urn:microsoft.com/office/officeart/2005/8/layout/orgChart1"/>
    <dgm:cxn modelId="{44414D4F-429F-49CF-9052-F6036EDE44E9}" type="presParOf" srcId="{543D4E8C-0644-4CEE-AAA8-5CB5AFE82770}" destId="{8F0028DA-0174-4CB7-B5E0-86F5DDAC5F2A}" srcOrd="2" destOrd="0" presId="urn:microsoft.com/office/officeart/2005/8/layout/orgChart1"/>
    <dgm:cxn modelId="{8486FC15-C8F6-48FB-8EBF-E2711C53901E}" type="presParOf" srcId="{1FFD6D90-0739-4642-9147-35B9B93978E9}" destId="{5C401921-8CEE-4594-9809-BA8E2C3F80D0}" srcOrd="2" destOrd="0" presId="urn:microsoft.com/office/officeart/2005/8/layout/orgChart1"/>
    <dgm:cxn modelId="{02C5C900-F43F-4468-9B18-25BF595A0FD3}" type="presParOf" srcId="{5C401921-8CEE-4594-9809-BA8E2C3F80D0}" destId="{62DCE073-0BB0-4D3B-9845-CC5A8BC68FC2}" srcOrd="0" destOrd="0" presId="urn:microsoft.com/office/officeart/2005/8/layout/orgChart1"/>
    <dgm:cxn modelId="{01CF3EF0-B747-4B1D-A918-B44A4152DF55}" type="presParOf" srcId="{5C401921-8CEE-4594-9809-BA8E2C3F80D0}" destId="{2938B90E-1C75-4C0F-9180-CF259B77346D}" srcOrd="1" destOrd="0" presId="urn:microsoft.com/office/officeart/2005/8/layout/orgChart1"/>
    <dgm:cxn modelId="{87FA77F7-A0B4-44B8-A35F-DF3191D71EA0}" type="presParOf" srcId="{2938B90E-1C75-4C0F-9180-CF259B77346D}" destId="{24B1B1F1-9B86-4D2E-AB28-891119A421D1}" srcOrd="0" destOrd="0" presId="urn:microsoft.com/office/officeart/2005/8/layout/orgChart1"/>
    <dgm:cxn modelId="{E9056D98-AE2A-4D8F-A90B-541E204033A6}" type="presParOf" srcId="{24B1B1F1-9B86-4D2E-AB28-891119A421D1}" destId="{105E24B3-3CC0-4A90-BE4F-5784F0F0DD1F}" srcOrd="0" destOrd="0" presId="urn:microsoft.com/office/officeart/2005/8/layout/orgChart1"/>
    <dgm:cxn modelId="{CA99CBD2-E313-4E62-B6FF-C17D80F2C15F}" type="presParOf" srcId="{24B1B1F1-9B86-4D2E-AB28-891119A421D1}" destId="{DF481BCD-97BF-4D5D-90E1-E627A8AD69B7}" srcOrd="1" destOrd="0" presId="urn:microsoft.com/office/officeart/2005/8/layout/orgChart1"/>
    <dgm:cxn modelId="{A71FD9FA-32F6-4F0E-B9A5-BE64D95CCE37}" type="presParOf" srcId="{2938B90E-1C75-4C0F-9180-CF259B77346D}" destId="{B9770A28-F657-43F5-8E64-625C07825B28}" srcOrd="1" destOrd="0" presId="urn:microsoft.com/office/officeart/2005/8/layout/orgChart1"/>
    <dgm:cxn modelId="{787C71CE-91CF-4F55-9501-73C4AF5315E6}" type="presParOf" srcId="{2938B90E-1C75-4C0F-9180-CF259B77346D}" destId="{AD60F7BA-CA00-4FDA-9DF1-D1691216983E}" srcOrd="2" destOrd="0" presId="urn:microsoft.com/office/officeart/2005/8/layout/orgChart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6149199A-4E6A-41DB-B566-445D47441A23}" type="doc">
      <dgm:prSet loTypeId="urn:microsoft.com/office/officeart/2005/8/layout/orgChart1" loCatId="hierarchy" qsTypeId="urn:microsoft.com/office/officeart/2005/8/quickstyle/simple1" qsCatId="simple" csTypeId="urn:microsoft.com/office/officeart/2005/8/colors/colorful5" csCatId="colorful" phldr="1"/>
      <dgm:spPr/>
      <dgm:t>
        <a:bodyPr/>
        <a:lstStyle/>
        <a:p>
          <a:endParaRPr lang="en-IN"/>
        </a:p>
      </dgm:t>
    </dgm:pt>
    <dgm:pt modelId="{897DF24C-7A22-4E6A-BD25-6FB2CFC80D3C}">
      <dgm:prSet phldrT="[Text]" custT="1"/>
      <dgm:spPr/>
      <dgm:t>
        <a:bodyPr/>
        <a:lstStyle/>
        <a:p>
          <a:r>
            <a:rPr lang="en-IN" sz="2400" dirty="0"/>
            <a:t>Deadline Adherence</a:t>
          </a:r>
        </a:p>
      </dgm:t>
    </dgm:pt>
    <dgm:pt modelId="{80E19186-9D22-422E-BCA4-04CC2A6409A9}" type="parTrans" cxnId="{B9861E2E-9D28-4ECD-9245-C1EDC817E03E}">
      <dgm:prSet/>
      <dgm:spPr/>
      <dgm:t>
        <a:bodyPr/>
        <a:lstStyle/>
        <a:p>
          <a:endParaRPr lang="en-IN"/>
        </a:p>
      </dgm:t>
    </dgm:pt>
    <dgm:pt modelId="{52665076-118D-446D-8891-25860385B085}" type="sibTrans" cxnId="{B9861E2E-9D28-4ECD-9245-C1EDC817E03E}">
      <dgm:prSet/>
      <dgm:spPr/>
      <dgm:t>
        <a:bodyPr/>
        <a:lstStyle/>
        <a:p>
          <a:endParaRPr lang="en-IN"/>
        </a:p>
      </dgm:t>
    </dgm:pt>
    <dgm:pt modelId="{7DE55946-9507-4E5F-A889-B791D52AA186}" type="asst">
      <dgm:prSet phldrT="[Text]" custT="1"/>
      <dgm:spPr/>
      <dgm:t>
        <a:bodyPr/>
        <a:lstStyle/>
        <a:p>
          <a:r>
            <a:rPr lang="en-IN" sz="2400" dirty="0"/>
            <a:t>Budget &amp; Resource management</a:t>
          </a:r>
        </a:p>
      </dgm:t>
    </dgm:pt>
    <dgm:pt modelId="{EA3B090A-A48F-4911-80FC-F16789A64F06}" type="parTrans" cxnId="{0C42837C-FD63-4F77-AD61-98564597B6C8}">
      <dgm:prSet/>
      <dgm:spPr/>
      <dgm:t>
        <a:bodyPr/>
        <a:lstStyle/>
        <a:p>
          <a:endParaRPr lang="en-IN"/>
        </a:p>
      </dgm:t>
    </dgm:pt>
    <dgm:pt modelId="{62D91F2F-FBD5-4092-8F09-1A7A62543F03}" type="sibTrans" cxnId="{0C42837C-FD63-4F77-AD61-98564597B6C8}">
      <dgm:prSet/>
      <dgm:spPr/>
      <dgm:t>
        <a:bodyPr/>
        <a:lstStyle/>
        <a:p>
          <a:endParaRPr lang="en-IN"/>
        </a:p>
      </dgm:t>
    </dgm:pt>
    <dgm:pt modelId="{C8258208-590D-40DA-8225-546F18AEE2F9}">
      <dgm:prSet phldrT="[Text]" custT="1"/>
      <dgm:spPr/>
      <dgm:t>
        <a:bodyPr/>
        <a:lstStyle/>
        <a:p>
          <a:r>
            <a:rPr lang="en-IN" sz="2400" dirty="0"/>
            <a:t>Client Feedback &amp; Adoption</a:t>
          </a:r>
        </a:p>
      </dgm:t>
    </dgm:pt>
    <dgm:pt modelId="{44339EC1-A614-4CAC-ACFA-EB22DB3AF033}" type="parTrans" cxnId="{2078A50E-8136-4858-8C6D-6B7542CB6606}">
      <dgm:prSet/>
      <dgm:spPr/>
      <dgm:t>
        <a:bodyPr/>
        <a:lstStyle/>
        <a:p>
          <a:endParaRPr lang="en-IN"/>
        </a:p>
      </dgm:t>
    </dgm:pt>
    <dgm:pt modelId="{0496FB80-F977-4258-9F67-9F7BFB9B1947}" type="sibTrans" cxnId="{2078A50E-8136-4858-8C6D-6B7542CB6606}">
      <dgm:prSet/>
      <dgm:spPr/>
      <dgm:t>
        <a:bodyPr/>
        <a:lstStyle/>
        <a:p>
          <a:endParaRPr lang="en-IN"/>
        </a:p>
      </dgm:t>
    </dgm:pt>
    <dgm:pt modelId="{B4B03950-2AE9-4C0B-A5AE-41FA708B892B}">
      <dgm:prSet phldrT="[Text]" phldr="1" custT="1"/>
      <dgm:spPr/>
      <dgm:t>
        <a:bodyPr/>
        <a:lstStyle/>
        <a:p>
          <a:endParaRPr lang="en-IN" sz="2400" dirty="0"/>
        </a:p>
      </dgm:t>
    </dgm:pt>
    <dgm:pt modelId="{67563D0F-3385-45EC-939D-62AA2FA08D08}" type="parTrans" cxnId="{B4A26DFC-0CE6-441C-BA93-637D807BDCF9}">
      <dgm:prSet/>
      <dgm:spPr/>
      <dgm:t>
        <a:bodyPr/>
        <a:lstStyle/>
        <a:p>
          <a:endParaRPr lang="en-IN"/>
        </a:p>
      </dgm:t>
    </dgm:pt>
    <dgm:pt modelId="{2F0DAB1F-1A8A-4E5B-8CC4-8FFD7EFC4233}" type="sibTrans" cxnId="{B4A26DFC-0CE6-441C-BA93-637D807BDCF9}">
      <dgm:prSet/>
      <dgm:spPr/>
      <dgm:t>
        <a:bodyPr/>
        <a:lstStyle/>
        <a:p>
          <a:endParaRPr lang="en-IN"/>
        </a:p>
      </dgm:t>
    </dgm:pt>
    <dgm:pt modelId="{53B4E199-7DD4-4755-B047-B573CD410577}" type="pres">
      <dgm:prSet presAssocID="{6149199A-4E6A-41DB-B566-445D47441A23}" presName="hierChild1" presStyleCnt="0">
        <dgm:presLayoutVars>
          <dgm:orgChart val="1"/>
          <dgm:chPref val="1"/>
          <dgm:dir/>
          <dgm:animOne val="branch"/>
          <dgm:animLvl val="lvl"/>
          <dgm:resizeHandles/>
        </dgm:presLayoutVars>
      </dgm:prSet>
      <dgm:spPr/>
    </dgm:pt>
    <dgm:pt modelId="{1FFD6D90-0739-4642-9147-35B9B93978E9}" type="pres">
      <dgm:prSet presAssocID="{897DF24C-7A22-4E6A-BD25-6FB2CFC80D3C}" presName="hierRoot1" presStyleCnt="0">
        <dgm:presLayoutVars>
          <dgm:hierBranch val="init"/>
        </dgm:presLayoutVars>
      </dgm:prSet>
      <dgm:spPr/>
    </dgm:pt>
    <dgm:pt modelId="{738C317C-44B7-4873-A8AD-7EDE90D2D4B0}" type="pres">
      <dgm:prSet presAssocID="{897DF24C-7A22-4E6A-BD25-6FB2CFC80D3C}" presName="rootComposite1" presStyleCnt="0"/>
      <dgm:spPr/>
    </dgm:pt>
    <dgm:pt modelId="{98EFBF0A-29DA-45A2-8F15-C6B4AE5EA25D}" type="pres">
      <dgm:prSet presAssocID="{897DF24C-7A22-4E6A-BD25-6FB2CFC80D3C}" presName="rootText1" presStyleLbl="node0" presStyleIdx="0" presStyleCnt="1">
        <dgm:presLayoutVars>
          <dgm:chPref val="3"/>
        </dgm:presLayoutVars>
      </dgm:prSet>
      <dgm:spPr/>
    </dgm:pt>
    <dgm:pt modelId="{8753BADA-1729-4668-B009-3793F457754C}" type="pres">
      <dgm:prSet presAssocID="{897DF24C-7A22-4E6A-BD25-6FB2CFC80D3C}" presName="rootConnector1" presStyleLbl="node1" presStyleIdx="0" presStyleCnt="0"/>
      <dgm:spPr/>
    </dgm:pt>
    <dgm:pt modelId="{80AA8088-9CC0-4035-9624-0A2527158E84}" type="pres">
      <dgm:prSet presAssocID="{897DF24C-7A22-4E6A-BD25-6FB2CFC80D3C}" presName="hierChild2" presStyleCnt="0"/>
      <dgm:spPr/>
    </dgm:pt>
    <dgm:pt modelId="{07CF03E2-F019-458A-AF80-9C15BD4DE6AF}" type="pres">
      <dgm:prSet presAssocID="{44339EC1-A614-4CAC-ACFA-EB22DB3AF033}" presName="Name37" presStyleLbl="parChTrans1D2" presStyleIdx="0" presStyleCnt="3"/>
      <dgm:spPr/>
    </dgm:pt>
    <dgm:pt modelId="{CECFD1D3-977D-42BB-B39B-2CAEF13C2A55}" type="pres">
      <dgm:prSet presAssocID="{C8258208-590D-40DA-8225-546F18AEE2F9}" presName="hierRoot2" presStyleCnt="0">
        <dgm:presLayoutVars>
          <dgm:hierBranch val="init"/>
        </dgm:presLayoutVars>
      </dgm:prSet>
      <dgm:spPr/>
    </dgm:pt>
    <dgm:pt modelId="{7B47146D-AC23-4BBE-BB7C-870983A3F591}" type="pres">
      <dgm:prSet presAssocID="{C8258208-590D-40DA-8225-546F18AEE2F9}" presName="rootComposite" presStyleCnt="0"/>
      <dgm:spPr/>
    </dgm:pt>
    <dgm:pt modelId="{5BADA78C-FA8E-49E3-8D03-DBE8FC0199CC}" type="pres">
      <dgm:prSet presAssocID="{C8258208-590D-40DA-8225-546F18AEE2F9}" presName="rootText" presStyleLbl="node2" presStyleIdx="0" presStyleCnt="2">
        <dgm:presLayoutVars>
          <dgm:chPref val="3"/>
        </dgm:presLayoutVars>
      </dgm:prSet>
      <dgm:spPr/>
    </dgm:pt>
    <dgm:pt modelId="{5CD8BC38-6D5F-43C1-810D-D9518A67FEFD}" type="pres">
      <dgm:prSet presAssocID="{C8258208-590D-40DA-8225-546F18AEE2F9}" presName="rootConnector" presStyleLbl="node2" presStyleIdx="0" presStyleCnt="2"/>
      <dgm:spPr/>
    </dgm:pt>
    <dgm:pt modelId="{FE876831-D9BA-4690-A38D-7987710BF3F2}" type="pres">
      <dgm:prSet presAssocID="{C8258208-590D-40DA-8225-546F18AEE2F9}" presName="hierChild4" presStyleCnt="0"/>
      <dgm:spPr/>
    </dgm:pt>
    <dgm:pt modelId="{23D7FCE0-0041-45B5-A6AC-2E3708A261FA}" type="pres">
      <dgm:prSet presAssocID="{C8258208-590D-40DA-8225-546F18AEE2F9}" presName="hierChild5" presStyleCnt="0"/>
      <dgm:spPr/>
    </dgm:pt>
    <dgm:pt modelId="{E17A3CED-2EFE-4B73-A1FD-52EFFE52A787}" type="pres">
      <dgm:prSet presAssocID="{67563D0F-3385-45EC-939D-62AA2FA08D08}" presName="Name37" presStyleLbl="parChTrans1D2" presStyleIdx="1" presStyleCnt="3"/>
      <dgm:spPr/>
    </dgm:pt>
    <dgm:pt modelId="{543D4E8C-0644-4CEE-AAA8-5CB5AFE82770}" type="pres">
      <dgm:prSet presAssocID="{B4B03950-2AE9-4C0B-A5AE-41FA708B892B}" presName="hierRoot2" presStyleCnt="0">
        <dgm:presLayoutVars>
          <dgm:hierBranch val="init"/>
        </dgm:presLayoutVars>
      </dgm:prSet>
      <dgm:spPr/>
    </dgm:pt>
    <dgm:pt modelId="{2C018B8F-32C4-4FFC-A566-4941868C1F97}" type="pres">
      <dgm:prSet presAssocID="{B4B03950-2AE9-4C0B-A5AE-41FA708B892B}" presName="rootComposite" presStyleCnt="0"/>
      <dgm:spPr/>
    </dgm:pt>
    <dgm:pt modelId="{CF8321AF-5662-4582-B4D9-4C0547514D59}" type="pres">
      <dgm:prSet presAssocID="{B4B03950-2AE9-4C0B-A5AE-41FA708B892B}" presName="rootText" presStyleLbl="node2" presStyleIdx="1" presStyleCnt="2">
        <dgm:presLayoutVars>
          <dgm:chPref val="3"/>
        </dgm:presLayoutVars>
      </dgm:prSet>
      <dgm:spPr/>
    </dgm:pt>
    <dgm:pt modelId="{8BFFAB63-A0F5-40DD-97CC-F8B0E5775D19}" type="pres">
      <dgm:prSet presAssocID="{B4B03950-2AE9-4C0B-A5AE-41FA708B892B}" presName="rootConnector" presStyleLbl="node2" presStyleIdx="1" presStyleCnt="2"/>
      <dgm:spPr/>
    </dgm:pt>
    <dgm:pt modelId="{D5EFBD46-C393-45CD-A757-4716793362AF}" type="pres">
      <dgm:prSet presAssocID="{B4B03950-2AE9-4C0B-A5AE-41FA708B892B}" presName="hierChild4" presStyleCnt="0"/>
      <dgm:spPr/>
    </dgm:pt>
    <dgm:pt modelId="{8F0028DA-0174-4CB7-B5E0-86F5DDAC5F2A}" type="pres">
      <dgm:prSet presAssocID="{B4B03950-2AE9-4C0B-A5AE-41FA708B892B}" presName="hierChild5" presStyleCnt="0"/>
      <dgm:spPr/>
    </dgm:pt>
    <dgm:pt modelId="{5C401921-8CEE-4594-9809-BA8E2C3F80D0}" type="pres">
      <dgm:prSet presAssocID="{897DF24C-7A22-4E6A-BD25-6FB2CFC80D3C}" presName="hierChild3" presStyleCnt="0"/>
      <dgm:spPr/>
    </dgm:pt>
    <dgm:pt modelId="{62DCE073-0BB0-4D3B-9845-CC5A8BC68FC2}" type="pres">
      <dgm:prSet presAssocID="{EA3B090A-A48F-4911-80FC-F16789A64F06}" presName="Name111" presStyleLbl="parChTrans1D2" presStyleIdx="2" presStyleCnt="3"/>
      <dgm:spPr/>
    </dgm:pt>
    <dgm:pt modelId="{2938B90E-1C75-4C0F-9180-CF259B77346D}" type="pres">
      <dgm:prSet presAssocID="{7DE55946-9507-4E5F-A889-B791D52AA186}" presName="hierRoot3" presStyleCnt="0">
        <dgm:presLayoutVars>
          <dgm:hierBranch val="init"/>
        </dgm:presLayoutVars>
      </dgm:prSet>
      <dgm:spPr/>
    </dgm:pt>
    <dgm:pt modelId="{24B1B1F1-9B86-4D2E-AB28-891119A421D1}" type="pres">
      <dgm:prSet presAssocID="{7DE55946-9507-4E5F-A889-B791D52AA186}" presName="rootComposite3" presStyleCnt="0"/>
      <dgm:spPr/>
    </dgm:pt>
    <dgm:pt modelId="{105E24B3-3CC0-4A90-BE4F-5784F0F0DD1F}" type="pres">
      <dgm:prSet presAssocID="{7DE55946-9507-4E5F-A889-B791D52AA186}" presName="rootText3" presStyleLbl="asst1" presStyleIdx="0" presStyleCnt="1">
        <dgm:presLayoutVars>
          <dgm:chPref val="3"/>
        </dgm:presLayoutVars>
      </dgm:prSet>
      <dgm:spPr/>
    </dgm:pt>
    <dgm:pt modelId="{DF481BCD-97BF-4D5D-90E1-E627A8AD69B7}" type="pres">
      <dgm:prSet presAssocID="{7DE55946-9507-4E5F-A889-B791D52AA186}" presName="rootConnector3" presStyleLbl="asst1" presStyleIdx="0" presStyleCnt="1"/>
      <dgm:spPr/>
    </dgm:pt>
    <dgm:pt modelId="{B9770A28-F657-43F5-8E64-625C07825B28}" type="pres">
      <dgm:prSet presAssocID="{7DE55946-9507-4E5F-A889-B791D52AA186}" presName="hierChild6" presStyleCnt="0"/>
      <dgm:spPr/>
    </dgm:pt>
    <dgm:pt modelId="{AD60F7BA-CA00-4FDA-9DF1-D1691216983E}" type="pres">
      <dgm:prSet presAssocID="{7DE55946-9507-4E5F-A889-B791D52AA186}" presName="hierChild7" presStyleCnt="0"/>
      <dgm:spPr/>
    </dgm:pt>
  </dgm:ptLst>
  <dgm:cxnLst>
    <dgm:cxn modelId="{19CF5905-F8A3-4FC7-BB4E-C609465274F0}" type="presOf" srcId="{44339EC1-A614-4CAC-ACFA-EB22DB3AF033}" destId="{07CF03E2-F019-458A-AF80-9C15BD4DE6AF}" srcOrd="0" destOrd="0" presId="urn:microsoft.com/office/officeart/2005/8/layout/orgChart1"/>
    <dgm:cxn modelId="{2078A50E-8136-4858-8C6D-6B7542CB6606}" srcId="{897DF24C-7A22-4E6A-BD25-6FB2CFC80D3C}" destId="{C8258208-590D-40DA-8225-546F18AEE2F9}" srcOrd="1" destOrd="0" parTransId="{44339EC1-A614-4CAC-ACFA-EB22DB3AF033}" sibTransId="{0496FB80-F977-4258-9F67-9F7BFB9B1947}"/>
    <dgm:cxn modelId="{B9861E2E-9D28-4ECD-9245-C1EDC817E03E}" srcId="{6149199A-4E6A-41DB-B566-445D47441A23}" destId="{897DF24C-7A22-4E6A-BD25-6FB2CFC80D3C}" srcOrd="0" destOrd="0" parTransId="{80E19186-9D22-422E-BCA4-04CC2A6409A9}" sibTransId="{52665076-118D-446D-8891-25860385B085}"/>
    <dgm:cxn modelId="{649CBA69-98E7-49AE-8DC8-FB92538EA35A}" type="presOf" srcId="{C8258208-590D-40DA-8225-546F18AEE2F9}" destId="{5CD8BC38-6D5F-43C1-810D-D9518A67FEFD}" srcOrd="1" destOrd="0" presId="urn:microsoft.com/office/officeart/2005/8/layout/orgChart1"/>
    <dgm:cxn modelId="{6135266A-32BA-44F5-A6A1-E04227E416B0}" type="presOf" srcId="{C8258208-590D-40DA-8225-546F18AEE2F9}" destId="{5BADA78C-FA8E-49E3-8D03-DBE8FC0199CC}" srcOrd="0" destOrd="0" presId="urn:microsoft.com/office/officeart/2005/8/layout/orgChart1"/>
    <dgm:cxn modelId="{655B616E-E6FE-471B-B6E4-770818C8DC84}" type="presOf" srcId="{897DF24C-7A22-4E6A-BD25-6FB2CFC80D3C}" destId="{8753BADA-1729-4668-B009-3793F457754C}" srcOrd="1" destOrd="0" presId="urn:microsoft.com/office/officeart/2005/8/layout/orgChart1"/>
    <dgm:cxn modelId="{52673D50-B046-4638-A1CC-6487807DA6C4}" type="presOf" srcId="{897DF24C-7A22-4E6A-BD25-6FB2CFC80D3C}" destId="{98EFBF0A-29DA-45A2-8F15-C6B4AE5EA25D}" srcOrd="0" destOrd="0" presId="urn:microsoft.com/office/officeart/2005/8/layout/orgChart1"/>
    <dgm:cxn modelId="{65E8CC70-1561-4CA0-9DDA-E5FBA6772349}" type="presOf" srcId="{B4B03950-2AE9-4C0B-A5AE-41FA708B892B}" destId="{8BFFAB63-A0F5-40DD-97CC-F8B0E5775D19}" srcOrd="1" destOrd="0" presId="urn:microsoft.com/office/officeart/2005/8/layout/orgChart1"/>
    <dgm:cxn modelId="{37642A73-927A-428F-9327-AE08653F6D2D}" type="presOf" srcId="{67563D0F-3385-45EC-939D-62AA2FA08D08}" destId="{E17A3CED-2EFE-4B73-A1FD-52EFFE52A787}" srcOrd="0" destOrd="0" presId="urn:microsoft.com/office/officeart/2005/8/layout/orgChart1"/>
    <dgm:cxn modelId="{0C42837C-FD63-4F77-AD61-98564597B6C8}" srcId="{897DF24C-7A22-4E6A-BD25-6FB2CFC80D3C}" destId="{7DE55946-9507-4E5F-A889-B791D52AA186}" srcOrd="0" destOrd="0" parTransId="{EA3B090A-A48F-4911-80FC-F16789A64F06}" sibTransId="{62D91F2F-FBD5-4092-8F09-1A7A62543F03}"/>
    <dgm:cxn modelId="{90A66381-895E-4DBF-B0AE-22FBF9513FC4}" type="presOf" srcId="{7DE55946-9507-4E5F-A889-B791D52AA186}" destId="{DF481BCD-97BF-4D5D-90E1-E627A8AD69B7}" srcOrd="1" destOrd="0" presId="urn:microsoft.com/office/officeart/2005/8/layout/orgChart1"/>
    <dgm:cxn modelId="{1C59C883-8C2B-41C3-B566-FDFDCF2F7D36}" type="presOf" srcId="{7DE55946-9507-4E5F-A889-B791D52AA186}" destId="{105E24B3-3CC0-4A90-BE4F-5784F0F0DD1F}" srcOrd="0" destOrd="0" presId="urn:microsoft.com/office/officeart/2005/8/layout/orgChart1"/>
    <dgm:cxn modelId="{72586990-AD3D-4DC7-991D-DA7F9DF3D804}" type="presOf" srcId="{B4B03950-2AE9-4C0B-A5AE-41FA708B892B}" destId="{CF8321AF-5662-4582-B4D9-4C0547514D59}" srcOrd="0" destOrd="0" presId="urn:microsoft.com/office/officeart/2005/8/layout/orgChart1"/>
    <dgm:cxn modelId="{BF96B9BC-9A4B-4D73-B449-1E5BC26231FF}" type="presOf" srcId="{EA3B090A-A48F-4911-80FC-F16789A64F06}" destId="{62DCE073-0BB0-4D3B-9845-CC5A8BC68FC2}" srcOrd="0" destOrd="0" presId="urn:microsoft.com/office/officeart/2005/8/layout/orgChart1"/>
    <dgm:cxn modelId="{838D36F9-D97B-41AC-A35C-4BF1D0AA0EB5}" type="presOf" srcId="{6149199A-4E6A-41DB-B566-445D47441A23}" destId="{53B4E199-7DD4-4755-B047-B573CD410577}" srcOrd="0" destOrd="0" presId="urn:microsoft.com/office/officeart/2005/8/layout/orgChart1"/>
    <dgm:cxn modelId="{B4A26DFC-0CE6-441C-BA93-637D807BDCF9}" srcId="{897DF24C-7A22-4E6A-BD25-6FB2CFC80D3C}" destId="{B4B03950-2AE9-4C0B-A5AE-41FA708B892B}" srcOrd="2" destOrd="0" parTransId="{67563D0F-3385-45EC-939D-62AA2FA08D08}" sibTransId="{2F0DAB1F-1A8A-4E5B-8CC4-8FFD7EFC4233}"/>
    <dgm:cxn modelId="{D3F753C8-24A7-44B9-AB79-48FE3BF0B20F}" type="presParOf" srcId="{53B4E199-7DD4-4755-B047-B573CD410577}" destId="{1FFD6D90-0739-4642-9147-35B9B93978E9}" srcOrd="0" destOrd="0" presId="urn:microsoft.com/office/officeart/2005/8/layout/orgChart1"/>
    <dgm:cxn modelId="{80E5720D-B39A-4D29-9A76-E27A6CA3F4EC}" type="presParOf" srcId="{1FFD6D90-0739-4642-9147-35B9B93978E9}" destId="{738C317C-44B7-4873-A8AD-7EDE90D2D4B0}" srcOrd="0" destOrd="0" presId="urn:microsoft.com/office/officeart/2005/8/layout/orgChart1"/>
    <dgm:cxn modelId="{8FC79F76-1AB7-403F-8367-89BBABB5CBBF}" type="presParOf" srcId="{738C317C-44B7-4873-A8AD-7EDE90D2D4B0}" destId="{98EFBF0A-29DA-45A2-8F15-C6B4AE5EA25D}" srcOrd="0" destOrd="0" presId="urn:microsoft.com/office/officeart/2005/8/layout/orgChart1"/>
    <dgm:cxn modelId="{3FCA705E-930A-4813-A860-4D2FE240B6EE}" type="presParOf" srcId="{738C317C-44B7-4873-A8AD-7EDE90D2D4B0}" destId="{8753BADA-1729-4668-B009-3793F457754C}" srcOrd="1" destOrd="0" presId="urn:microsoft.com/office/officeart/2005/8/layout/orgChart1"/>
    <dgm:cxn modelId="{70D8D5E6-FDE0-4504-BD2A-728468FB93E1}" type="presParOf" srcId="{1FFD6D90-0739-4642-9147-35B9B93978E9}" destId="{80AA8088-9CC0-4035-9624-0A2527158E84}" srcOrd="1" destOrd="0" presId="urn:microsoft.com/office/officeart/2005/8/layout/orgChart1"/>
    <dgm:cxn modelId="{360F5E43-B37A-458D-9A52-B54B6C294F0D}" type="presParOf" srcId="{80AA8088-9CC0-4035-9624-0A2527158E84}" destId="{07CF03E2-F019-458A-AF80-9C15BD4DE6AF}" srcOrd="0" destOrd="0" presId="urn:microsoft.com/office/officeart/2005/8/layout/orgChart1"/>
    <dgm:cxn modelId="{62C6CB0C-4494-41BD-BF7E-922558CE8CF6}" type="presParOf" srcId="{80AA8088-9CC0-4035-9624-0A2527158E84}" destId="{CECFD1D3-977D-42BB-B39B-2CAEF13C2A55}" srcOrd="1" destOrd="0" presId="urn:microsoft.com/office/officeart/2005/8/layout/orgChart1"/>
    <dgm:cxn modelId="{C6BFFACF-8DC5-4652-80E6-64CB622EEFFD}" type="presParOf" srcId="{CECFD1D3-977D-42BB-B39B-2CAEF13C2A55}" destId="{7B47146D-AC23-4BBE-BB7C-870983A3F591}" srcOrd="0" destOrd="0" presId="urn:microsoft.com/office/officeart/2005/8/layout/orgChart1"/>
    <dgm:cxn modelId="{D37A6462-CAE9-46D1-8701-EED873B6CF3F}" type="presParOf" srcId="{7B47146D-AC23-4BBE-BB7C-870983A3F591}" destId="{5BADA78C-FA8E-49E3-8D03-DBE8FC0199CC}" srcOrd="0" destOrd="0" presId="urn:microsoft.com/office/officeart/2005/8/layout/orgChart1"/>
    <dgm:cxn modelId="{6D665828-8914-4D9C-BC7A-EF5FCF25131B}" type="presParOf" srcId="{7B47146D-AC23-4BBE-BB7C-870983A3F591}" destId="{5CD8BC38-6D5F-43C1-810D-D9518A67FEFD}" srcOrd="1" destOrd="0" presId="urn:microsoft.com/office/officeart/2005/8/layout/orgChart1"/>
    <dgm:cxn modelId="{F7B03ECF-4467-4C52-9F9B-7F872882A26A}" type="presParOf" srcId="{CECFD1D3-977D-42BB-B39B-2CAEF13C2A55}" destId="{FE876831-D9BA-4690-A38D-7987710BF3F2}" srcOrd="1" destOrd="0" presId="urn:microsoft.com/office/officeart/2005/8/layout/orgChart1"/>
    <dgm:cxn modelId="{031A26D9-82E7-4454-9BDC-D6F774723603}" type="presParOf" srcId="{CECFD1D3-977D-42BB-B39B-2CAEF13C2A55}" destId="{23D7FCE0-0041-45B5-A6AC-2E3708A261FA}" srcOrd="2" destOrd="0" presId="urn:microsoft.com/office/officeart/2005/8/layout/orgChart1"/>
    <dgm:cxn modelId="{9704C7E8-2EFA-4447-98BA-F08E5E498F1C}" type="presParOf" srcId="{80AA8088-9CC0-4035-9624-0A2527158E84}" destId="{E17A3CED-2EFE-4B73-A1FD-52EFFE52A787}" srcOrd="2" destOrd="0" presId="urn:microsoft.com/office/officeart/2005/8/layout/orgChart1"/>
    <dgm:cxn modelId="{29140922-6E63-4662-BA68-DF21282471A9}" type="presParOf" srcId="{80AA8088-9CC0-4035-9624-0A2527158E84}" destId="{543D4E8C-0644-4CEE-AAA8-5CB5AFE82770}" srcOrd="3" destOrd="0" presId="urn:microsoft.com/office/officeart/2005/8/layout/orgChart1"/>
    <dgm:cxn modelId="{D3D98BD9-2105-47F3-A706-5884DB9ADD7F}" type="presParOf" srcId="{543D4E8C-0644-4CEE-AAA8-5CB5AFE82770}" destId="{2C018B8F-32C4-4FFC-A566-4941868C1F97}" srcOrd="0" destOrd="0" presId="urn:microsoft.com/office/officeart/2005/8/layout/orgChart1"/>
    <dgm:cxn modelId="{8042F4EC-0F00-4E25-8E67-F4EE79D34632}" type="presParOf" srcId="{2C018B8F-32C4-4FFC-A566-4941868C1F97}" destId="{CF8321AF-5662-4582-B4D9-4C0547514D59}" srcOrd="0" destOrd="0" presId="urn:microsoft.com/office/officeart/2005/8/layout/orgChart1"/>
    <dgm:cxn modelId="{7AB54C06-6D25-46ED-AA16-C286B783F656}" type="presParOf" srcId="{2C018B8F-32C4-4FFC-A566-4941868C1F97}" destId="{8BFFAB63-A0F5-40DD-97CC-F8B0E5775D19}" srcOrd="1" destOrd="0" presId="urn:microsoft.com/office/officeart/2005/8/layout/orgChart1"/>
    <dgm:cxn modelId="{618DF884-5C1D-425D-AFDA-2B0ECD867B46}" type="presParOf" srcId="{543D4E8C-0644-4CEE-AAA8-5CB5AFE82770}" destId="{D5EFBD46-C393-45CD-A757-4716793362AF}" srcOrd="1" destOrd="0" presId="urn:microsoft.com/office/officeart/2005/8/layout/orgChart1"/>
    <dgm:cxn modelId="{44414D4F-429F-49CF-9052-F6036EDE44E9}" type="presParOf" srcId="{543D4E8C-0644-4CEE-AAA8-5CB5AFE82770}" destId="{8F0028DA-0174-4CB7-B5E0-86F5DDAC5F2A}" srcOrd="2" destOrd="0" presId="urn:microsoft.com/office/officeart/2005/8/layout/orgChart1"/>
    <dgm:cxn modelId="{8486FC15-C8F6-48FB-8EBF-E2711C53901E}" type="presParOf" srcId="{1FFD6D90-0739-4642-9147-35B9B93978E9}" destId="{5C401921-8CEE-4594-9809-BA8E2C3F80D0}" srcOrd="2" destOrd="0" presId="urn:microsoft.com/office/officeart/2005/8/layout/orgChart1"/>
    <dgm:cxn modelId="{02C5C900-F43F-4468-9B18-25BF595A0FD3}" type="presParOf" srcId="{5C401921-8CEE-4594-9809-BA8E2C3F80D0}" destId="{62DCE073-0BB0-4D3B-9845-CC5A8BC68FC2}" srcOrd="0" destOrd="0" presId="urn:microsoft.com/office/officeart/2005/8/layout/orgChart1"/>
    <dgm:cxn modelId="{01CF3EF0-B747-4B1D-A918-B44A4152DF55}" type="presParOf" srcId="{5C401921-8CEE-4594-9809-BA8E2C3F80D0}" destId="{2938B90E-1C75-4C0F-9180-CF259B77346D}" srcOrd="1" destOrd="0" presId="urn:microsoft.com/office/officeart/2005/8/layout/orgChart1"/>
    <dgm:cxn modelId="{87FA77F7-A0B4-44B8-A35F-DF3191D71EA0}" type="presParOf" srcId="{2938B90E-1C75-4C0F-9180-CF259B77346D}" destId="{24B1B1F1-9B86-4D2E-AB28-891119A421D1}" srcOrd="0" destOrd="0" presId="urn:microsoft.com/office/officeart/2005/8/layout/orgChart1"/>
    <dgm:cxn modelId="{E9056D98-AE2A-4D8F-A90B-541E204033A6}" type="presParOf" srcId="{24B1B1F1-9B86-4D2E-AB28-891119A421D1}" destId="{105E24B3-3CC0-4A90-BE4F-5784F0F0DD1F}" srcOrd="0" destOrd="0" presId="urn:microsoft.com/office/officeart/2005/8/layout/orgChart1"/>
    <dgm:cxn modelId="{CA99CBD2-E313-4E62-B6FF-C17D80F2C15F}" type="presParOf" srcId="{24B1B1F1-9B86-4D2E-AB28-891119A421D1}" destId="{DF481BCD-97BF-4D5D-90E1-E627A8AD69B7}" srcOrd="1" destOrd="0" presId="urn:microsoft.com/office/officeart/2005/8/layout/orgChart1"/>
    <dgm:cxn modelId="{A71FD9FA-32F6-4F0E-B9A5-BE64D95CCE37}" type="presParOf" srcId="{2938B90E-1C75-4C0F-9180-CF259B77346D}" destId="{B9770A28-F657-43F5-8E64-625C07825B28}" srcOrd="1" destOrd="0" presId="urn:microsoft.com/office/officeart/2005/8/layout/orgChart1"/>
    <dgm:cxn modelId="{787C71CE-91CF-4F55-9501-73C4AF5315E6}" type="presParOf" srcId="{2938B90E-1C75-4C0F-9180-CF259B77346D}" destId="{AD60F7BA-CA00-4FDA-9DF1-D1691216983E}" srcOrd="2" destOrd="0" presId="urn:microsoft.com/office/officeart/2005/8/layout/orgChart1"/>
  </dgm:cxnLst>
  <dgm:bg/>
  <dgm:whole/>
  <dgm:extLst>
    <a:ext uri="http://schemas.microsoft.com/office/drawing/2008/diagram">
      <dsp:dataModelExt xmlns:dsp="http://schemas.microsoft.com/office/drawing/2008/diagram" relId="rId13"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D1AC5C4-8C86-48EA-979A-A3AF49B51E65}">
      <dsp:nvSpPr>
        <dsp:cNvPr id="0" name=""/>
        <dsp:cNvSpPr/>
      </dsp:nvSpPr>
      <dsp:spPr>
        <a:xfrm>
          <a:off x="2116" y="2482188"/>
          <a:ext cx="2137833" cy="1068916"/>
        </a:xfrm>
        <a:prstGeom prst="roundRect">
          <a:avLst>
            <a:gd name="adj" fmla="val 10000"/>
          </a:avLst>
        </a:prstGeom>
        <a:gradFill rotWithShape="1">
          <a:gsLst>
            <a:gs pos="0">
              <a:schemeClr val="accent4">
                <a:satMod val="103000"/>
                <a:lumMod val="102000"/>
                <a:tint val="94000"/>
              </a:schemeClr>
            </a:gs>
            <a:gs pos="50000">
              <a:schemeClr val="accent4">
                <a:satMod val="110000"/>
                <a:lumMod val="100000"/>
                <a:shade val="100000"/>
              </a:schemeClr>
            </a:gs>
            <a:gs pos="100000">
              <a:schemeClr val="accent4">
                <a:lumMod val="99000"/>
                <a:satMod val="120000"/>
                <a:shade val="78000"/>
              </a:schemeClr>
            </a:gs>
          </a:gsLst>
          <a:lin ang="5400000" scaled="0"/>
        </a:gradFill>
        <a:ln w="6350" cap="flat" cmpd="sng" algn="ctr">
          <a:solidFill>
            <a:schemeClr val="accent4"/>
          </a:solidFill>
          <a:prstDash val="solid"/>
          <a:miter lim="800000"/>
        </a:ln>
        <a:effectLst/>
      </dsp:spPr>
      <dsp:style>
        <a:lnRef idx="1">
          <a:schemeClr val="accent4"/>
        </a:lnRef>
        <a:fillRef idx="3">
          <a:schemeClr val="accent4"/>
        </a:fillRef>
        <a:effectRef idx="2">
          <a:schemeClr val="accent4"/>
        </a:effectRef>
        <a:fontRef idx="minor">
          <a:schemeClr val="lt1"/>
        </a:fontRef>
      </dsp:style>
      <dsp:txBody>
        <a:bodyPr spcFirstLastPara="0" vert="horz" wrap="square" lIns="20320" tIns="20320" rIns="20320" bIns="20320" numCol="1" spcCol="1270" anchor="ctr" anchorCtr="0">
          <a:noAutofit/>
        </a:bodyPr>
        <a:lstStyle/>
        <a:p>
          <a:pPr marL="0" lvl="0" indent="0" algn="ctr" defTabSz="1422400">
            <a:lnSpc>
              <a:spcPct val="90000"/>
            </a:lnSpc>
            <a:spcBef>
              <a:spcPct val="0"/>
            </a:spcBef>
            <a:spcAft>
              <a:spcPct val="35000"/>
            </a:spcAft>
            <a:buNone/>
          </a:pPr>
          <a:r>
            <a:rPr lang="en-IN" sz="3200" b="1" kern="1200" dirty="0"/>
            <a:t>Project Manager 1+</a:t>
          </a:r>
        </a:p>
      </dsp:txBody>
      <dsp:txXfrm>
        <a:off x="33423" y="2513495"/>
        <a:ext cx="2075219" cy="1006302"/>
      </dsp:txXfrm>
    </dsp:sp>
    <dsp:sp modelId="{AE82C28C-06B1-4C8E-98B3-82924245C419}">
      <dsp:nvSpPr>
        <dsp:cNvPr id="0" name=""/>
        <dsp:cNvSpPr/>
      </dsp:nvSpPr>
      <dsp:spPr>
        <a:xfrm rot="18770822">
          <a:off x="1938782" y="2537922"/>
          <a:ext cx="1257468" cy="35507"/>
        </a:xfrm>
        <a:custGeom>
          <a:avLst/>
          <a:gdLst/>
          <a:ahLst/>
          <a:cxnLst/>
          <a:rect l="0" t="0" r="0" b="0"/>
          <a:pathLst>
            <a:path>
              <a:moveTo>
                <a:pt x="0" y="17753"/>
              </a:moveTo>
              <a:lnTo>
                <a:pt x="1257468" y="17753"/>
              </a:lnTo>
            </a:path>
          </a:pathLst>
        </a:custGeom>
        <a:noFill/>
        <a:ln w="19050" cap="flat" cmpd="sng" algn="ctr">
          <a:solidFill>
            <a:schemeClr val="dk1"/>
          </a:solidFill>
          <a:prstDash val="solid"/>
          <a:miter lim="800000"/>
        </a:ln>
        <a:effectLst/>
      </dsp:spPr>
      <dsp:style>
        <a:lnRef idx="3">
          <a:schemeClr val="dk1"/>
        </a:lnRef>
        <a:fillRef idx="0">
          <a:schemeClr val="dk1"/>
        </a:fillRef>
        <a:effectRef idx="2">
          <a:schemeClr val="dk1"/>
        </a:effectRef>
        <a:fontRef idx="minor">
          <a:schemeClr val="tx1"/>
        </a:fontRef>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IN" sz="500" kern="1200"/>
        </a:p>
      </dsp:txBody>
      <dsp:txXfrm>
        <a:off x="2536079" y="2524240"/>
        <a:ext cx="62873" cy="62873"/>
      </dsp:txXfrm>
    </dsp:sp>
    <dsp:sp modelId="{B7A9D937-D3F4-456A-A994-102B8E5464F0}">
      <dsp:nvSpPr>
        <dsp:cNvPr id="0" name=""/>
        <dsp:cNvSpPr/>
      </dsp:nvSpPr>
      <dsp:spPr>
        <a:xfrm>
          <a:off x="2995083" y="1560248"/>
          <a:ext cx="2137833" cy="1068916"/>
        </a:xfrm>
        <a:prstGeom prst="roundRect">
          <a:avLst>
            <a:gd name="adj" fmla="val 10000"/>
          </a:avLst>
        </a:prstGeom>
        <a:gradFill rotWithShape="1">
          <a:gsLst>
            <a:gs pos="0">
              <a:schemeClr val="accent6">
                <a:lumMod val="110000"/>
                <a:satMod val="105000"/>
                <a:tint val="67000"/>
              </a:schemeClr>
            </a:gs>
            <a:gs pos="50000">
              <a:schemeClr val="accent6">
                <a:lumMod val="105000"/>
                <a:satMod val="103000"/>
                <a:tint val="73000"/>
              </a:schemeClr>
            </a:gs>
            <a:gs pos="100000">
              <a:schemeClr val="accent6">
                <a:lumMod val="105000"/>
                <a:satMod val="109000"/>
                <a:tint val="81000"/>
              </a:schemeClr>
            </a:gs>
          </a:gsLst>
          <a:lin ang="5400000" scaled="0"/>
        </a:gradFill>
        <a:ln w="6350" cap="flat" cmpd="sng" algn="ctr">
          <a:solidFill>
            <a:schemeClr val="accent6"/>
          </a:solidFill>
          <a:prstDash val="solid"/>
          <a:miter lim="800000"/>
        </a:ln>
        <a:effectLst/>
      </dsp:spPr>
      <dsp:style>
        <a:lnRef idx="1">
          <a:schemeClr val="accent6"/>
        </a:lnRef>
        <a:fillRef idx="2">
          <a:schemeClr val="accent6"/>
        </a:fillRef>
        <a:effectRef idx="1">
          <a:schemeClr val="accent6"/>
        </a:effectRef>
        <a:fontRef idx="minor">
          <a:schemeClr val="dk1"/>
        </a:fontRef>
      </dsp:style>
      <dsp:txBody>
        <a:bodyPr spcFirstLastPara="0" vert="horz" wrap="square" lIns="20320" tIns="20320" rIns="20320" bIns="20320" numCol="1" spcCol="1270" anchor="ctr" anchorCtr="0">
          <a:noAutofit/>
        </a:bodyPr>
        <a:lstStyle/>
        <a:p>
          <a:pPr marL="0" lvl="0" indent="0" algn="ctr" defTabSz="1422400">
            <a:lnSpc>
              <a:spcPct val="90000"/>
            </a:lnSpc>
            <a:spcBef>
              <a:spcPct val="0"/>
            </a:spcBef>
            <a:spcAft>
              <a:spcPct val="35000"/>
            </a:spcAft>
            <a:buNone/>
          </a:pPr>
          <a:r>
            <a:rPr lang="en-IN" sz="3200" b="1" kern="1200" dirty="0"/>
            <a:t>SEO 2+</a:t>
          </a:r>
        </a:p>
      </dsp:txBody>
      <dsp:txXfrm>
        <a:off x="3026390" y="1591555"/>
        <a:ext cx="2075219" cy="1006302"/>
      </dsp:txXfrm>
    </dsp:sp>
    <dsp:sp modelId="{031B293B-6A09-4B6D-8105-AF01F3D406EB}">
      <dsp:nvSpPr>
        <dsp:cNvPr id="0" name=""/>
        <dsp:cNvSpPr/>
      </dsp:nvSpPr>
      <dsp:spPr>
        <a:xfrm rot="19457599">
          <a:off x="5033933" y="1769638"/>
          <a:ext cx="1053099" cy="35507"/>
        </a:xfrm>
        <a:custGeom>
          <a:avLst/>
          <a:gdLst/>
          <a:ahLst/>
          <a:cxnLst/>
          <a:rect l="0" t="0" r="0" b="0"/>
          <a:pathLst>
            <a:path>
              <a:moveTo>
                <a:pt x="0" y="17753"/>
              </a:moveTo>
              <a:lnTo>
                <a:pt x="1053099" y="17753"/>
              </a:lnTo>
            </a:path>
          </a:pathLst>
        </a:custGeom>
        <a:noFill/>
        <a:ln w="19050" cap="flat" cmpd="sng" algn="ctr">
          <a:solidFill>
            <a:schemeClr val="dk1"/>
          </a:solidFill>
          <a:prstDash val="solid"/>
          <a:miter lim="800000"/>
        </a:ln>
        <a:effectLst/>
      </dsp:spPr>
      <dsp:style>
        <a:lnRef idx="3">
          <a:schemeClr val="dk1"/>
        </a:lnRef>
        <a:fillRef idx="0">
          <a:schemeClr val="dk1"/>
        </a:fillRef>
        <a:effectRef idx="2">
          <a:schemeClr val="dk1"/>
        </a:effectRef>
        <a:fontRef idx="minor">
          <a:schemeClr val="tx1"/>
        </a:fontRef>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IN" sz="500" kern="1200"/>
        </a:p>
      </dsp:txBody>
      <dsp:txXfrm>
        <a:off x="5534155" y="1761065"/>
        <a:ext cx="52654" cy="52654"/>
      </dsp:txXfrm>
    </dsp:sp>
    <dsp:sp modelId="{DF6A63FE-B06E-48BF-8EDE-D9CF55DE7CC1}">
      <dsp:nvSpPr>
        <dsp:cNvPr id="0" name=""/>
        <dsp:cNvSpPr/>
      </dsp:nvSpPr>
      <dsp:spPr>
        <a:xfrm>
          <a:off x="5988050" y="945620"/>
          <a:ext cx="2137833" cy="1068916"/>
        </a:xfrm>
        <a:prstGeom prst="roundRect">
          <a:avLst>
            <a:gd name="adj" fmla="val 10000"/>
          </a:avLst>
        </a:prstGeom>
        <a:gradFill rotWithShape="1">
          <a:gsLst>
            <a:gs pos="0">
              <a:schemeClr val="accent2">
                <a:lumMod val="110000"/>
                <a:satMod val="105000"/>
                <a:tint val="67000"/>
              </a:schemeClr>
            </a:gs>
            <a:gs pos="50000">
              <a:schemeClr val="accent2">
                <a:lumMod val="105000"/>
                <a:satMod val="103000"/>
                <a:tint val="73000"/>
              </a:schemeClr>
            </a:gs>
            <a:gs pos="100000">
              <a:schemeClr val="accent2">
                <a:lumMod val="105000"/>
                <a:satMod val="109000"/>
                <a:tint val="81000"/>
              </a:schemeClr>
            </a:gs>
          </a:gsLst>
          <a:lin ang="5400000" scaled="0"/>
        </a:gradFill>
        <a:ln w="6350" cap="flat" cmpd="sng" algn="ctr">
          <a:solidFill>
            <a:schemeClr val="accent2"/>
          </a:solidFill>
          <a:prstDash val="solid"/>
          <a:miter lim="800000"/>
        </a:ln>
        <a:effectLst/>
      </dsp:spPr>
      <dsp:style>
        <a:lnRef idx="1">
          <a:schemeClr val="accent2"/>
        </a:lnRef>
        <a:fillRef idx="2">
          <a:schemeClr val="accent2"/>
        </a:fillRef>
        <a:effectRef idx="1">
          <a:schemeClr val="accent2"/>
        </a:effectRef>
        <a:fontRef idx="minor">
          <a:schemeClr val="dk1"/>
        </a:fontRef>
      </dsp:style>
      <dsp:txBody>
        <a:bodyPr spcFirstLastPara="0" vert="horz" wrap="square" lIns="20320" tIns="20320" rIns="20320" bIns="20320" numCol="1" spcCol="1270" anchor="ctr" anchorCtr="0">
          <a:noAutofit/>
        </a:bodyPr>
        <a:lstStyle/>
        <a:p>
          <a:pPr marL="0" lvl="0" indent="0" algn="ctr" defTabSz="1422400">
            <a:lnSpc>
              <a:spcPct val="90000"/>
            </a:lnSpc>
            <a:spcBef>
              <a:spcPct val="0"/>
            </a:spcBef>
            <a:spcAft>
              <a:spcPct val="35000"/>
            </a:spcAft>
            <a:buNone/>
          </a:pPr>
          <a:r>
            <a:rPr lang="en-IN" sz="3200" b="1" kern="1200" dirty="0"/>
            <a:t>Social Media 2+</a:t>
          </a:r>
        </a:p>
      </dsp:txBody>
      <dsp:txXfrm>
        <a:off x="6019357" y="976927"/>
        <a:ext cx="2075219" cy="1006302"/>
      </dsp:txXfrm>
    </dsp:sp>
    <dsp:sp modelId="{0FC0A00E-56B5-4F50-B1DD-A0967E266DB2}">
      <dsp:nvSpPr>
        <dsp:cNvPr id="0" name=""/>
        <dsp:cNvSpPr/>
      </dsp:nvSpPr>
      <dsp:spPr>
        <a:xfrm rot="2142401">
          <a:off x="5033933" y="2384266"/>
          <a:ext cx="1053099" cy="35507"/>
        </a:xfrm>
        <a:custGeom>
          <a:avLst/>
          <a:gdLst/>
          <a:ahLst/>
          <a:cxnLst/>
          <a:rect l="0" t="0" r="0" b="0"/>
          <a:pathLst>
            <a:path>
              <a:moveTo>
                <a:pt x="0" y="17753"/>
              </a:moveTo>
              <a:lnTo>
                <a:pt x="1053099" y="17753"/>
              </a:lnTo>
            </a:path>
          </a:pathLst>
        </a:custGeom>
        <a:noFill/>
        <a:ln w="19050" cap="flat" cmpd="sng" algn="ctr">
          <a:solidFill>
            <a:schemeClr val="dk1"/>
          </a:solidFill>
          <a:prstDash val="solid"/>
          <a:miter lim="800000"/>
        </a:ln>
        <a:effectLst/>
      </dsp:spPr>
      <dsp:style>
        <a:lnRef idx="3">
          <a:schemeClr val="dk1"/>
        </a:lnRef>
        <a:fillRef idx="0">
          <a:schemeClr val="dk1"/>
        </a:fillRef>
        <a:effectRef idx="2">
          <a:schemeClr val="dk1"/>
        </a:effectRef>
        <a:fontRef idx="minor">
          <a:schemeClr val="tx1"/>
        </a:fontRef>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IN" sz="500" kern="1200"/>
        </a:p>
      </dsp:txBody>
      <dsp:txXfrm>
        <a:off x="5534155" y="2375692"/>
        <a:ext cx="52654" cy="52654"/>
      </dsp:txXfrm>
    </dsp:sp>
    <dsp:sp modelId="{4A84EBD3-31A4-47A0-8163-9E93B3C74914}">
      <dsp:nvSpPr>
        <dsp:cNvPr id="0" name=""/>
        <dsp:cNvSpPr/>
      </dsp:nvSpPr>
      <dsp:spPr>
        <a:xfrm>
          <a:off x="5988050" y="2174875"/>
          <a:ext cx="2137833" cy="1068916"/>
        </a:xfrm>
        <a:prstGeom prst="roundRect">
          <a:avLst>
            <a:gd name="adj" fmla="val 10000"/>
          </a:avLst>
        </a:prstGeom>
        <a:gradFill rotWithShape="1">
          <a:gsLst>
            <a:gs pos="0">
              <a:schemeClr val="accent2">
                <a:lumMod val="110000"/>
                <a:satMod val="105000"/>
                <a:tint val="67000"/>
              </a:schemeClr>
            </a:gs>
            <a:gs pos="50000">
              <a:schemeClr val="accent2">
                <a:lumMod val="105000"/>
                <a:satMod val="103000"/>
                <a:tint val="73000"/>
              </a:schemeClr>
            </a:gs>
            <a:gs pos="100000">
              <a:schemeClr val="accent2">
                <a:lumMod val="105000"/>
                <a:satMod val="109000"/>
                <a:tint val="81000"/>
              </a:schemeClr>
            </a:gs>
          </a:gsLst>
          <a:lin ang="5400000" scaled="0"/>
        </a:gradFill>
        <a:ln w="6350" cap="flat" cmpd="sng" algn="ctr">
          <a:solidFill>
            <a:schemeClr val="accent2"/>
          </a:solidFill>
          <a:prstDash val="solid"/>
          <a:miter lim="800000"/>
        </a:ln>
        <a:effectLst/>
      </dsp:spPr>
      <dsp:style>
        <a:lnRef idx="1">
          <a:schemeClr val="accent2"/>
        </a:lnRef>
        <a:fillRef idx="2">
          <a:schemeClr val="accent2"/>
        </a:fillRef>
        <a:effectRef idx="1">
          <a:schemeClr val="accent2"/>
        </a:effectRef>
        <a:fontRef idx="minor">
          <a:schemeClr val="dk1"/>
        </a:fontRef>
      </dsp:style>
      <dsp:txBody>
        <a:bodyPr spcFirstLastPara="0" vert="horz" wrap="square" lIns="20320" tIns="20320" rIns="20320" bIns="20320" numCol="1" spcCol="1270" anchor="ctr" anchorCtr="0">
          <a:noAutofit/>
        </a:bodyPr>
        <a:lstStyle/>
        <a:p>
          <a:pPr marL="0" lvl="0" indent="0" algn="ctr" defTabSz="1422400">
            <a:lnSpc>
              <a:spcPct val="90000"/>
            </a:lnSpc>
            <a:spcBef>
              <a:spcPct val="0"/>
            </a:spcBef>
            <a:spcAft>
              <a:spcPct val="35000"/>
            </a:spcAft>
            <a:buNone/>
          </a:pPr>
          <a:r>
            <a:rPr lang="en-IN" sz="3200" b="1" kern="1200" dirty="0"/>
            <a:t>PPC 2+</a:t>
          </a:r>
        </a:p>
      </dsp:txBody>
      <dsp:txXfrm>
        <a:off x="6019357" y="2206182"/>
        <a:ext cx="2075219" cy="1006302"/>
      </dsp:txXfrm>
    </dsp:sp>
    <dsp:sp modelId="{EBB65680-DCAA-4D3B-980B-F5BC7B4F5918}">
      <dsp:nvSpPr>
        <dsp:cNvPr id="0" name=""/>
        <dsp:cNvSpPr/>
      </dsp:nvSpPr>
      <dsp:spPr>
        <a:xfrm rot="2829178">
          <a:off x="1938782" y="3459863"/>
          <a:ext cx="1257468" cy="35507"/>
        </a:xfrm>
        <a:custGeom>
          <a:avLst/>
          <a:gdLst/>
          <a:ahLst/>
          <a:cxnLst/>
          <a:rect l="0" t="0" r="0" b="0"/>
          <a:pathLst>
            <a:path>
              <a:moveTo>
                <a:pt x="0" y="17753"/>
              </a:moveTo>
              <a:lnTo>
                <a:pt x="1257468" y="17753"/>
              </a:lnTo>
            </a:path>
          </a:pathLst>
        </a:custGeom>
        <a:noFill/>
        <a:ln w="19050" cap="flat" cmpd="sng" algn="ctr">
          <a:solidFill>
            <a:schemeClr val="dk1"/>
          </a:solidFill>
          <a:prstDash val="solid"/>
          <a:miter lim="800000"/>
        </a:ln>
        <a:effectLst/>
      </dsp:spPr>
      <dsp:style>
        <a:lnRef idx="3">
          <a:schemeClr val="dk1"/>
        </a:lnRef>
        <a:fillRef idx="0">
          <a:schemeClr val="dk1"/>
        </a:fillRef>
        <a:effectRef idx="2">
          <a:schemeClr val="dk1"/>
        </a:effectRef>
        <a:fontRef idx="minor">
          <a:schemeClr val="tx1"/>
        </a:fontRef>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IN" sz="500" kern="1200"/>
        </a:p>
      </dsp:txBody>
      <dsp:txXfrm>
        <a:off x="2536079" y="3446180"/>
        <a:ext cx="62873" cy="62873"/>
      </dsp:txXfrm>
    </dsp:sp>
    <dsp:sp modelId="{4577BA5D-119F-4929-87E9-204DCE9FE8D5}">
      <dsp:nvSpPr>
        <dsp:cNvPr id="0" name=""/>
        <dsp:cNvSpPr/>
      </dsp:nvSpPr>
      <dsp:spPr>
        <a:xfrm>
          <a:off x="2995083" y="3404129"/>
          <a:ext cx="2137833" cy="1068916"/>
        </a:xfrm>
        <a:prstGeom prst="roundRect">
          <a:avLst>
            <a:gd name="adj" fmla="val 10000"/>
          </a:avLst>
        </a:prstGeom>
        <a:gradFill rotWithShape="1">
          <a:gsLst>
            <a:gs pos="0">
              <a:schemeClr val="accent6">
                <a:lumMod val="110000"/>
                <a:satMod val="105000"/>
                <a:tint val="67000"/>
              </a:schemeClr>
            </a:gs>
            <a:gs pos="50000">
              <a:schemeClr val="accent6">
                <a:lumMod val="105000"/>
                <a:satMod val="103000"/>
                <a:tint val="73000"/>
              </a:schemeClr>
            </a:gs>
            <a:gs pos="100000">
              <a:schemeClr val="accent6">
                <a:lumMod val="105000"/>
                <a:satMod val="109000"/>
                <a:tint val="81000"/>
              </a:schemeClr>
            </a:gs>
          </a:gsLst>
          <a:lin ang="5400000" scaled="0"/>
        </a:gradFill>
        <a:ln w="6350" cap="flat" cmpd="sng" algn="ctr">
          <a:solidFill>
            <a:schemeClr val="accent6"/>
          </a:solidFill>
          <a:prstDash val="solid"/>
          <a:miter lim="800000"/>
        </a:ln>
        <a:effectLst/>
      </dsp:spPr>
      <dsp:style>
        <a:lnRef idx="1">
          <a:schemeClr val="accent6"/>
        </a:lnRef>
        <a:fillRef idx="2">
          <a:schemeClr val="accent6"/>
        </a:fillRef>
        <a:effectRef idx="1">
          <a:schemeClr val="accent6"/>
        </a:effectRef>
        <a:fontRef idx="minor">
          <a:schemeClr val="dk1"/>
        </a:fontRef>
      </dsp:style>
      <dsp:txBody>
        <a:bodyPr spcFirstLastPara="0" vert="horz" wrap="square" lIns="20320" tIns="20320" rIns="20320" bIns="20320" numCol="1" spcCol="1270" anchor="ctr" anchorCtr="0">
          <a:noAutofit/>
        </a:bodyPr>
        <a:lstStyle/>
        <a:p>
          <a:pPr marL="0" lvl="0" indent="0" algn="ctr" defTabSz="1422400">
            <a:lnSpc>
              <a:spcPct val="90000"/>
            </a:lnSpc>
            <a:spcBef>
              <a:spcPct val="0"/>
            </a:spcBef>
            <a:spcAft>
              <a:spcPct val="35000"/>
            </a:spcAft>
            <a:buNone/>
          </a:pPr>
          <a:r>
            <a:rPr lang="en-IN" sz="3200" b="1" kern="1200" dirty="0"/>
            <a:t>Content 2+</a:t>
          </a:r>
        </a:p>
      </dsp:txBody>
      <dsp:txXfrm>
        <a:off x="3026390" y="3435436"/>
        <a:ext cx="2075219" cy="1006302"/>
      </dsp:txXfrm>
    </dsp:sp>
    <dsp:sp modelId="{076C3268-3D62-456D-A529-FBFA8148D9BF}">
      <dsp:nvSpPr>
        <dsp:cNvPr id="0" name=""/>
        <dsp:cNvSpPr/>
      </dsp:nvSpPr>
      <dsp:spPr>
        <a:xfrm>
          <a:off x="5132916" y="3920833"/>
          <a:ext cx="855133" cy="35507"/>
        </a:xfrm>
        <a:custGeom>
          <a:avLst/>
          <a:gdLst/>
          <a:ahLst/>
          <a:cxnLst/>
          <a:rect l="0" t="0" r="0" b="0"/>
          <a:pathLst>
            <a:path>
              <a:moveTo>
                <a:pt x="0" y="17753"/>
              </a:moveTo>
              <a:lnTo>
                <a:pt x="855133" y="17753"/>
              </a:lnTo>
            </a:path>
          </a:pathLst>
        </a:custGeom>
        <a:noFill/>
        <a:ln w="19050" cap="flat" cmpd="sng" algn="ctr">
          <a:solidFill>
            <a:schemeClr val="dk1"/>
          </a:solidFill>
          <a:prstDash val="solid"/>
          <a:miter lim="800000"/>
        </a:ln>
        <a:effectLst/>
      </dsp:spPr>
      <dsp:style>
        <a:lnRef idx="3">
          <a:schemeClr val="dk1"/>
        </a:lnRef>
        <a:fillRef idx="0">
          <a:schemeClr val="dk1"/>
        </a:fillRef>
        <a:effectRef idx="2">
          <a:schemeClr val="dk1"/>
        </a:effectRef>
        <a:fontRef idx="minor">
          <a:schemeClr val="tx1"/>
        </a:fontRef>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IN" sz="500" kern="1200"/>
        </a:p>
      </dsp:txBody>
      <dsp:txXfrm>
        <a:off x="5539105" y="3917209"/>
        <a:ext cx="42756" cy="42756"/>
      </dsp:txXfrm>
    </dsp:sp>
    <dsp:sp modelId="{F87388DF-84A2-49E7-8608-8CB6553E33B6}">
      <dsp:nvSpPr>
        <dsp:cNvPr id="0" name=""/>
        <dsp:cNvSpPr/>
      </dsp:nvSpPr>
      <dsp:spPr>
        <a:xfrm>
          <a:off x="5988050" y="3404129"/>
          <a:ext cx="2137833" cy="1068916"/>
        </a:xfrm>
        <a:prstGeom prst="roundRect">
          <a:avLst>
            <a:gd name="adj" fmla="val 10000"/>
          </a:avLst>
        </a:prstGeom>
        <a:gradFill rotWithShape="1">
          <a:gsLst>
            <a:gs pos="0">
              <a:schemeClr val="accent5">
                <a:lumMod val="110000"/>
                <a:satMod val="105000"/>
                <a:tint val="67000"/>
              </a:schemeClr>
            </a:gs>
            <a:gs pos="50000">
              <a:schemeClr val="accent5">
                <a:lumMod val="105000"/>
                <a:satMod val="103000"/>
                <a:tint val="73000"/>
              </a:schemeClr>
            </a:gs>
            <a:gs pos="100000">
              <a:schemeClr val="accent5">
                <a:lumMod val="105000"/>
                <a:satMod val="109000"/>
                <a:tint val="81000"/>
              </a:schemeClr>
            </a:gs>
          </a:gsLst>
          <a:lin ang="5400000" scaled="0"/>
        </a:gradFill>
        <a:ln w="6350" cap="flat" cmpd="sng" algn="ctr">
          <a:solidFill>
            <a:schemeClr val="accent5"/>
          </a:solidFill>
          <a:prstDash val="solid"/>
          <a:miter lim="800000"/>
        </a:ln>
        <a:effectLst/>
      </dsp:spPr>
      <dsp:style>
        <a:lnRef idx="1">
          <a:schemeClr val="accent5"/>
        </a:lnRef>
        <a:fillRef idx="2">
          <a:schemeClr val="accent5"/>
        </a:fillRef>
        <a:effectRef idx="1">
          <a:schemeClr val="accent5"/>
        </a:effectRef>
        <a:fontRef idx="minor">
          <a:schemeClr val="dk1"/>
        </a:fontRef>
      </dsp:style>
      <dsp:txBody>
        <a:bodyPr spcFirstLastPara="0" vert="horz" wrap="square" lIns="20320" tIns="20320" rIns="20320" bIns="20320" numCol="1" spcCol="1270" anchor="ctr" anchorCtr="0">
          <a:noAutofit/>
        </a:bodyPr>
        <a:lstStyle/>
        <a:p>
          <a:pPr marL="0" lvl="0" indent="0" algn="ctr" defTabSz="1422400">
            <a:lnSpc>
              <a:spcPct val="90000"/>
            </a:lnSpc>
            <a:spcBef>
              <a:spcPct val="0"/>
            </a:spcBef>
            <a:spcAft>
              <a:spcPct val="35000"/>
            </a:spcAft>
            <a:buNone/>
          </a:pPr>
          <a:r>
            <a:rPr lang="en-IN" sz="3200" b="1" kern="1200" dirty="0"/>
            <a:t>Creative 2+</a:t>
          </a:r>
        </a:p>
      </dsp:txBody>
      <dsp:txXfrm>
        <a:off x="6019357" y="3435436"/>
        <a:ext cx="2075219" cy="100630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2DCE073-0BB0-4D3B-9845-CC5A8BC68FC2}">
      <dsp:nvSpPr>
        <dsp:cNvPr id="0" name=""/>
        <dsp:cNvSpPr/>
      </dsp:nvSpPr>
      <dsp:spPr>
        <a:xfrm>
          <a:off x="2564418" y="1278816"/>
          <a:ext cx="269120" cy="1179004"/>
        </a:xfrm>
        <a:custGeom>
          <a:avLst/>
          <a:gdLst/>
          <a:ahLst/>
          <a:cxnLst/>
          <a:rect l="0" t="0" r="0" b="0"/>
          <a:pathLst>
            <a:path>
              <a:moveTo>
                <a:pt x="269120" y="0"/>
              </a:moveTo>
              <a:lnTo>
                <a:pt x="269120" y="1179004"/>
              </a:lnTo>
              <a:lnTo>
                <a:pt x="0" y="1179004"/>
              </a:lnTo>
            </a:path>
          </a:pathLst>
        </a:custGeom>
        <a:noFill/>
        <a:ln w="12700" cap="flat" cmpd="sng" algn="ctr">
          <a:solidFill>
            <a:schemeClr val="accent4">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17A3CED-2EFE-4B73-A1FD-52EFFE52A787}">
      <dsp:nvSpPr>
        <dsp:cNvPr id="0" name=""/>
        <dsp:cNvSpPr/>
      </dsp:nvSpPr>
      <dsp:spPr>
        <a:xfrm>
          <a:off x="2833539" y="1278816"/>
          <a:ext cx="1550646" cy="2358008"/>
        </a:xfrm>
        <a:custGeom>
          <a:avLst/>
          <a:gdLst/>
          <a:ahLst/>
          <a:cxnLst/>
          <a:rect l="0" t="0" r="0" b="0"/>
          <a:pathLst>
            <a:path>
              <a:moveTo>
                <a:pt x="0" y="0"/>
              </a:moveTo>
              <a:lnTo>
                <a:pt x="0" y="2088887"/>
              </a:lnTo>
              <a:lnTo>
                <a:pt x="1550646" y="2088887"/>
              </a:lnTo>
              <a:lnTo>
                <a:pt x="1550646" y="2358008"/>
              </a:lnTo>
            </a:path>
          </a:pathLst>
        </a:custGeom>
        <a:noFill/>
        <a:ln w="12700" cap="flat" cmpd="sng" algn="ctr">
          <a:solidFill>
            <a:schemeClr val="accent4">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7CF03E2-F019-458A-AF80-9C15BD4DE6AF}">
      <dsp:nvSpPr>
        <dsp:cNvPr id="0" name=""/>
        <dsp:cNvSpPr/>
      </dsp:nvSpPr>
      <dsp:spPr>
        <a:xfrm>
          <a:off x="1282892" y="1278816"/>
          <a:ext cx="1550646" cy="2358008"/>
        </a:xfrm>
        <a:custGeom>
          <a:avLst/>
          <a:gdLst/>
          <a:ahLst/>
          <a:cxnLst/>
          <a:rect l="0" t="0" r="0" b="0"/>
          <a:pathLst>
            <a:path>
              <a:moveTo>
                <a:pt x="1550646" y="0"/>
              </a:moveTo>
              <a:lnTo>
                <a:pt x="1550646" y="2088887"/>
              </a:lnTo>
              <a:lnTo>
                <a:pt x="0" y="2088887"/>
              </a:lnTo>
              <a:lnTo>
                <a:pt x="0" y="2358008"/>
              </a:lnTo>
            </a:path>
          </a:pathLst>
        </a:custGeom>
        <a:noFill/>
        <a:ln w="12700" cap="flat" cmpd="sng" algn="ctr">
          <a:solidFill>
            <a:schemeClr val="accent4">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8EFBF0A-29DA-45A2-8F15-C6B4AE5EA25D}">
      <dsp:nvSpPr>
        <dsp:cNvPr id="0" name=""/>
        <dsp:cNvSpPr/>
      </dsp:nvSpPr>
      <dsp:spPr>
        <a:xfrm>
          <a:off x="1599942" y="500315"/>
          <a:ext cx="2467194" cy="778501"/>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IN" sz="2400" kern="1200" dirty="0"/>
            <a:t>Clear Roles &amp; Responsibility</a:t>
          </a:r>
        </a:p>
      </dsp:txBody>
      <dsp:txXfrm>
        <a:off x="1599942" y="500315"/>
        <a:ext cx="2467194" cy="778501"/>
      </dsp:txXfrm>
    </dsp:sp>
    <dsp:sp modelId="{5BADA78C-FA8E-49E3-8D03-DBE8FC0199CC}">
      <dsp:nvSpPr>
        <dsp:cNvPr id="0" name=""/>
        <dsp:cNvSpPr/>
      </dsp:nvSpPr>
      <dsp:spPr>
        <a:xfrm>
          <a:off x="1366" y="3636825"/>
          <a:ext cx="2563052" cy="1281526"/>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IN" sz="2400" kern="1200" dirty="0"/>
            <a:t>Regular Reporting &amp; Reviews (weekly &amp; monthly)</a:t>
          </a:r>
        </a:p>
      </dsp:txBody>
      <dsp:txXfrm>
        <a:off x="1366" y="3636825"/>
        <a:ext cx="2563052" cy="1281526"/>
      </dsp:txXfrm>
    </dsp:sp>
    <dsp:sp modelId="{CF8321AF-5662-4582-B4D9-4C0547514D59}">
      <dsp:nvSpPr>
        <dsp:cNvPr id="0" name=""/>
        <dsp:cNvSpPr/>
      </dsp:nvSpPr>
      <dsp:spPr>
        <a:xfrm>
          <a:off x="3102660" y="3636825"/>
          <a:ext cx="2563052" cy="1281526"/>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IN" sz="2400" kern="1200" dirty="0"/>
            <a:t>Transparency in Execution</a:t>
          </a:r>
        </a:p>
      </dsp:txBody>
      <dsp:txXfrm>
        <a:off x="3102660" y="3636825"/>
        <a:ext cx="2563052" cy="1281526"/>
      </dsp:txXfrm>
    </dsp:sp>
    <dsp:sp modelId="{105E24B3-3CC0-4A90-BE4F-5784F0F0DD1F}">
      <dsp:nvSpPr>
        <dsp:cNvPr id="0" name=""/>
        <dsp:cNvSpPr/>
      </dsp:nvSpPr>
      <dsp:spPr>
        <a:xfrm>
          <a:off x="1366" y="1817057"/>
          <a:ext cx="2563052" cy="1281526"/>
        </a:xfrm>
        <a:prstGeom prst="rect">
          <a:avLst/>
        </a:prstGeom>
        <a:gradFill rotWithShape="1">
          <a:gsLst>
            <a:gs pos="0">
              <a:schemeClr val="accent5">
                <a:lumMod val="110000"/>
                <a:satMod val="105000"/>
                <a:tint val="67000"/>
              </a:schemeClr>
            </a:gs>
            <a:gs pos="50000">
              <a:schemeClr val="accent5">
                <a:lumMod val="105000"/>
                <a:satMod val="103000"/>
                <a:tint val="73000"/>
              </a:schemeClr>
            </a:gs>
            <a:gs pos="100000">
              <a:schemeClr val="accent5">
                <a:lumMod val="105000"/>
                <a:satMod val="109000"/>
                <a:tint val="81000"/>
              </a:schemeClr>
            </a:gs>
          </a:gsLst>
          <a:lin ang="5400000" scaled="0"/>
        </a:gradFill>
        <a:ln w="6350" cap="flat" cmpd="sng" algn="ctr">
          <a:solidFill>
            <a:schemeClr val="accent5"/>
          </a:solidFill>
          <a:prstDash val="solid"/>
          <a:miter lim="800000"/>
        </a:ln>
        <a:effectLst/>
      </dsp:spPr>
      <dsp:style>
        <a:lnRef idx="1">
          <a:schemeClr val="accent5"/>
        </a:lnRef>
        <a:fillRef idx="2">
          <a:schemeClr val="accent5"/>
        </a:fillRef>
        <a:effectRef idx="1">
          <a:schemeClr val="accent5"/>
        </a:effectRef>
        <a:fontRef idx="minor">
          <a:schemeClr val="dk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IN" sz="2400" kern="1200" dirty="0"/>
            <a:t>Define Goals &amp; KPIs</a:t>
          </a:r>
        </a:p>
      </dsp:txBody>
      <dsp:txXfrm>
        <a:off x="1366" y="1817057"/>
        <a:ext cx="2563052" cy="128152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2DCE073-0BB0-4D3B-9845-CC5A8BC68FC2}">
      <dsp:nvSpPr>
        <dsp:cNvPr id="0" name=""/>
        <dsp:cNvSpPr/>
      </dsp:nvSpPr>
      <dsp:spPr>
        <a:xfrm>
          <a:off x="2505173" y="1557567"/>
          <a:ext cx="262903" cy="1151765"/>
        </a:xfrm>
        <a:custGeom>
          <a:avLst/>
          <a:gdLst/>
          <a:ahLst/>
          <a:cxnLst/>
          <a:rect l="0" t="0" r="0" b="0"/>
          <a:pathLst>
            <a:path>
              <a:moveTo>
                <a:pt x="262903" y="0"/>
              </a:moveTo>
              <a:lnTo>
                <a:pt x="262903" y="1151765"/>
              </a:lnTo>
              <a:lnTo>
                <a:pt x="0" y="1151765"/>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17A3CED-2EFE-4B73-A1FD-52EFFE52A787}">
      <dsp:nvSpPr>
        <dsp:cNvPr id="0" name=""/>
        <dsp:cNvSpPr/>
      </dsp:nvSpPr>
      <dsp:spPr>
        <a:xfrm>
          <a:off x="2768076" y="1557567"/>
          <a:ext cx="1514822" cy="2303531"/>
        </a:xfrm>
        <a:custGeom>
          <a:avLst/>
          <a:gdLst/>
          <a:ahLst/>
          <a:cxnLst/>
          <a:rect l="0" t="0" r="0" b="0"/>
          <a:pathLst>
            <a:path>
              <a:moveTo>
                <a:pt x="0" y="0"/>
              </a:moveTo>
              <a:lnTo>
                <a:pt x="0" y="2040628"/>
              </a:lnTo>
              <a:lnTo>
                <a:pt x="1514822" y="2040628"/>
              </a:lnTo>
              <a:lnTo>
                <a:pt x="1514822" y="2303531"/>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7CF03E2-F019-458A-AF80-9C15BD4DE6AF}">
      <dsp:nvSpPr>
        <dsp:cNvPr id="0" name=""/>
        <dsp:cNvSpPr/>
      </dsp:nvSpPr>
      <dsp:spPr>
        <a:xfrm>
          <a:off x="1253254" y="1557567"/>
          <a:ext cx="1514822" cy="2303531"/>
        </a:xfrm>
        <a:custGeom>
          <a:avLst/>
          <a:gdLst/>
          <a:ahLst/>
          <a:cxnLst/>
          <a:rect l="0" t="0" r="0" b="0"/>
          <a:pathLst>
            <a:path>
              <a:moveTo>
                <a:pt x="1514822" y="0"/>
              </a:moveTo>
              <a:lnTo>
                <a:pt x="1514822" y="2040628"/>
              </a:lnTo>
              <a:lnTo>
                <a:pt x="0" y="2040628"/>
              </a:lnTo>
              <a:lnTo>
                <a:pt x="0" y="2303531"/>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8EFBF0A-29DA-45A2-8F15-C6B4AE5EA25D}">
      <dsp:nvSpPr>
        <dsp:cNvPr id="0" name=""/>
        <dsp:cNvSpPr/>
      </dsp:nvSpPr>
      <dsp:spPr>
        <a:xfrm>
          <a:off x="1516157" y="305648"/>
          <a:ext cx="2503838" cy="1251919"/>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IN" sz="2400" kern="1200" dirty="0"/>
            <a:t>Deadline Adherence</a:t>
          </a:r>
        </a:p>
      </dsp:txBody>
      <dsp:txXfrm>
        <a:off x="1516157" y="305648"/>
        <a:ext cx="2503838" cy="1251919"/>
      </dsp:txXfrm>
    </dsp:sp>
    <dsp:sp modelId="{5BADA78C-FA8E-49E3-8D03-DBE8FC0199CC}">
      <dsp:nvSpPr>
        <dsp:cNvPr id="0" name=""/>
        <dsp:cNvSpPr/>
      </dsp:nvSpPr>
      <dsp:spPr>
        <a:xfrm>
          <a:off x="1334" y="3861099"/>
          <a:ext cx="2503838" cy="1251919"/>
        </a:xfrm>
        <a:prstGeom prst="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IN" sz="2400" kern="1200" dirty="0"/>
            <a:t>Client Feedback &amp; Adoption</a:t>
          </a:r>
        </a:p>
      </dsp:txBody>
      <dsp:txXfrm>
        <a:off x="1334" y="3861099"/>
        <a:ext cx="2503838" cy="1251919"/>
      </dsp:txXfrm>
    </dsp:sp>
    <dsp:sp modelId="{CF8321AF-5662-4582-B4D9-4C0547514D59}">
      <dsp:nvSpPr>
        <dsp:cNvPr id="0" name=""/>
        <dsp:cNvSpPr/>
      </dsp:nvSpPr>
      <dsp:spPr>
        <a:xfrm>
          <a:off x="3030979" y="3861099"/>
          <a:ext cx="2503838" cy="1251919"/>
        </a:xfrm>
        <a:prstGeom prst="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endParaRPr lang="en-IN" sz="2400" kern="1200" dirty="0"/>
        </a:p>
      </dsp:txBody>
      <dsp:txXfrm>
        <a:off x="3030979" y="3861099"/>
        <a:ext cx="2503838" cy="1251919"/>
      </dsp:txXfrm>
    </dsp:sp>
    <dsp:sp modelId="{105E24B3-3CC0-4A90-BE4F-5784F0F0DD1F}">
      <dsp:nvSpPr>
        <dsp:cNvPr id="0" name=""/>
        <dsp:cNvSpPr/>
      </dsp:nvSpPr>
      <dsp:spPr>
        <a:xfrm>
          <a:off x="1334" y="2083373"/>
          <a:ext cx="2503838" cy="1251919"/>
        </a:xfrm>
        <a:prstGeom prst="rect">
          <a:avLst/>
        </a:prstGeom>
        <a:solidFill>
          <a:schemeClr val="accent6">
            <a:hueOff val="0"/>
            <a:satOff val="0"/>
            <a:lumOff val="0"/>
            <a:alphaOff val="0"/>
          </a:schemeClr>
        </a:solidFill>
        <a:ln w="12700" cap="flat" cmpd="sng" algn="ctr">
          <a:solidFill>
            <a:schemeClr val="l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IN" sz="2400" kern="1200" dirty="0"/>
            <a:t>Budget &amp; Resource management</a:t>
          </a:r>
        </a:p>
      </dsp:txBody>
      <dsp:txXfrm>
        <a:off x="1334" y="2083373"/>
        <a:ext cx="2503838" cy="1251919"/>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0E0C5C-38DC-4D9E-B25A-741ED5CB0F7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D4B6CD1B-2586-4279-85AC-AB309EEB715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0FA59507-FB24-4F36-BF36-690D55648261}"/>
              </a:ext>
            </a:extLst>
          </p:cNvPr>
          <p:cNvSpPr>
            <a:spLocks noGrp="1"/>
          </p:cNvSpPr>
          <p:nvPr>
            <p:ph type="dt" sz="half" idx="10"/>
          </p:nvPr>
        </p:nvSpPr>
        <p:spPr/>
        <p:txBody>
          <a:bodyPr/>
          <a:lstStyle/>
          <a:p>
            <a:fld id="{C4C43935-7CC1-4578-B785-E108833322BE}" type="datetimeFigureOut">
              <a:rPr lang="en-IN" smtClean="0"/>
              <a:t>24-09-2026</a:t>
            </a:fld>
            <a:endParaRPr lang="en-IN"/>
          </a:p>
        </p:txBody>
      </p:sp>
      <p:sp>
        <p:nvSpPr>
          <p:cNvPr id="5" name="Footer Placeholder 4">
            <a:extLst>
              <a:ext uri="{FF2B5EF4-FFF2-40B4-BE49-F238E27FC236}">
                <a16:creationId xmlns:a16="http://schemas.microsoft.com/office/drawing/2014/main" id="{866E607F-5C81-4885-8C78-AE795A88DF3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AD24D81-2982-489A-9BFC-4F43725D3FC9}"/>
              </a:ext>
            </a:extLst>
          </p:cNvPr>
          <p:cNvSpPr>
            <a:spLocks noGrp="1"/>
          </p:cNvSpPr>
          <p:nvPr>
            <p:ph type="sldNum" sz="quarter" idx="12"/>
          </p:nvPr>
        </p:nvSpPr>
        <p:spPr/>
        <p:txBody>
          <a:bodyPr/>
          <a:lstStyle/>
          <a:p>
            <a:fld id="{5469F987-26D7-4310-A4E9-7BB24372F20B}" type="slidenum">
              <a:rPr lang="en-IN" smtClean="0"/>
              <a:t>‹#›</a:t>
            </a:fld>
            <a:endParaRPr lang="en-IN"/>
          </a:p>
        </p:txBody>
      </p:sp>
    </p:spTree>
    <p:extLst>
      <p:ext uri="{BB962C8B-B14F-4D97-AF65-F5344CB8AC3E}">
        <p14:creationId xmlns:p14="http://schemas.microsoft.com/office/powerpoint/2010/main" val="26277960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2435D6-C48C-4104-B653-D66ECDABCD3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84D6204-FE4C-4D75-9132-733F74B54405}"/>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D86335E-92F2-4652-932C-E587DDA21C0F}"/>
              </a:ext>
            </a:extLst>
          </p:cNvPr>
          <p:cNvSpPr>
            <a:spLocks noGrp="1"/>
          </p:cNvSpPr>
          <p:nvPr>
            <p:ph type="dt" sz="half" idx="10"/>
          </p:nvPr>
        </p:nvSpPr>
        <p:spPr/>
        <p:txBody>
          <a:bodyPr/>
          <a:lstStyle/>
          <a:p>
            <a:fld id="{C4C43935-7CC1-4578-B785-E108833322BE}" type="datetimeFigureOut">
              <a:rPr lang="en-IN" smtClean="0"/>
              <a:t>24-09-2026</a:t>
            </a:fld>
            <a:endParaRPr lang="en-IN"/>
          </a:p>
        </p:txBody>
      </p:sp>
      <p:sp>
        <p:nvSpPr>
          <p:cNvPr id="5" name="Footer Placeholder 4">
            <a:extLst>
              <a:ext uri="{FF2B5EF4-FFF2-40B4-BE49-F238E27FC236}">
                <a16:creationId xmlns:a16="http://schemas.microsoft.com/office/drawing/2014/main" id="{28A381E7-A5DF-44B3-ADA2-7D9C0EE6EEE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7BA0415-6477-415E-B655-5F62889E5525}"/>
              </a:ext>
            </a:extLst>
          </p:cNvPr>
          <p:cNvSpPr>
            <a:spLocks noGrp="1"/>
          </p:cNvSpPr>
          <p:nvPr>
            <p:ph type="sldNum" sz="quarter" idx="12"/>
          </p:nvPr>
        </p:nvSpPr>
        <p:spPr/>
        <p:txBody>
          <a:bodyPr/>
          <a:lstStyle/>
          <a:p>
            <a:fld id="{5469F987-26D7-4310-A4E9-7BB24372F20B}" type="slidenum">
              <a:rPr lang="en-IN" smtClean="0"/>
              <a:t>‹#›</a:t>
            </a:fld>
            <a:endParaRPr lang="en-IN"/>
          </a:p>
        </p:txBody>
      </p:sp>
    </p:spTree>
    <p:extLst>
      <p:ext uri="{BB962C8B-B14F-4D97-AF65-F5344CB8AC3E}">
        <p14:creationId xmlns:p14="http://schemas.microsoft.com/office/powerpoint/2010/main" val="26399516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C1A634-46E2-4CBF-A456-F49A823720BE}"/>
              </a:ext>
            </a:extLst>
          </p:cNvPr>
          <p:cNvSpPr>
            <a:spLocks noGrp="1"/>
          </p:cNvSpPr>
          <p:nvPr>
            <p:ph type="title"/>
          </p:nvPr>
        </p:nvSpPr>
        <p:spPr>
          <a:xfrm>
            <a:off x="831851" y="1709740"/>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39E5729A-464C-4D54-BFA7-268E05BA929C}"/>
              </a:ext>
            </a:extLst>
          </p:cNvPr>
          <p:cNvSpPr>
            <a:spLocks noGrp="1"/>
          </p:cNvSpPr>
          <p:nvPr>
            <p:ph type="body" idx="1"/>
          </p:nvPr>
        </p:nvSpPr>
        <p:spPr>
          <a:xfrm>
            <a:off x="831851" y="4589465"/>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A99536FE-6822-40E4-A548-1EF115557BFB}"/>
              </a:ext>
            </a:extLst>
          </p:cNvPr>
          <p:cNvSpPr>
            <a:spLocks noGrp="1"/>
          </p:cNvSpPr>
          <p:nvPr>
            <p:ph type="dt" sz="half" idx="10"/>
          </p:nvPr>
        </p:nvSpPr>
        <p:spPr/>
        <p:txBody>
          <a:bodyPr/>
          <a:lstStyle/>
          <a:p>
            <a:fld id="{C4C43935-7CC1-4578-B785-E108833322BE}" type="datetimeFigureOut">
              <a:rPr lang="en-IN" smtClean="0"/>
              <a:t>24-09-2026</a:t>
            </a:fld>
            <a:endParaRPr lang="en-IN"/>
          </a:p>
        </p:txBody>
      </p:sp>
      <p:sp>
        <p:nvSpPr>
          <p:cNvPr id="5" name="Footer Placeholder 4">
            <a:extLst>
              <a:ext uri="{FF2B5EF4-FFF2-40B4-BE49-F238E27FC236}">
                <a16:creationId xmlns:a16="http://schemas.microsoft.com/office/drawing/2014/main" id="{46EC91AE-B02E-40AD-AAFA-0ACB8A4A9CF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9D590A1-00D2-4F93-8B2C-66AAD743B76C}"/>
              </a:ext>
            </a:extLst>
          </p:cNvPr>
          <p:cNvSpPr>
            <a:spLocks noGrp="1"/>
          </p:cNvSpPr>
          <p:nvPr>
            <p:ph type="sldNum" sz="quarter" idx="12"/>
          </p:nvPr>
        </p:nvSpPr>
        <p:spPr/>
        <p:txBody>
          <a:bodyPr/>
          <a:lstStyle/>
          <a:p>
            <a:fld id="{5469F987-26D7-4310-A4E9-7BB24372F20B}" type="slidenum">
              <a:rPr lang="en-IN" smtClean="0"/>
              <a:t>‹#›</a:t>
            </a:fld>
            <a:endParaRPr lang="en-IN"/>
          </a:p>
        </p:txBody>
      </p:sp>
    </p:spTree>
    <p:extLst>
      <p:ext uri="{BB962C8B-B14F-4D97-AF65-F5344CB8AC3E}">
        <p14:creationId xmlns:p14="http://schemas.microsoft.com/office/powerpoint/2010/main" val="29665778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58C91D-33C4-419F-B374-01F6B09B4B1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28B12BF-637A-4160-884D-F1C1EF0FE442}"/>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8A5FA963-4500-4833-A3A3-4DA25C2A1512}"/>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6C72E1D2-2E99-48BE-B59F-AD73A85C0580}"/>
              </a:ext>
            </a:extLst>
          </p:cNvPr>
          <p:cNvSpPr>
            <a:spLocks noGrp="1"/>
          </p:cNvSpPr>
          <p:nvPr>
            <p:ph type="dt" sz="half" idx="10"/>
          </p:nvPr>
        </p:nvSpPr>
        <p:spPr/>
        <p:txBody>
          <a:bodyPr/>
          <a:lstStyle/>
          <a:p>
            <a:fld id="{C4C43935-7CC1-4578-B785-E108833322BE}" type="datetimeFigureOut">
              <a:rPr lang="en-IN" smtClean="0"/>
              <a:t>24-09-2026</a:t>
            </a:fld>
            <a:endParaRPr lang="en-IN"/>
          </a:p>
        </p:txBody>
      </p:sp>
      <p:sp>
        <p:nvSpPr>
          <p:cNvPr id="6" name="Footer Placeholder 5">
            <a:extLst>
              <a:ext uri="{FF2B5EF4-FFF2-40B4-BE49-F238E27FC236}">
                <a16:creationId xmlns:a16="http://schemas.microsoft.com/office/drawing/2014/main" id="{B443CCED-1345-4C9F-B9A5-2455AF38F13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7BEC73C-3E61-431D-A2D3-B2EFC53D33DE}"/>
              </a:ext>
            </a:extLst>
          </p:cNvPr>
          <p:cNvSpPr>
            <a:spLocks noGrp="1"/>
          </p:cNvSpPr>
          <p:nvPr>
            <p:ph type="sldNum" sz="quarter" idx="12"/>
          </p:nvPr>
        </p:nvSpPr>
        <p:spPr/>
        <p:txBody>
          <a:bodyPr/>
          <a:lstStyle/>
          <a:p>
            <a:fld id="{5469F987-26D7-4310-A4E9-7BB24372F20B}" type="slidenum">
              <a:rPr lang="en-IN" smtClean="0"/>
              <a:t>‹#›</a:t>
            </a:fld>
            <a:endParaRPr lang="en-IN"/>
          </a:p>
        </p:txBody>
      </p:sp>
    </p:spTree>
    <p:extLst>
      <p:ext uri="{BB962C8B-B14F-4D97-AF65-F5344CB8AC3E}">
        <p14:creationId xmlns:p14="http://schemas.microsoft.com/office/powerpoint/2010/main" val="27472172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55D484-6597-4737-91FD-B53476570E02}"/>
              </a:ext>
            </a:extLst>
          </p:cNvPr>
          <p:cNvSpPr>
            <a:spLocks noGrp="1"/>
          </p:cNvSpPr>
          <p:nvPr>
            <p:ph type="title"/>
          </p:nvPr>
        </p:nvSpPr>
        <p:spPr>
          <a:xfrm>
            <a:off x="839788" y="365127"/>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294C121-ED12-43E6-A7DE-3CC90858AD4C}"/>
              </a:ext>
            </a:extLst>
          </p:cNvPr>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C98BEC10-C5EB-455F-B365-A2E5B6D9C5BF}"/>
              </a:ext>
            </a:extLst>
          </p:cNvPr>
          <p:cNvSpPr>
            <a:spLocks noGrp="1"/>
          </p:cNvSpPr>
          <p:nvPr>
            <p:ph sz="half" idx="2"/>
          </p:nvPr>
        </p:nvSpPr>
        <p:spPr>
          <a:xfrm>
            <a:off x="839789"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5CC87020-3BB1-4DE8-A091-39BE86756002}"/>
              </a:ext>
            </a:extLst>
          </p:cNvPr>
          <p:cNvSpPr>
            <a:spLocks noGrp="1"/>
          </p:cNvSpPr>
          <p:nvPr>
            <p:ph type="body" sz="quarter" idx="3"/>
          </p:nvPr>
        </p:nvSpPr>
        <p:spPr>
          <a:xfrm>
            <a:off x="6172201"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20C16BEC-9192-447E-96A5-80A4D28558FD}"/>
              </a:ext>
            </a:extLst>
          </p:cNvPr>
          <p:cNvSpPr>
            <a:spLocks noGrp="1"/>
          </p:cNvSpPr>
          <p:nvPr>
            <p:ph sz="quarter" idx="4"/>
          </p:nvPr>
        </p:nvSpPr>
        <p:spPr>
          <a:xfrm>
            <a:off x="6172201"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8C792285-A4BA-4BFE-8DA6-E73954D6958B}"/>
              </a:ext>
            </a:extLst>
          </p:cNvPr>
          <p:cNvSpPr>
            <a:spLocks noGrp="1"/>
          </p:cNvSpPr>
          <p:nvPr>
            <p:ph type="dt" sz="half" idx="10"/>
          </p:nvPr>
        </p:nvSpPr>
        <p:spPr/>
        <p:txBody>
          <a:bodyPr/>
          <a:lstStyle/>
          <a:p>
            <a:fld id="{C4C43935-7CC1-4578-B785-E108833322BE}" type="datetimeFigureOut">
              <a:rPr lang="en-IN" smtClean="0"/>
              <a:t>24-09-2026</a:t>
            </a:fld>
            <a:endParaRPr lang="en-IN"/>
          </a:p>
        </p:txBody>
      </p:sp>
      <p:sp>
        <p:nvSpPr>
          <p:cNvPr id="8" name="Footer Placeholder 7">
            <a:extLst>
              <a:ext uri="{FF2B5EF4-FFF2-40B4-BE49-F238E27FC236}">
                <a16:creationId xmlns:a16="http://schemas.microsoft.com/office/drawing/2014/main" id="{464875BB-2B15-45EF-AB44-B0DA04A321A7}"/>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A4272D68-E7EF-48CD-8B6E-BEE2B775DF78}"/>
              </a:ext>
            </a:extLst>
          </p:cNvPr>
          <p:cNvSpPr>
            <a:spLocks noGrp="1"/>
          </p:cNvSpPr>
          <p:nvPr>
            <p:ph type="sldNum" sz="quarter" idx="12"/>
          </p:nvPr>
        </p:nvSpPr>
        <p:spPr/>
        <p:txBody>
          <a:bodyPr/>
          <a:lstStyle/>
          <a:p>
            <a:fld id="{5469F987-26D7-4310-A4E9-7BB24372F20B}" type="slidenum">
              <a:rPr lang="en-IN" smtClean="0"/>
              <a:t>‹#›</a:t>
            </a:fld>
            <a:endParaRPr lang="en-IN"/>
          </a:p>
        </p:txBody>
      </p:sp>
    </p:spTree>
    <p:extLst>
      <p:ext uri="{BB962C8B-B14F-4D97-AF65-F5344CB8AC3E}">
        <p14:creationId xmlns:p14="http://schemas.microsoft.com/office/powerpoint/2010/main" val="25080293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E0FAEC-1F27-4EFE-8BC8-7D4E7778C80D}"/>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18863E28-C94C-4133-B07E-F07D7AE389CA}"/>
              </a:ext>
            </a:extLst>
          </p:cNvPr>
          <p:cNvSpPr>
            <a:spLocks noGrp="1"/>
          </p:cNvSpPr>
          <p:nvPr>
            <p:ph type="dt" sz="half" idx="10"/>
          </p:nvPr>
        </p:nvSpPr>
        <p:spPr/>
        <p:txBody>
          <a:bodyPr/>
          <a:lstStyle/>
          <a:p>
            <a:fld id="{C4C43935-7CC1-4578-B785-E108833322BE}" type="datetimeFigureOut">
              <a:rPr lang="en-IN" smtClean="0"/>
              <a:t>24-09-2026</a:t>
            </a:fld>
            <a:endParaRPr lang="en-IN"/>
          </a:p>
        </p:txBody>
      </p:sp>
      <p:sp>
        <p:nvSpPr>
          <p:cNvPr id="4" name="Footer Placeholder 3">
            <a:extLst>
              <a:ext uri="{FF2B5EF4-FFF2-40B4-BE49-F238E27FC236}">
                <a16:creationId xmlns:a16="http://schemas.microsoft.com/office/drawing/2014/main" id="{7DD756D6-7738-4A21-B6D0-43F349531C14}"/>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AFAB6E06-ECCE-4B64-A95B-D305687C5D8D}"/>
              </a:ext>
            </a:extLst>
          </p:cNvPr>
          <p:cNvSpPr>
            <a:spLocks noGrp="1"/>
          </p:cNvSpPr>
          <p:nvPr>
            <p:ph type="sldNum" sz="quarter" idx="12"/>
          </p:nvPr>
        </p:nvSpPr>
        <p:spPr/>
        <p:txBody>
          <a:bodyPr/>
          <a:lstStyle/>
          <a:p>
            <a:fld id="{5469F987-26D7-4310-A4E9-7BB24372F20B}" type="slidenum">
              <a:rPr lang="en-IN" smtClean="0"/>
              <a:t>‹#›</a:t>
            </a:fld>
            <a:endParaRPr lang="en-IN"/>
          </a:p>
        </p:txBody>
      </p:sp>
    </p:spTree>
    <p:extLst>
      <p:ext uri="{BB962C8B-B14F-4D97-AF65-F5344CB8AC3E}">
        <p14:creationId xmlns:p14="http://schemas.microsoft.com/office/powerpoint/2010/main" val="27058569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645ED60-B668-4EE9-836D-1D221A518ABA}"/>
              </a:ext>
            </a:extLst>
          </p:cNvPr>
          <p:cNvSpPr>
            <a:spLocks noGrp="1"/>
          </p:cNvSpPr>
          <p:nvPr>
            <p:ph type="dt" sz="half" idx="10"/>
          </p:nvPr>
        </p:nvSpPr>
        <p:spPr/>
        <p:txBody>
          <a:bodyPr/>
          <a:lstStyle/>
          <a:p>
            <a:fld id="{C4C43935-7CC1-4578-B785-E108833322BE}" type="datetimeFigureOut">
              <a:rPr lang="en-IN" smtClean="0"/>
              <a:t>24-09-2026</a:t>
            </a:fld>
            <a:endParaRPr lang="en-IN"/>
          </a:p>
        </p:txBody>
      </p:sp>
      <p:sp>
        <p:nvSpPr>
          <p:cNvPr id="3" name="Footer Placeholder 2">
            <a:extLst>
              <a:ext uri="{FF2B5EF4-FFF2-40B4-BE49-F238E27FC236}">
                <a16:creationId xmlns:a16="http://schemas.microsoft.com/office/drawing/2014/main" id="{298DC9FF-E808-4D8E-A316-D9947C6DAAB2}"/>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8B2B8285-736D-43F5-A87E-2549B3314AE3}"/>
              </a:ext>
            </a:extLst>
          </p:cNvPr>
          <p:cNvSpPr>
            <a:spLocks noGrp="1"/>
          </p:cNvSpPr>
          <p:nvPr>
            <p:ph type="sldNum" sz="quarter" idx="12"/>
          </p:nvPr>
        </p:nvSpPr>
        <p:spPr/>
        <p:txBody>
          <a:bodyPr/>
          <a:lstStyle/>
          <a:p>
            <a:fld id="{5469F987-26D7-4310-A4E9-7BB24372F20B}" type="slidenum">
              <a:rPr lang="en-IN" smtClean="0"/>
              <a:t>‹#›</a:t>
            </a:fld>
            <a:endParaRPr lang="en-IN"/>
          </a:p>
        </p:txBody>
      </p:sp>
    </p:spTree>
    <p:extLst>
      <p:ext uri="{BB962C8B-B14F-4D97-AF65-F5344CB8AC3E}">
        <p14:creationId xmlns:p14="http://schemas.microsoft.com/office/powerpoint/2010/main" val="32875819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8448BC-ABC6-4C6E-94D8-5EB36A99E22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DCBDE206-58D2-41AC-ADFF-7B6C2727BF8E}"/>
              </a:ext>
            </a:extLst>
          </p:cNvPr>
          <p:cNvSpPr>
            <a:spLocks noGrp="1"/>
          </p:cNvSpPr>
          <p:nvPr>
            <p:ph idx="1"/>
          </p:nvPr>
        </p:nvSpPr>
        <p:spPr>
          <a:xfrm>
            <a:off x="5183188" y="98742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9DD7FFDB-41B9-4373-A715-0553D184B04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33CAD295-87A9-4A69-853D-F7E1A5AD751B}"/>
              </a:ext>
            </a:extLst>
          </p:cNvPr>
          <p:cNvSpPr>
            <a:spLocks noGrp="1"/>
          </p:cNvSpPr>
          <p:nvPr>
            <p:ph type="dt" sz="half" idx="10"/>
          </p:nvPr>
        </p:nvSpPr>
        <p:spPr/>
        <p:txBody>
          <a:bodyPr/>
          <a:lstStyle/>
          <a:p>
            <a:fld id="{C4C43935-7CC1-4578-B785-E108833322BE}" type="datetimeFigureOut">
              <a:rPr lang="en-IN" smtClean="0"/>
              <a:t>24-09-2026</a:t>
            </a:fld>
            <a:endParaRPr lang="en-IN"/>
          </a:p>
        </p:txBody>
      </p:sp>
      <p:sp>
        <p:nvSpPr>
          <p:cNvPr id="6" name="Footer Placeholder 5">
            <a:extLst>
              <a:ext uri="{FF2B5EF4-FFF2-40B4-BE49-F238E27FC236}">
                <a16:creationId xmlns:a16="http://schemas.microsoft.com/office/drawing/2014/main" id="{0DB09FB2-F247-4C6E-B6AD-213A4FE4DE7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A8A1891-EBB4-49F8-AE7F-0EAB831425A2}"/>
              </a:ext>
            </a:extLst>
          </p:cNvPr>
          <p:cNvSpPr>
            <a:spLocks noGrp="1"/>
          </p:cNvSpPr>
          <p:nvPr>
            <p:ph type="sldNum" sz="quarter" idx="12"/>
          </p:nvPr>
        </p:nvSpPr>
        <p:spPr/>
        <p:txBody>
          <a:bodyPr/>
          <a:lstStyle/>
          <a:p>
            <a:fld id="{5469F987-26D7-4310-A4E9-7BB24372F20B}" type="slidenum">
              <a:rPr lang="en-IN" smtClean="0"/>
              <a:t>‹#›</a:t>
            </a:fld>
            <a:endParaRPr lang="en-IN"/>
          </a:p>
        </p:txBody>
      </p:sp>
    </p:spTree>
    <p:extLst>
      <p:ext uri="{BB962C8B-B14F-4D97-AF65-F5344CB8AC3E}">
        <p14:creationId xmlns:p14="http://schemas.microsoft.com/office/powerpoint/2010/main" val="10298275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406A3F-B2E5-4B9F-96CE-798BBAFC226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929DC424-B36A-46B5-A710-2F2268B92A31}"/>
              </a:ext>
            </a:extLst>
          </p:cNvPr>
          <p:cNvSpPr>
            <a:spLocks noGrp="1"/>
          </p:cNvSpPr>
          <p:nvPr>
            <p:ph type="pic" idx="1"/>
          </p:nvPr>
        </p:nvSpPr>
        <p:spPr>
          <a:xfrm>
            <a:off x="5183188" y="987427"/>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3696A6AF-5D4D-45FC-B229-789CDD44642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D04E4CE2-8832-4D4A-8884-430C714FB35E}"/>
              </a:ext>
            </a:extLst>
          </p:cNvPr>
          <p:cNvSpPr>
            <a:spLocks noGrp="1"/>
          </p:cNvSpPr>
          <p:nvPr>
            <p:ph type="dt" sz="half" idx="10"/>
          </p:nvPr>
        </p:nvSpPr>
        <p:spPr/>
        <p:txBody>
          <a:bodyPr/>
          <a:lstStyle/>
          <a:p>
            <a:fld id="{C4C43935-7CC1-4578-B785-E108833322BE}" type="datetimeFigureOut">
              <a:rPr lang="en-IN" smtClean="0"/>
              <a:t>24-09-2026</a:t>
            </a:fld>
            <a:endParaRPr lang="en-IN"/>
          </a:p>
        </p:txBody>
      </p:sp>
      <p:sp>
        <p:nvSpPr>
          <p:cNvPr id="6" name="Footer Placeholder 5">
            <a:extLst>
              <a:ext uri="{FF2B5EF4-FFF2-40B4-BE49-F238E27FC236}">
                <a16:creationId xmlns:a16="http://schemas.microsoft.com/office/drawing/2014/main" id="{19DAC3D1-FC0B-425C-9B6E-8DA80D42D66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7E60FB0-6F32-4683-B647-ACF4AD7F55E7}"/>
              </a:ext>
            </a:extLst>
          </p:cNvPr>
          <p:cNvSpPr>
            <a:spLocks noGrp="1"/>
          </p:cNvSpPr>
          <p:nvPr>
            <p:ph type="sldNum" sz="quarter" idx="12"/>
          </p:nvPr>
        </p:nvSpPr>
        <p:spPr/>
        <p:txBody>
          <a:bodyPr/>
          <a:lstStyle/>
          <a:p>
            <a:fld id="{5469F987-26D7-4310-A4E9-7BB24372F20B}" type="slidenum">
              <a:rPr lang="en-IN" smtClean="0"/>
              <a:t>‹#›</a:t>
            </a:fld>
            <a:endParaRPr lang="en-IN"/>
          </a:p>
        </p:txBody>
      </p:sp>
    </p:spTree>
    <p:extLst>
      <p:ext uri="{BB962C8B-B14F-4D97-AF65-F5344CB8AC3E}">
        <p14:creationId xmlns:p14="http://schemas.microsoft.com/office/powerpoint/2010/main" val="22927760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3406FE-8EBA-4689-B609-1704D207E488}"/>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4EC89E0-CAD8-4EEA-9C62-2315C8627371}"/>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781B029-9A2A-495F-81BC-46D4BD925AE1}"/>
              </a:ext>
            </a:extLst>
          </p:cNvPr>
          <p:cNvSpPr>
            <a:spLocks noGrp="1"/>
          </p:cNvSpPr>
          <p:nvPr>
            <p:ph type="dt" sz="half" idx="10"/>
          </p:nvPr>
        </p:nvSpPr>
        <p:spPr/>
        <p:txBody>
          <a:bodyPr/>
          <a:lstStyle/>
          <a:p>
            <a:fld id="{C4C43935-7CC1-4578-B785-E108833322BE}" type="datetimeFigureOut">
              <a:rPr lang="en-IN" smtClean="0"/>
              <a:t>24-09-2026</a:t>
            </a:fld>
            <a:endParaRPr lang="en-IN"/>
          </a:p>
        </p:txBody>
      </p:sp>
      <p:sp>
        <p:nvSpPr>
          <p:cNvPr id="5" name="Footer Placeholder 4">
            <a:extLst>
              <a:ext uri="{FF2B5EF4-FFF2-40B4-BE49-F238E27FC236}">
                <a16:creationId xmlns:a16="http://schemas.microsoft.com/office/drawing/2014/main" id="{BCEA1F01-F8F6-4F11-9415-D1355E0A71C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D42DE52-3500-4ECD-B786-E599A51D0838}"/>
              </a:ext>
            </a:extLst>
          </p:cNvPr>
          <p:cNvSpPr>
            <a:spLocks noGrp="1"/>
          </p:cNvSpPr>
          <p:nvPr>
            <p:ph type="sldNum" sz="quarter" idx="12"/>
          </p:nvPr>
        </p:nvSpPr>
        <p:spPr/>
        <p:txBody>
          <a:bodyPr/>
          <a:lstStyle/>
          <a:p>
            <a:fld id="{5469F987-26D7-4310-A4E9-7BB24372F20B}" type="slidenum">
              <a:rPr lang="en-IN" smtClean="0"/>
              <a:t>‹#›</a:t>
            </a:fld>
            <a:endParaRPr lang="en-IN"/>
          </a:p>
        </p:txBody>
      </p:sp>
    </p:spTree>
    <p:extLst>
      <p:ext uri="{BB962C8B-B14F-4D97-AF65-F5344CB8AC3E}">
        <p14:creationId xmlns:p14="http://schemas.microsoft.com/office/powerpoint/2010/main" val="8302375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8C6484C-7813-4C46-AC85-1CCC6EB9B34A}"/>
              </a:ext>
            </a:extLst>
          </p:cNvPr>
          <p:cNvSpPr>
            <a:spLocks noGrp="1"/>
          </p:cNvSpPr>
          <p:nvPr>
            <p:ph type="title" orient="vert"/>
          </p:nvPr>
        </p:nvSpPr>
        <p:spPr>
          <a:xfrm>
            <a:off x="8724901"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2158A60-5749-4E12-90EE-DE3D6E0FD126}"/>
              </a:ext>
            </a:extLst>
          </p:cNvPr>
          <p:cNvSpPr>
            <a:spLocks noGrp="1"/>
          </p:cNvSpPr>
          <p:nvPr>
            <p:ph type="body" orient="vert" idx="1"/>
          </p:nvPr>
        </p:nvSpPr>
        <p:spPr>
          <a:xfrm>
            <a:off x="838201"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41C4D85-ED56-4931-9BDD-BC2B66B25AAA}"/>
              </a:ext>
            </a:extLst>
          </p:cNvPr>
          <p:cNvSpPr>
            <a:spLocks noGrp="1"/>
          </p:cNvSpPr>
          <p:nvPr>
            <p:ph type="dt" sz="half" idx="10"/>
          </p:nvPr>
        </p:nvSpPr>
        <p:spPr/>
        <p:txBody>
          <a:bodyPr/>
          <a:lstStyle/>
          <a:p>
            <a:fld id="{C4C43935-7CC1-4578-B785-E108833322BE}" type="datetimeFigureOut">
              <a:rPr lang="en-IN" smtClean="0"/>
              <a:t>24-09-2026</a:t>
            </a:fld>
            <a:endParaRPr lang="en-IN"/>
          </a:p>
        </p:txBody>
      </p:sp>
      <p:sp>
        <p:nvSpPr>
          <p:cNvPr id="5" name="Footer Placeholder 4">
            <a:extLst>
              <a:ext uri="{FF2B5EF4-FFF2-40B4-BE49-F238E27FC236}">
                <a16:creationId xmlns:a16="http://schemas.microsoft.com/office/drawing/2014/main" id="{F7349D31-14F4-4FF8-83A6-1F5DDA5B5FF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194E4A1-352B-431A-A2D7-240EF21FC369}"/>
              </a:ext>
            </a:extLst>
          </p:cNvPr>
          <p:cNvSpPr>
            <a:spLocks noGrp="1"/>
          </p:cNvSpPr>
          <p:nvPr>
            <p:ph type="sldNum" sz="quarter" idx="12"/>
          </p:nvPr>
        </p:nvSpPr>
        <p:spPr/>
        <p:txBody>
          <a:bodyPr/>
          <a:lstStyle/>
          <a:p>
            <a:fld id="{5469F987-26D7-4310-A4E9-7BB24372F20B}" type="slidenum">
              <a:rPr lang="en-IN" smtClean="0"/>
              <a:t>‹#›</a:t>
            </a:fld>
            <a:endParaRPr lang="en-IN"/>
          </a:p>
        </p:txBody>
      </p:sp>
    </p:spTree>
    <p:extLst>
      <p:ext uri="{BB962C8B-B14F-4D97-AF65-F5344CB8AC3E}">
        <p14:creationId xmlns:p14="http://schemas.microsoft.com/office/powerpoint/2010/main" val="37955680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C3CDACB-1107-499D-ADBF-47406EB81DAE}"/>
              </a:ext>
            </a:extLst>
          </p:cNvPr>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60DDB00-810C-4571-B672-0E95DC4F2E3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41F5685-24BC-4228-8452-AAAB900545F2}"/>
              </a:ext>
            </a:extLst>
          </p:cNvPr>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4C43935-7CC1-4578-B785-E108833322BE}" type="datetimeFigureOut">
              <a:rPr lang="en-IN" smtClean="0"/>
              <a:t>24-09-2026</a:t>
            </a:fld>
            <a:endParaRPr lang="en-IN"/>
          </a:p>
        </p:txBody>
      </p:sp>
      <p:sp>
        <p:nvSpPr>
          <p:cNvPr id="5" name="Footer Placeholder 4">
            <a:extLst>
              <a:ext uri="{FF2B5EF4-FFF2-40B4-BE49-F238E27FC236}">
                <a16:creationId xmlns:a16="http://schemas.microsoft.com/office/drawing/2014/main" id="{C188D770-0114-487C-9163-0F4DB45973E3}"/>
              </a:ext>
            </a:extLst>
          </p:cNvPr>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C3C11FBB-957D-4656-A211-2D5138BBF7C5}"/>
              </a:ext>
            </a:extLst>
          </p:cNvPr>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469F987-26D7-4310-A4E9-7BB24372F20B}" type="slidenum">
              <a:rPr lang="en-IN" smtClean="0"/>
              <a:t>‹#›</a:t>
            </a:fld>
            <a:endParaRPr lang="en-IN"/>
          </a:p>
        </p:txBody>
      </p:sp>
    </p:spTree>
    <p:extLst>
      <p:ext uri="{BB962C8B-B14F-4D97-AF65-F5344CB8AC3E}">
        <p14:creationId xmlns:p14="http://schemas.microsoft.com/office/powerpoint/2010/main" val="2405386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jpg"/></Relationships>
</file>

<file path=ppt/slides/_rels/slide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11.svg"/><Relationship Id="rId13" Type="http://schemas.openxmlformats.org/officeDocument/2006/relationships/image" Target="../media/image16.png"/><Relationship Id="rId18" Type="http://schemas.openxmlformats.org/officeDocument/2006/relationships/image" Target="../media/image21.svg"/><Relationship Id="rId3" Type="http://schemas.openxmlformats.org/officeDocument/2006/relationships/image" Target="../media/image2.png"/><Relationship Id="rId7" Type="http://schemas.openxmlformats.org/officeDocument/2006/relationships/image" Target="../media/image10.png"/><Relationship Id="rId12" Type="http://schemas.openxmlformats.org/officeDocument/2006/relationships/image" Target="../media/image15.svg"/><Relationship Id="rId17" Type="http://schemas.openxmlformats.org/officeDocument/2006/relationships/image" Target="../media/image20.png"/><Relationship Id="rId2" Type="http://schemas.openxmlformats.org/officeDocument/2006/relationships/image" Target="../media/image3.jpg"/><Relationship Id="rId16" Type="http://schemas.openxmlformats.org/officeDocument/2006/relationships/image" Target="../media/image19.svg"/><Relationship Id="rId1" Type="http://schemas.openxmlformats.org/officeDocument/2006/relationships/slideLayout" Target="../slideLayouts/slideLayout7.xml"/><Relationship Id="rId6" Type="http://schemas.openxmlformats.org/officeDocument/2006/relationships/image" Target="../media/image9.svg"/><Relationship Id="rId11" Type="http://schemas.openxmlformats.org/officeDocument/2006/relationships/image" Target="../media/image14.png"/><Relationship Id="rId5" Type="http://schemas.openxmlformats.org/officeDocument/2006/relationships/image" Target="../media/image8.png"/><Relationship Id="rId15" Type="http://schemas.openxmlformats.org/officeDocument/2006/relationships/image" Target="../media/image18.png"/><Relationship Id="rId10" Type="http://schemas.openxmlformats.org/officeDocument/2006/relationships/image" Target="../media/image13.svg"/><Relationship Id="rId4" Type="http://schemas.openxmlformats.org/officeDocument/2006/relationships/image" Target="../media/image7.webp"/><Relationship Id="rId9" Type="http://schemas.openxmlformats.org/officeDocument/2006/relationships/image" Target="../media/image12.png"/><Relationship Id="rId14" Type="http://schemas.openxmlformats.org/officeDocument/2006/relationships/image" Target="../media/image17.svg"/></Relationships>
</file>

<file path=ppt/slides/_rels/slide5.xml.rels><?xml version="1.0" encoding="UTF-8" standalone="yes"?>
<Relationships xmlns="http://schemas.openxmlformats.org/package/2006/relationships"><Relationship Id="rId8" Type="http://schemas.openxmlformats.org/officeDocument/2006/relationships/image" Target="../media/image26.png"/><Relationship Id="rId13" Type="http://schemas.openxmlformats.org/officeDocument/2006/relationships/image" Target="../media/image31.svg"/><Relationship Id="rId18" Type="http://schemas.openxmlformats.org/officeDocument/2006/relationships/image" Target="../media/image36.png"/><Relationship Id="rId3" Type="http://schemas.openxmlformats.org/officeDocument/2006/relationships/image" Target="../media/image2.png"/><Relationship Id="rId7" Type="http://schemas.openxmlformats.org/officeDocument/2006/relationships/image" Target="../media/image25.svg"/><Relationship Id="rId12" Type="http://schemas.openxmlformats.org/officeDocument/2006/relationships/image" Target="../media/image30.png"/><Relationship Id="rId17" Type="http://schemas.openxmlformats.org/officeDocument/2006/relationships/image" Target="../media/image35.svg"/><Relationship Id="rId2" Type="http://schemas.openxmlformats.org/officeDocument/2006/relationships/image" Target="../media/image3.jpg"/><Relationship Id="rId16" Type="http://schemas.openxmlformats.org/officeDocument/2006/relationships/image" Target="../media/image34.png"/><Relationship Id="rId1" Type="http://schemas.openxmlformats.org/officeDocument/2006/relationships/slideLayout" Target="../slideLayouts/slideLayout7.xml"/><Relationship Id="rId6" Type="http://schemas.openxmlformats.org/officeDocument/2006/relationships/image" Target="../media/image24.png"/><Relationship Id="rId11" Type="http://schemas.openxmlformats.org/officeDocument/2006/relationships/image" Target="../media/image29.svg"/><Relationship Id="rId5" Type="http://schemas.openxmlformats.org/officeDocument/2006/relationships/image" Target="../media/image23.svg"/><Relationship Id="rId15" Type="http://schemas.openxmlformats.org/officeDocument/2006/relationships/image" Target="../media/image33.svg"/><Relationship Id="rId10" Type="http://schemas.openxmlformats.org/officeDocument/2006/relationships/image" Target="../media/image28.png"/><Relationship Id="rId19" Type="http://schemas.openxmlformats.org/officeDocument/2006/relationships/image" Target="../media/image37.svg"/><Relationship Id="rId4" Type="http://schemas.openxmlformats.org/officeDocument/2006/relationships/image" Target="../media/image22.png"/><Relationship Id="rId9" Type="http://schemas.openxmlformats.org/officeDocument/2006/relationships/image" Target="../media/image27.svg"/><Relationship Id="rId14" Type="http://schemas.openxmlformats.org/officeDocument/2006/relationships/image" Target="../media/image32.png"/></Relationships>
</file>

<file path=ppt/slides/_rels/slide6.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Layout" Target="../slideLayouts/slideLayout7.xml"/><Relationship Id="rId5" Type="http://schemas.openxmlformats.org/officeDocument/2006/relationships/image" Target="../media/image2.png"/><Relationship Id="rId4" Type="http://schemas.openxmlformats.org/officeDocument/2006/relationships/image" Target="../media/image3.jpg"/></Relationships>
</file>

<file path=ppt/slides/_rels/slide7.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38.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g"/><Relationship Id="rId1" Type="http://schemas.openxmlformats.org/officeDocument/2006/relationships/slideLayout" Target="../slideLayouts/slideLayout7.xml"/><Relationship Id="rId4" Type="http://schemas.openxmlformats.org/officeDocument/2006/relationships/image" Target="../media/image39.png"/></Relationships>
</file>

<file path=ppt/slides/_rels/slide10.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40.png"/><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g"/><Relationship Id="rId1" Type="http://schemas.openxmlformats.org/officeDocument/2006/relationships/slideLayout" Target="../slideLayouts/slideLayout7.xml"/><Relationship Id="rId4" Type="http://schemas.openxmlformats.org/officeDocument/2006/relationships/image" Target="../media/image41.png"/></Relationships>
</file>

<file path=ppt/slides/_rels/slide1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42.png"/><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g"/><Relationship Id="rId1" Type="http://schemas.openxmlformats.org/officeDocument/2006/relationships/slideLayout" Target="../slideLayouts/slideLayout7.xml"/><Relationship Id="rId4" Type="http://schemas.openxmlformats.org/officeDocument/2006/relationships/image" Target="../media/image43.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g"/><Relationship Id="rId1" Type="http://schemas.openxmlformats.org/officeDocument/2006/relationships/slideLayout" Target="../slideLayouts/slideLayout7.xml"/><Relationship Id="rId4" Type="http://schemas.openxmlformats.org/officeDocument/2006/relationships/image" Target="../media/image44.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g"/><Relationship Id="rId1" Type="http://schemas.openxmlformats.org/officeDocument/2006/relationships/slideLayout" Target="../slideLayouts/slideLayout7.xml"/><Relationship Id="rId5" Type="http://schemas.openxmlformats.org/officeDocument/2006/relationships/image" Target="../media/image46.png"/><Relationship Id="rId4" Type="http://schemas.openxmlformats.org/officeDocument/2006/relationships/image" Target="../media/image45.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g"/><Relationship Id="rId1" Type="http://schemas.openxmlformats.org/officeDocument/2006/relationships/slideLayout" Target="../slideLayouts/slideLayout7.xml"/><Relationship Id="rId4" Type="http://schemas.openxmlformats.org/officeDocument/2006/relationships/image" Target="../media/image47.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g"/><Relationship Id="rId1" Type="http://schemas.openxmlformats.org/officeDocument/2006/relationships/slideLayout" Target="../slideLayouts/slideLayout7.xml"/><Relationship Id="rId4" Type="http://schemas.openxmlformats.org/officeDocument/2006/relationships/image" Target="../media/image48.pn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g"/><Relationship Id="rId1" Type="http://schemas.openxmlformats.org/officeDocument/2006/relationships/slideLayout" Target="../slideLayouts/slideLayout7.xml"/><Relationship Id="rId4" Type="http://schemas.openxmlformats.org/officeDocument/2006/relationships/image" Target="../media/image49.png"/></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g"/><Relationship Id="rId1" Type="http://schemas.openxmlformats.org/officeDocument/2006/relationships/slideLayout" Target="../slideLayouts/slideLayout7.xml"/><Relationship Id="rId5" Type="http://schemas.openxmlformats.org/officeDocument/2006/relationships/image" Target="../media/image51.png"/><Relationship Id="rId4" Type="http://schemas.openxmlformats.org/officeDocument/2006/relationships/image" Target="../media/image50.png"/></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g"/><Relationship Id="rId1" Type="http://schemas.openxmlformats.org/officeDocument/2006/relationships/slideLayout" Target="../slideLayouts/slideLayout7.xml"/><Relationship Id="rId5" Type="http://schemas.openxmlformats.org/officeDocument/2006/relationships/image" Target="../media/image53.svg"/><Relationship Id="rId4" Type="http://schemas.openxmlformats.org/officeDocument/2006/relationships/image" Target="../media/image52.png"/></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54.png"/></Relationships>
</file>

<file path=ppt/slides/_rels/slide50.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54.png"/><Relationship Id="rId4" Type="http://schemas.openxmlformats.org/officeDocument/2006/relationships/image" Target="../media/image55.png"/></Relationships>
</file>

<file path=ppt/slides/_rels/slide5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56.png"/><Relationship Id="rId4" Type="http://schemas.openxmlformats.org/officeDocument/2006/relationships/image" Target="../media/image54.png"/></Relationships>
</file>

<file path=ppt/slides/_rels/slide5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g"/><Relationship Id="rId1" Type="http://schemas.openxmlformats.org/officeDocument/2006/relationships/slideLayout" Target="../slideLayouts/slideLayout7.xml"/><Relationship Id="rId4" Type="http://schemas.openxmlformats.org/officeDocument/2006/relationships/image" Target="../media/image57.jpg"/></Relationships>
</file>

<file path=ppt/slides/_rels/slide5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58.png"/></Relationships>
</file>

<file path=ppt/slides/_rels/slide5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59.png"/></Relationships>
</file>

<file path=ppt/slides/_rels/slide5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g"/><Relationship Id="rId1" Type="http://schemas.openxmlformats.org/officeDocument/2006/relationships/slideLayout" Target="../slideLayouts/slideLayout7.xml"/><Relationship Id="rId4" Type="http://schemas.openxmlformats.org/officeDocument/2006/relationships/image" Target="../media/image60.jpeg"/></Relationships>
</file>

<file path=ppt/slides/_rels/slide5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g"/><Relationship Id="rId1" Type="http://schemas.openxmlformats.org/officeDocument/2006/relationships/slideLayout" Target="../slideLayouts/slideLayout7.xml"/><Relationship Id="rId6" Type="http://schemas.openxmlformats.org/officeDocument/2006/relationships/image" Target="../media/image63.jpeg"/><Relationship Id="rId5" Type="http://schemas.openxmlformats.org/officeDocument/2006/relationships/image" Target="../media/image62.jpeg"/><Relationship Id="rId4" Type="http://schemas.openxmlformats.org/officeDocument/2006/relationships/image" Target="../media/image61.jpeg"/></Relationships>
</file>

<file path=ppt/slides/_rels/slide58.xml.rels><?xml version="1.0" encoding="UTF-8" standalone="yes"?>
<Relationships xmlns="http://schemas.openxmlformats.org/package/2006/relationships"><Relationship Id="rId3" Type="http://schemas.openxmlformats.org/officeDocument/2006/relationships/image" Target="../media/image65.png"/><Relationship Id="rId7" Type="http://schemas.openxmlformats.org/officeDocument/2006/relationships/image" Target="../media/image3.jpg"/><Relationship Id="rId2" Type="http://schemas.openxmlformats.org/officeDocument/2006/relationships/image" Target="../media/image64.png"/><Relationship Id="rId1" Type="http://schemas.openxmlformats.org/officeDocument/2006/relationships/slideLayout" Target="../slideLayouts/slideLayout7.xml"/><Relationship Id="rId6" Type="http://schemas.openxmlformats.org/officeDocument/2006/relationships/image" Target="../media/image2.png"/><Relationship Id="rId5" Type="http://schemas.openxmlformats.org/officeDocument/2006/relationships/image" Target="../media/image67.png"/><Relationship Id="rId4" Type="http://schemas.openxmlformats.org/officeDocument/2006/relationships/image" Target="../media/image66.png"/></Relationships>
</file>

<file path=ppt/slides/_rels/slide5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2.png"/><Relationship Id="rId7" Type="http://schemas.openxmlformats.org/officeDocument/2006/relationships/diagramColors" Target="../diagrams/colors1.xml"/><Relationship Id="rId2" Type="http://schemas.openxmlformats.org/officeDocument/2006/relationships/image" Target="../media/image3.jpg"/><Relationship Id="rId1" Type="http://schemas.openxmlformats.org/officeDocument/2006/relationships/slideLayout" Target="../slideLayouts/slideLayout7.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6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g"/><Relationship Id="rId1" Type="http://schemas.openxmlformats.org/officeDocument/2006/relationships/slideLayout" Target="../slideLayouts/slideLayout7.xml"/><Relationship Id="rId5" Type="http://schemas.openxmlformats.org/officeDocument/2006/relationships/image" Target="../media/image69.svg"/><Relationship Id="rId4" Type="http://schemas.openxmlformats.org/officeDocument/2006/relationships/image" Target="../media/image68.png"/></Relationships>
</file>

<file path=ppt/slides/_rels/slide6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8" Type="http://schemas.microsoft.com/office/2007/relationships/diagramDrawing" Target="../diagrams/drawing2.xml"/><Relationship Id="rId13" Type="http://schemas.microsoft.com/office/2007/relationships/diagramDrawing" Target="../diagrams/drawing3.xml"/><Relationship Id="rId3" Type="http://schemas.openxmlformats.org/officeDocument/2006/relationships/image" Target="../media/image3.jpg"/><Relationship Id="rId7" Type="http://schemas.openxmlformats.org/officeDocument/2006/relationships/diagramColors" Target="../diagrams/colors2.xml"/><Relationship Id="rId12" Type="http://schemas.openxmlformats.org/officeDocument/2006/relationships/diagramColors" Target="../diagrams/colors3.xml"/><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diagramQuickStyle" Target="../diagrams/quickStyle2.xml"/><Relationship Id="rId11" Type="http://schemas.openxmlformats.org/officeDocument/2006/relationships/diagramQuickStyle" Target="../diagrams/quickStyle3.xml"/><Relationship Id="rId5" Type="http://schemas.openxmlformats.org/officeDocument/2006/relationships/diagramLayout" Target="../diagrams/layout2.xml"/><Relationship Id="rId10" Type="http://schemas.openxmlformats.org/officeDocument/2006/relationships/diagramLayout" Target="../diagrams/layout3.xml"/><Relationship Id="rId4" Type="http://schemas.openxmlformats.org/officeDocument/2006/relationships/diagramData" Target="../diagrams/data2.xml"/><Relationship Id="rId9" Type="http://schemas.openxmlformats.org/officeDocument/2006/relationships/diagramData" Target="../diagrams/data3.xml"/></Relationships>
</file>

<file path=ppt/slides/_rels/slide66.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hyperlink" Target="https://pixabay.com/en/coffee-coffee-cup-hot-coffee-steam-2358388/" TargetMode="External"/><Relationship Id="rId4" Type="http://schemas.openxmlformats.org/officeDocument/2006/relationships/image" Target="../media/image70.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CE1F0424-0034-439C-8A6B-DDC0CBB19DAF}"/>
              </a:ext>
            </a:extLst>
          </p:cNvPr>
          <p:cNvSpPr>
            <a:spLocks noGrp="1"/>
          </p:cNvSpPr>
          <p:nvPr>
            <p:ph type="ctrTitle"/>
          </p:nvPr>
        </p:nvSpPr>
        <p:spPr/>
        <p:txBody>
          <a:bodyPr/>
          <a:lstStyle/>
          <a:p>
            <a:endParaRPr lang="en-IN"/>
          </a:p>
        </p:txBody>
      </p:sp>
      <p:sp>
        <p:nvSpPr>
          <p:cNvPr id="11" name="Subtitle 10">
            <a:extLst>
              <a:ext uri="{FF2B5EF4-FFF2-40B4-BE49-F238E27FC236}">
                <a16:creationId xmlns:a16="http://schemas.microsoft.com/office/drawing/2014/main" id="{3CA76271-E267-487A-A7CE-F658B4589EA9}"/>
              </a:ext>
            </a:extLst>
          </p:cNvPr>
          <p:cNvSpPr>
            <a:spLocks noGrp="1"/>
          </p:cNvSpPr>
          <p:nvPr>
            <p:ph type="subTitle" idx="1"/>
          </p:nvPr>
        </p:nvSpPr>
        <p:spPr/>
        <p:txBody>
          <a:bodyPr/>
          <a:lstStyle/>
          <a:p>
            <a:endParaRPr lang="en-IN"/>
          </a:p>
        </p:txBody>
      </p:sp>
      <p:pic>
        <p:nvPicPr>
          <p:cNvPr id="13" name="Picture 12">
            <a:extLst>
              <a:ext uri="{FF2B5EF4-FFF2-40B4-BE49-F238E27FC236}">
                <a16:creationId xmlns:a16="http://schemas.microsoft.com/office/drawing/2014/main" id="{05FE4A43-AA92-46B4-ACBF-694F6AB3F16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 y="0"/>
            <a:ext cx="12192001" cy="6858000"/>
          </a:xfrm>
          <a:prstGeom prst="rect">
            <a:avLst/>
          </a:prstGeom>
        </p:spPr>
      </p:pic>
      <p:sp>
        <p:nvSpPr>
          <p:cNvPr id="14" name="Rectangle 13">
            <a:extLst>
              <a:ext uri="{FF2B5EF4-FFF2-40B4-BE49-F238E27FC236}">
                <a16:creationId xmlns:a16="http://schemas.microsoft.com/office/drawing/2014/main" id="{40968072-7683-4E03-9E97-C895750B7609}"/>
              </a:ext>
            </a:extLst>
          </p:cNvPr>
          <p:cNvSpPr/>
          <p:nvPr/>
        </p:nvSpPr>
        <p:spPr>
          <a:xfrm>
            <a:off x="3048000" y="3105835"/>
            <a:ext cx="6096000" cy="369332"/>
          </a:xfrm>
          <a:prstGeom prst="rect">
            <a:avLst/>
          </a:prstGeom>
        </p:spPr>
        <p:txBody>
          <a:bodyPr>
            <a:spAutoFit/>
          </a:bodyPr>
          <a:lstStyle/>
          <a:p>
            <a:endParaRPr lang="en-US" b="1" dirty="0">
              <a:solidFill>
                <a:schemeClr val="bg1"/>
              </a:solidFill>
            </a:endParaRPr>
          </a:p>
        </p:txBody>
      </p:sp>
      <p:sp>
        <p:nvSpPr>
          <p:cNvPr id="15" name="Rectangle 14">
            <a:extLst>
              <a:ext uri="{FF2B5EF4-FFF2-40B4-BE49-F238E27FC236}">
                <a16:creationId xmlns:a16="http://schemas.microsoft.com/office/drawing/2014/main" id="{0DFF03C5-D1CD-4685-AAC4-266CFE70B157}"/>
              </a:ext>
            </a:extLst>
          </p:cNvPr>
          <p:cNvSpPr/>
          <p:nvPr/>
        </p:nvSpPr>
        <p:spPr>
          <a:xfrm>
            <a:off x="3048003" y="3105839"/>
            <a:ext cx="8546969" cy="2031325"/>
          </a:xfrm>
          <a:prstGeom prst="rect">
            <a:avLst/>
          </a:prstGeom>
        </p:spPr>
        <p:txBody>
          <a:bodyPr wrap="square">
            <a:spAutoFit/>
          </a:bodyPr>
          <a:lstStyle/>
          <a:p>
            <a:r>
              <a:rPr lang="en-US" sz="3600" b="1" dirty="0">
                <a:solidFill>
                  <a:schemeClr val="bg1"/>
                </a:solidFill>
              </a:rPr>
              <a:t>				</a:t>
            </a:r>
          </a:p>
          <a:p>
            <a:pPr algn="ctr"/>
            <a:r>
              <a:rPr lang="en-US" sz="3000" b="1" dirty="0">
                <a:solidFill>
                  <a:schemeClr val="bg1"/>
                </a:solidFill>
              </a:rPr>
              <a:t>Presented by</a:t>
            </a:r>
          </a:p>
          <a:p>
            <a:pPr algn="ctr"/>
            <a:r>
              <a:rPr lang="en-US" sz="3000" b="1" dirty="0">
                <a:solidFill>
                  <a:schemeClr val="bg1"/>
                </a:solidFill>
              </a:rPr>
              <a:t>Puja </a:t>
            </a:r>
            <a:r>
              <a:rPr lang="en-US" sz="3000" b="1" dirty="0" err="1">
                <a:solidFill>
                  <a:schemeClr val="bg1"/>
                </a:solidFill>
              </a:rPr>
              <a:t>Karmakar</a:t>
            </a:r>
            <a:endParaRPr lang="en-US" sz="3000" b="1" dirty="0">
              <a:solidFill>
                <a:schemeClr val="bg1"/>
              </a:solidFill>
            </a:endParaRPr>
          </a:p>
          <a:p>
            <a:pPr algn="ctr"/>
            <a:r>
              <a:rPr lang="en-US" sz="3000" b="1" dirty="0">
                <a:solidFill>
                  <a:schemeClr val="bg1"/>
                </a:solidFill>
              </a:rPr>
              <a:t>Batch ID- </a:t>
            </a:r>
            <a:r>
              <a:rPr lang="en-IN" sz="3000" b="1" dirty="0">
                <a:solidFill>
                  <a:schemeClr val="bg1"/>
                </a:solidFill>
              </a:rPr>
              <a:t>WA-471-ARSI-IT-DIMAWIAI-FEB-2026-2</a:t>
            </a:r>
          </a:p>
        </p:txBody>
      </p:sp>
      <p:pic>
        <p:nvPicPr>
          <p:cNvPr id="10" name="Picture 9">
            <a:extLst>
              <a:ext uri="{FF2B5EF4-FFF2-40B4-BE49-F238E27FC236}">
                <a16:creationId xmlns:a16="http://schemas.microsoft.com/office/drawing/2014/main" id="{D90BEE6F-C79C-4758-BD05-C485AA91163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854082" y="-2441"/>
            <a:ext cx="1337918" cy="941168"/>
          </a:xfrm>
          <a:prstGeom prst="rect">
            <a:avLst/>
          </a:prstGeom>
        </p:spPr>
      </p:pic>
      <p:pic>
        <p:nvPicPr>
          <p:cNvPr id="12" name="Content Placeholder 5">
            <a:extLst>
              <a:ext uri="{FF2B5EF4-FFF2-40B4-BE49-F238E27FC236}">
                <a16:creationId xmlns:a16="http://schemas.microsoft.com/office/drawing/2014/main" id="{10F2488B-D508-450B-85A8-A8E4892234C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429" y="4399"/>
            <a:ext cx="1131216" cy="948153"/>
          </a:xfrm>
          <a:prstGeom prst="rect">
            <a:avLst/>
          </a:prstGeom>
        </p:spPr>
      </p:pic>
    </p:spTree>
    <p:extLst>
      <p:ext uri="{BB962C8B-B14F-4D97-AF65-F5344CB8AC3E}">
        <p14:creationId xmlns:p14="http://schemas.microsoft.com/office/powerpoint/2010/main" val="32829461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F73421-D9CE-4000-9DE8-D38F0FE3AB23}"/>
              </a:ext>
            </a:extLst>
          </p:cNvPr>
          <p:cNvSpPr>
            <a:spLocks noGrp="1"/>
          </p:cNvSpPr>
          <p:nvPr>
            <p:ph type="title"/>
          </p:nvPr>
        </p:nvSpPr>
        <p:spPr>
          <a:xfrm>
            <a:off x="838200" y="336849"/>
            <a:ext cx="10515600" cy="1325563"/>
          </a:xfrm>
        </p:spPr>
        <p:txBody>
          <a:bodyPr/>
          <a:lstStyle/>
          <a:p>
            <a:pPr algn="ctr"/>
            <a:r>
              <a:rPr lang="en-US" dirty="0">
                <a:latin typeface="Lucida Calligraphy" panose="03010101010101010101" pitchFamily="66" charset="0"/>
              </a:rPr>
              <a:t>   		</a:t>
            </a:r>
            <a:r>
              <a:rPr lang="en-US" sz="4000" dirty="0">
                <a:latin typeface="Algerian" panose="04020705040A02060702" pitchFamily="82" charset="0"/>
              </a:rPr>
              <a:t>	</a:t>
            </a:r>
            <a:r>
              <a:rPr lang="en-US" b="1" u="sng" dirty="0">
                <a:latin typeface="Algerian" panose="04020705040A02060702" pitchFamily="82" charset="0"/>
                <a:cs typeface="Times New Roman" panose="02020603050405020304" pitchFamily="18" charset="0"/>
              </a:rPr>
              <a:t>ABOUT US</a:t>
            </a:r>
            <a:endParaRPr lang="en-IN" b="1" u="sng" dirty="0">
              <a:latin typeface="Algerian" panose="04020705040A02060702" pitchFamily="82"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2EA6A16-B062-43D6-A404-9DF6961FB034}"/>
              </a:ext>
            </a:extLst>
          </p:cNvPr>
          <p:cNvSpPr>
            <a:spLocks noGrp="1"/>
          </p:cNvSpPr>
          <p:nvPr>
            <p:ph idx="1"/>
          </p:nvPr>
        </p:nvSpPr>
        <p:spPr>
          <a:xfrm>
            <a:off x="4490694" y="1540461"/>
            <a:ext cx="6236220" cy="4593260"/>
          </a:xfrm>
        </p:spPr>
        <p:txBody>
          <a:bodyPr>
            <a:normAutofit/>
          </a:bodyPr>
          <a:lstStyle/>
          <a:p>
            <a:pPr marL="0" indent="0">
              <a:buNone/>
            </a:pPr>
            <a:r>
              <a:rPr lang="en-US" sz="3200" dirty="0">
                <a:latin typeface="Bell MT" panose="02020503060305020303" pitchFamily="18" charset="0"/>
              </a:rPr>
              <a:t>Sweet Karam Coffee is a fast-growing Indian food and beverage company that makes traditional South Indian sweets, snacks, and filter coffee. </a:t>
            </a:r>
          </a:p>
          <a:p>
            <a:pPr marL="0" indent="0">
              <a:buNone/>
            </a:pPr>
            <a:r>
              <a:rPr lang="en-US" dirty="0">
                <a:latin typeface="Bell MT" panose="02020503060305020303" pitchFamily="18" charset="0"/>
              </a:rPr>
              <a:t> </a:t>
            </a:r>
          </a:p>
        </p:txBody>
      </p:sp>
      <p:pic>
        <p:nvPicPr>
          <p:cNvPr id="4" name="Picture 3">
            <a:extLst>
              <a:ext uri="{FF2B5EF4-FFF2-40B4-BE49-F238E27FC236}">
                <a16:creationId xmlns:a16="http://schemas.microsoft.com/office/drawing/2014/main" id="{020BE60D-D432-4876-8DBF-7C9EB52BC89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54082" y="6983"/>
            <a:ext cx="1337918" cy="941168"/>
          </a:xfrm>
          <a:prstGeom prst="rect">
            <a:avLst/>
          </a:prstGeom>
        </p:spPr>
      </p:pic>
      <p:pic>
        <p:nvPicPr>
          <p:cNvPr id="5" name="Content Placeholder 5">
            <a:extLst>
              <a:ext uri="{FF2B5EF4-FFF2-40B4-BE49-F238E27FC236}">
                <a16:creationId xmlns:a16="http://schemas.microsoft.com/office/drawing/2014/main" id="{2971EB24-2155-456B-AA44-CAB564A1911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429" y="-18854"/>
            <a:ext cx="1131216" cy="948153"/>
          </a:xfrm>
          <a:prstGeom prst="rect">
            <a:avLst/>
          </a:prstGeom>
        </p:spPr>
      </p:pic>
      <p:sp>
        <p:nvSpPr>
          <p:cNvPr id="7" name="Rectangle 6">
            <a:extLst>
              <a:ext uri="{FF2B5EF4-FFF2-40B4-BE49-F238E27FC236}">
                <a16:creationId xmlns:a16="http://schemas.microsoft.com/office/drawing/2014/main" id="{F653DBD7-C303-493A-9CEA-4B86D1EC009E}"/>
              </a:ext>
            </a:extLst>
          </p:cNvPr>
          <p:cNvSpPr/>
          <p:nvPr/>
        </p:nvSpPr>
        <p:spPr>
          <a:xfrm>
            <a:off x="11041532" y="1113124"/>
            <a:ext cx="1141037" cy="5737893"/>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vert="vert" rtlCol="0" anchor="ctr"/>
          <a:lstStyle/>
          <a:p>
            <a:pPr algn="ctr"/>
            <a:r>
              <a:rPr lang="en-IN" sz="4400" dirty="0">
                <a:latin typeface="Algerian" panose="04020705040A02060702" pitchFamily="82" charset="0"/>
              </a:rPr>
              <a:t>SWEET KARAM COFFEE</a:t>
            </a:r>
          </a:p>
        </p:txBody>
      </p:sp>
      <p:sp>
        <p:nvSpPr>
          <p:cNvPr id="8" name="Rectangle 7">
            <a:extLst>
              <a:ext uri="{FF2B5EF4-FFF2-40B4-BE49-F238E27FC236}">
                <a16:creationId xmlns:a16="http://schemas.microsoft.com/office/drawing/2014/main" id="{41EED1EB-833D-4642-9A75-EC7E4D052FFB}"/>
              </a:ext>
            </a:extLst>
          </p:cNvPr>
          <p:cNvSpPr/>
          <p:nvPr/>
        </p:nvSpPr>
        <p:spPr>
          <a:xfrm>
            <a:off x="9430" y="1113124"/>
            <a:ext cx="4166644" cy="5744875"/>
          </a:xfrm>
          <a:prstGeom prst="rect">
            <a:avLst/>
          </a:prstGeom>
          <a:blipFill dpi="0" rotWithShape="1">
            <a:blip r:embed="rId4">
              <a:extLst>
                <a:ext uri="{28A0092B-C50C-407E-A947-70E740481C1C}">
                  <a14:useLocalDpi xmlns:a14="http://schemas.microsoft.com/office/drawing/2010/main" val="0"/>
                </a:ext>
              </a:extLst>
            </a:blip>
            <a:srcRect/>
            <a:stretch>
              <a:fillRect/>
            </a:stretch>
          </a:blipFill>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BA03D456-2D49-46AB-93C3-EE667B7C3D2A}"/>
              </a:ext>
            </a:extLst>
          </p:cNvPr>
          <p:cNvSpPr txBox="1"/>
          <p:nvPr/>
        </p:nvSpPr>
        <p:spPr>
          <a:xfrm>
            <a:off x="4490693" y="4534293"/>
            <a:ext cx="6236219" cy="954107"/>
          </a:xfrm>
          <a:prstGeom prst="rect">
            <a:avLst/>
          </a:prstGeom>
          <a:solidFill>
            <a:schemeClr val="accent2">
              <a:lumMod val="40000"/>
              <a:lumOff val="60000"/>
            </a:schemeClr>
          </a:solidFill>
        </p:spPr>
        <p:txBody>
          <a:bodyPr wrap="square" rtlCol="0">
            <a:spAutoFit/>
          </a:bodyPr>
          <a:lstStyle/>
          <a:p>
            <a:pPr algn="ctr"/>
            <a:r>
              <a:rPr lang="en-US" sz="2800" i="1" dirty="0">
                <a:latin typeface="Bell MT" panose="02020503060305020303" pitchFamily="18" charset="0"/>
              </a:rPr>
              <a:t>"Authentic taste just like your grandma's preparation."</a:t>
            </a:r>
            <a:r>
              <a:rPr lang="en-US" sz="2800" dirty="0">
                <a:latin typeface="Bell MT" panose="02020503060305020303" pitchFamily="18" charset="0"/>
              </a:rPr>
              <a:t> </a:t>
            </a:r>
          </a:p>
        </p:txBody>
      </p:sp>
      <p:pic>
        <p:nvPicPr>
          <p:cNvPr id="12" name="Graphic 11" descr="Leaf">
            <a:extLst>
              <a:ext uri="{FF2B5EF4-FFF2-40B4-BE49-F238E27FC236}">
                <a16:creationId xmlns:a16="http://schemas.microsoft.com/office/drawing/2014/main" id="{F680E0C3-6B31-416C-9CAA-9B20C16D65A3}"/>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939682" y="4896661"/>
            <a:ext cx="914400" cy="914400"/>
          </a:xfrm>
          <a:prstGeom prst="rect">
            <a:avLst/>
          </a:prstGeom>
          <a:effectLst>
            <a:glow rad="228600">
              <a:schemeClr val="accent6">
                <a:satMod val="175000"/>
                <a:alpha val="40000"/>
              </a:schemeClr>
            </a:glow>
          </a:effectLst>
        </p:spPr>
      </p:pic>
    </p:spTree>
    <p:extLst>
      <p:ext uri="{BB962C8B-B14F-4D97-AF65-F5344CB8AC3E}">
        <p14:creationId xmlns:p14="http://schemas.microsoft.com/office/powerpoint/2010/main" val="844860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D99454-3440-4247-8771-58B16612E3F5}"/>
              </a:ext>
            </a:extLst>
          </p:cNvPr>
          <p:cNvSpPr>
            <a:spLocks noGrp="1"/>
          </p:cNvSpPr>
          <p:nvPr>
            <p:ph type="title"/>
          </p:nvPr>
        </p:nvSpPr>
        <p:spPr>
          <a:xfrm>
            <a:off x="838200" y="154449"/>
            <a:ext cx="10515600" cy="1155881"/>
          </a:xfrm>
        </p:spPr>
        <p:txBody>
          <a:bodyPr/>
          <a:lstStyle/>
          <a:p>
            <a:r>
              <a:rPr lang="en-US" dirty="0">
                <a:latin typeface="Times New Roman" panose="02020603050405020304" pitchFamily="18" charset="0"/>
                <a:cs typeface="Times New Roman" panose="02020603050405020304" pitchFamily="18" charset="0"/>
              </a:rPr>
              <a:t>   TABLE OF CONTENTS</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3D5DDFB9-0F94-4709-8A9B-40E319C80597}"/>
              </a:ext>
            </a:extLst>
          </p:cNvPr>
          <p:cNvSpPr>
            <a:spLocks noGrp="1"/>
          </p:cNvSpPr>
          <p:nvPr>
            <p:ph idx="1"/>
          </p:nvPr>
        </p:nvSpPr>
        <p:spPr>
          <a:xfrm>
            <a:off x="838201" y="1432874"/>
            <a:ext cx="3752654" cy="5137608"/>
          </a:xfrm>
        </p:spPr>
        <p:txBody>
          <a:bodyPr>
            <a:normAutofit fontScale="85000" lnSpcReduction="20000"/>
          </a:bodyPr>
          <a:lstStyle/>
          <a:p>
            <a:r>
              <a:rPr lang="en-IN" sz="2000" b="1" dirty="0"/>
              <a:t>BUSINESS UNDERSTANDING</a:t>
            </a:r>
          </a:p>
          <a:p>
            <a:r>
              <a:rPr lang="en-IN" sz="2000" b="1" dirty="0"/>
              <a:t>BUSINESS OBJECTIVE</a:t>
            </a:r>
          </a:p>
          <a:p>
            <a:r>
              <a:rPr lang="en-IN" sz="2000" b="1" dirty="0"/>
              <a:t>BUSINESS CHALLENGES</a:t>
            </a:r>
          </a:p>
          <a:p>
            <a:r>
              <a:rPr lang="en-IN" sz="2000" b="1" dirty="0"/>
              <a:t>CURRENT SCENARIOS(SEO AUDIT)</a:t>
            </a:r>
          </a:p>
          <a:p>
            <a:r>
              <a:rPr lang="en-IN" sz="2000" b="1" dirty="0"/>
              <a:t>OVERALL SEO AUDIT</a:t>
            </a:r>
          </a:p>
          <a:p>
            <a:r>
              <a:rPr lang="en-IN" sz="2000" b="1" dirty="0"/>
              <a:t>DOMAIN AUTHORITY SCORE</a:t>
            </a:r>
          </a:p>
          <a:p>
            <a:r>
              <a:rPr lang="en-IN" sz="2000" b="1" dirty="0"/>
              <a:t>WEBSITE TRAFFIC ANALYSIS</a:t>
            </a:r>
          </a:p>
          <a:p>
            <a:r>
              <a:rPr lang="en-IN" sz="2000" b="1" dirty="0"/>
              <a:t>WEBSITE ORGANIC TRAFFIC ANALYSIS</a:t>
            </a:r>
          </a:p>
          <a:p>
            <a:r>
              <a:rPr lang="en-IN" sz="2000" b="1" dirty="0"/>
              <a:t>PAGE RENDERING CHECK</a:t>
            </a:r>
          </a:p>
          <a:p>
            <a:r>
              <a:rPr lang="en-IN" sz="2000" b="1" dirty="0"/>
              <a:t>PAGE SPEED CHECK MOBILE</a:t>
            </a:r>
          </a:p>
          <a:p>
            <a:r>
              <a:rPr lang="en-IN" sz="2000" b="1" dirty="0"/>
              <a:t>PAGE SPEED CHECK DESKTOP</a:t>
            </a:r>
          </a:p>
          <a:p>
            <a:r>
              <a:rPr lang="en-IN" sz="2000" b="1" dirty="0"/>
              <a:t>MOBILE FRIENDLINESS TEST</a:t>
            </a:r>
          </a:p>
          <a:p>
            <a:r>
              <a:rPr lang="en-IN" sz="2000" b="1" dirty="0"/>
              <a:t>IMPROVEMENT RECOMMENDATIONS</a:t>
            </a:r>
          </a:p>
          <a:p>
            <a:r>
              <a:rPr lang="en-IN" sz="2000" b="1" dirty="0"/>
              <a:t>SUGGESTIVE KEY IMPROVEMENT AREAS</a:t>
            </a:r>
          </a:p>
          <a:p>
            <a:endParaRPr lang="en-IN" sz="2000" b="1" dirty="0"/>
          </a:p>
          <a:p>
            <a:endParaRPr lang="en-IN" sz="2000" b="1" dirty="0"/>
          </a:p>
          <a:p>
            <a:endParaRPr lang="en-IN" sz="2000" b="1" dirty="0"/>
          </a:p>
        </p:txBody>
      </p:sp>
      <p:sp>
        <p:nvSpPr>
          <p:cNvPr id="5" name="TextBox 4">
            <a:extLst>
              <a:ext uri="{FF2B5EF4-FFF2-40B4-BE49-F238E27FC236}">
                <a16:creationId xmlns:a16="http://schemas.microsoft.com/office/drawing/2014/main" id="{58DB4EAF-1EFA-47A6-B219-079FA2B79CD7}"/>
              </a:ext>
            </a:extLst>
          </p:cNvPr>
          <p:cNvSpPr txBox="1"/>
          <p:nvPr/>
        </p:nvSpPr>
        <p:spPr>
          <a:xfrm>
            <a:off x="4722833" y="1215170"/>
            <a:ext cx="3252247" cy="4801314"/>
          </a:xfrm>
          <a:prstGeom prst="rect">
            <a:avLst/>
          </a:prstGeom>
          <a:noFill/>
        </p:spPr>
        <p:txBody>
          <a:bodyPr wrap="square" rtlCol="0">
            <a:spAutoFit/>
          </a:bodyPr>
          <a:lstStyle/>
          <a:p>
            <a:pPr marL="285750" indent="-285750">
              <a:buFont typeface="Arial" panose="020B0604020202020204" pitchFamily="34" charset="0"/>
              <a:buChar char="•"/>
            </a:pPr>
            <a:r>
              <a:rPr lang="en-IN" sz="1700" b="1" dirty="0"/>
              <a:t>4 PILLARS OF SEO</a:t>
            </a:r>
          </a:p>
          <a:p>
            <a:pPr marL="285750" indent="-285750">
              <a:buFont typeface="Arial" panose="020B0604020202020204" pitchFamily="34" charset="0"/>
              <a:buChar char="•"/>
            </a:pPr>
            <a:r>
              <a:rPr lang="en-IN" sz="1700" b="1" dirty="0"/>
              <a:t>SEO PLAN SUMMARY ACTIVITIES</a:t>
            </a:r>
          </a:p>
          <a:p>
            <a:pPr marL="285750" indent="-285750">
              <a:buFont typeface="Arial" panose="020B0604020202020204" pitchFamily="34" charset="0"/>
              <a:buChar char="•"/>
            </a:pPr>
            <a:r>
              <a:rPr lang="en-IN" sz="1700" b="1" dirty="0"/>
              <a:t>TARGET LOCATION</a:t>
            </a:r>
          </a:p>
          <a:p>
            <a:pPr marL="285750" indent="-285750">
              <a:buFont typeface="Arial" panose="020B0604020202020204" pitchFamily="34" charset="0"/>
              <a:buChar char="•"/>
            </a:pPr>
            <a:r>
              <a:rPr lang="en-IN" sz="1700" b="1" dirty="0"/>
              <a:t>TARGET AUDIENCE</a:t>
            </a:r>
          </a:p>
          <a:p>
            <a:pPr marL="285750" indent="-285750">
              <a:buFont typeface="Arial" panose="020B0604020202020204" pitchFamily="34" charset="0"/>
              <a:buChar char="•"/>
            </a:pPr>
            <a:r>
              <a:rPr lang="en-IN" sz="1700" b="1" dirty="0"/>
              <a:t>TOTAL ADDRESSABLE MARKET (FUNNEL)</a:t>
            </a:r>
          </a:p>
          <a:p>
            <a:pPr marL="285750" indent="-285750">
              <a:buFont typeface="Arial" panose="020B0604020202020204" pitchFamily="34" charset="0"/>
              <a:buChar char="•"/>
            </a:pPr>
            <a:r>
              <a:rPr lang="en-IN" sz="1700" b="1" dirty="0"/>
              <a:t> COMPETITOR ANALYSIS</a:t>
            </a:r>
          </a:p>
          <a:p>
            <a:pPr marL="285750" indent="-285750">
              <a:buFont typeface="Arial" panose="020B0604020202020204" pitchFamily="34" charset="0"/>
              <a:buChar char="•"/>
            </a:pPr>
            <a:r>
              <a:rPr lang="en-IN" sz="1700" b="1" dirty="0"/>
              <a:t>KEYWORD RESEARCH, CLUSTERING, MAPPING</a:t>
            </a:r>
          </a:p>
          <a:p>
            <a:pPr marL="285750" indent="-285750">
              <a:buFont typeface="Arial" panose="020B0604020202020204" pitchFamily="34" charset="0"/>
              <a:buChar char="•"/>
            </a:pPr>
            <a:r>
              <a:rPr lang="en-IN" sz="1700" b="1" dirty="0"/>
              <a:t>STRATEGY/ROADMAP</a:t>
            </a:r>
          </a:p>
          <a:p>
            <a:pPr marL="285750" indent="-285750">
              <a:buFont typeface="Arial" panose="020B0604020202020204" pitchFamily="34" charset="0"/>
              <a:buChar char="•"/>
            </a:pPr>
            <a:r>
              <a:rPr lang="en-IN" sz="1700" b="1" dirty="0"/>
              <a:t>BLOG CONTENT FOR SEO</a:t>
            </a:r>
          </a:p>
          <a:p>
            <a:pPr marL="285750" indent="-285750">
              <a:buFont typeface="Arial" panose="020B0604020202020204" pitchFamily="34" charset="0"/>
              <a:buChar char="•"/>
            </a:pPr>
            <a:r>
              <a:rPr lang="en-IN" sz="1700" b="1" dirty="0"/>
              <a:t>PPC PART ANALYSIS</a:t>
            </a:r>
          </a:p>
          <a:p>
            <a:pPr marL="285750" indent="-285750">
              <a:buFont typeface="Arial" panose="020B0604020202020204" pitchFamily="34" charset="0"/>
              <a:buChar char="•"/>
            </a:pPr>
            <a:r>
              <a:rPr lang="en-IN" sz="1700" b="1" dirty="0"/>
              <a:t>AD COPY DESIGN</a:t>
            </a:r>
          </a:p>
          <a:p>
            <a:pPr marL="285750" indent="-285750">
              <a:buFont typeface="Arial" panose="020B0604020202020204" pitchFamily="34" charset="0"/>
              <a:buChar char="•"/>
            </a:pPr>
            <a:r>
              <a:rPr lang="en-IN" sz="1700" b="1" dirty="0"/>
              <a:t>TYPES OF AD</a:t>
            </a:r>
          </a:p>
          <a:p>
            <a:pPr marL="285750" indent="-285750">
              <a:buFont typeface="Arial" panose="020B0604020202020204" pitchFamily="34" charset="0"/>
              <a:buChar char="•"/>
            </a:pPr>
            <a:r>
              <a:rPr lang="en-IN" sz="1700" b="1" dirty="0"/>
              <a:t>SOCIAL MEDIA TYPES OF AD</a:t>
            </a:r>
          </a:p>
          <a:p>
            <a:pPr marL="285750" indent="-285750">
              <a:buFont typeface="Arial" panose="020B0604020202020204" pitchFamily="34" charset="0"/>
              <a:buChar char="•"/>
            </a:pPr>
            <a:r>
              <a:rPr lang="en-IN" sz="1700" b="1" dirty="0"/>
              <a:t>SOCIAL MEDIA ORGANIC WAY CONTENT CALENDER </a:t>
            </a:r>
          </a:p>
        </p:txBody>
      </p:sp>
      <p:sp>
        <p:nvSpPr>
          <p:cNvPr id="7" name="TextBox 6">
            <a:extLst>
              <a:ext uri="{FF2B5EF4-FFF2-40B4-BE49-F238E27FC236}">
                <a16:creationId xmlns:a16="http://schemas.microsoft.com/office/drawing/2014/main" id="{508660EB-BCE3-4718-A4E0-4FE497C20C81}"/>
              </a:ext>
            </a:extLst>
          </p:cNvPr>
          <p:cNvSpPr txBox="1"/>
          <p:nvPr/>
        </p:nvSpPr>
        <p:spPr>
          <a:xfrm>
            <a:off x="7975076" y="1461155"/>
            <a:ext cx="3704734" cy="2185214"/>
          </a:xfrm>
          <a:prstGeom prst="rect">
            <a:avLst/>
          </a:prstGeom>
          <a:noFill/>
        </p:spPr>
        <p:txBody>
          <a:bodyPr wrap="square" rtlCol="0">
            <a:spAutoFit/>
          </a:bodyPr>
          <a:lstStyle/>
          <a:p>
            <a:pPr marL="285750" indent="-285750">
              <a:buFont typeface="Arial" panose="020B0604020202020204" pitchFamily="34" charset="0"/>
              <a:buChar char="•"/>
            </a:pPr>
            <a:r>
              <a:rPr lang="en-IN" sz="1700" b="1" dirty="0"/>
              <a:t>EMAIL MARKETING</a:t>
            </a:r>
          </a:p>
          <a:p>
            <a:pPr marL="285750" indent="-285750">
              <a:buFont typeface="Arial" panose="020B0604020202020204" pitchFamily="34" charset="0"/>
              <a:buChar char="•"/>
            </a:pPr>
            <a:r>
              <a:rPr lang="en-IN" sz="1700" b="1" dirty="0"/>
              <a:t>WHATSAPP MARKETING</a:t>
            </a:r>
          </a:p>
          <a:p>
            <a:pPr marL="285750" indent="-285750">
              <a:buFont typeface="Arial" panose="020B0604020202020204" pitchFamily="34" charset="0"/>
              <a:buChar char="•"/>
            </a:pPr>
            <a:r>
              <a:rPr lang="en-IN" sz="1700" b="1" dirty="0"/>
              <a:t>SMS MARKETING</a:t>
            </a:r>
          </a:p>
          <a:p>
            <a:pPr marL="285750" indent="-285750">
              <a:buFont typeface="Arial" panose="020B0604020202020204" pitchFamily="34" charset="0"/>
              <a:buChar char="•"/>
            </a:pPr>
            <a:r>
              <a:rPr lang="en-IN" sz="1700" b="1" dirty="0"/>
              <a:t>LANDING PAGE STRUCTURE</a:t>
            </a:r>
          </a:p>
          <a:p>
            <a:pPr marL="285750" indent="-285750">
              <a:buFont typeface="Arial" panose="020B0604020202020204" pitchFamily="34" charset="0"/>
              <a:buChar char="•"/>
            </a:pPr>
            <a:r>
              <a:rPr lang="en-IN" sz="1700" b="1" dirty="0"/>
              <a:t>SEO KPIS TO TRACK</a:t>
            </a:r>
          </a:p>
          <a:p>
            <a:pPr marL="285750" indent="-285750">
              <a:buFont typeface="Arial" panose="020B0604020202020204" pitchFamily="34" charset="0"/>
              <a:buChar char="•"/>
            </a:pPr>
            <a:r>
              <a:rPr lang="en-IN" sz="1700" b="1" dirty="0"/>
              <a:t>ORGANIZATION TEAM STRUCTURE</a:t>
            </a:r>
          </a:p>
          <a:p>
            <a:pPr marL="285750" indent="-285750">
              <a:buFont typeface="Arial" panose="020B0604020202020204" pitchFamily="34" charset="0"/>
              <a:buChar char="•"/>
            </a:pPr>
            <a:r>
              <a:rPr lang="en-IN" sz="1700" b="1" dirty="0"/>
              <a:t>ACCOUNTABILITY</a:t>
            </a:r>
          </a:p>
          <a:p>
            <a:pPr marL="285750" indent="-285750">
              <a:buFont typeface="Arial" panose="020B0604020202020204" pitchFamily="34" charset="0"/>
              <a:buChar char="•"/>
            </a:pPr>
            <a:r>
              <a:rPr lang="en-IN" sz="1700" b="1" dirty="0"/>
              <a:t>ACTIVITIES</a:t>
            </a:r>
          </a:p>
        </p:txBody>
      </p:sp>
      <p:pic>
        <p:nvPicPr>
          <p:cNvPr id="6" name="Picture 5">
            <a:extLst>
              <a:ext uri="{FF2B5EF4-FFF2-40B4-BE49-F238E27FC236}">
                <a16:creationId xmlns:a16="http://schemas.microsoft.com/office/drawing/2014/main" id="{186A56FD-204C-42A0-836D-BA06C75F13A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54082" y="-2441"/>
            <a:ext cx="1337918" cy="941168"/>
          </a:xfrm>
          <a:prstGeom prst="rect">
            <a:avLst/>
          </a:prstGeom>
        </p:spPr>
      </p:pic>
      <p:pic>
        <p:nvPicPr>
          <p:cNvPr id="10" name="Content Placeholder 5">
            <a:extLst>
              <a:ext uri="{FF2B5EF4-FFF2-40B4-BE49-F238E27FC236}">
                <a16:creationId xmlns:a16="http://schemas.microsoft.com/office/drawing/2014/main" id="{3F65F0B8-072B-43E7-9BA9-8BF17A5E96E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429" y="-47135"/>
            <a:ext cx="1131216" cy="948153"/>
          </a:xfrm>
          <a:prstGeom prst="rect">
            <a:avLst/>
          </a:prstGeom>
        </p:spPr>
      </p:pic>
    </p:spTree>
    <p:extLst>
      <p:ext uri="{BB962C8B-B14F-4D97-AF65-F5344CB8AC3E}">
        <p14:creationId xmlns:p14="http://schemas.microsoft.com/office/powerpoint/2010/main" val="36504764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5">
            <a:extLst>
              <a:ext uri="{FF2B5EF4-FFF2-40B4-BE49-F238E27FC236}">
                <a16:creationId xmlns:a16="http://schemas.microsoft.com/office/drawing/2014/main" id="{80837CEE-A4F4-4AB5-B5AD-6772E61F664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429" y="-47135"/>
            <a:ext cx="1131216" cy="948153"/>
          </a:xfrm>
          <a:prstGeom prst="rect">
            <a:avLst/>
          </a:prstGeom>
        </p:spPr>
      </p:pic>
      <p:pic>
        <p:nvPicPr>
          <p:cNvPr id="5" name="Picture 4">
            <a:extLst>
              <a:ext uri="{FF2B5EF4-FFF2-40B4-BE49-F238E27FC236}">
                <a16:creationId xmlns:a16="http://schemas.microsoft.com/office/drawing/2014/main" id="{B232E59F-DF59-4A22-8806-99A3FE3277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854082" y="-2441"/>
            <a:ext cx="1337918" cy="941168"/>
          </a:xfrm>
          <a:prstGeom prst="rect">
            <a:avLst/>
          </a:prstGeom>
        </p:spPr>
      </p:pic>
      <p:sp>
        <p:nvSpPr>
          <p:cNvPr id="6" name="Rectangle 5">
            <a:extLst>
              <a:ext uri="{FF2B5EF4-FFF2-40B4-BE49-F238E27FC236}">
                <a16:creationId xmlns:a16="http://schemas.microsoft.com/office/drawing/2014/main" id="{25E8FB88-F360-4941-B107-DEB9C7319EF5}"/>
              </a:ext>
            </a:extLst>
          </p:cNvPr>
          <p:cNvSpPr/>
          <p:nvPr/>
        </p:nvSpPr>
        <p:spPr>
          <a:xfrm>
            <a:off x="62848" y="938726"/>
            <a:ext cx="4801382" cy="4916695"/>
          </a:xfrm>
          <a:prstGeom prst="rect">
            <a:avLst/>
          </a:prstGeom>
          <a:blipFill dpi="0" rotWithShape="1">
            <a:blip r:embed="rId4">
              <a:extLst>
                <a:ext uri="{28A0092B-C50C-407E-A947-70E740481C1C}">
                  <a14:useLocalDpi xmlns:a14="http://schemas.microsoft.com/office/drawing/2010/main" val="0"/>
                </a:ext>
              </a:extLst>
            </a:blip>
            <a:srcRect/>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TextBox 11">
            <a:extLst>
              <a:ext uri="{FF2B5EF4-FFF2-40B4-BE49-F238E27FC236}">
                <a16:creationId xmlns:a16="http://schemas.microsoft.com/office/drawing/2014/main" id="{EB2EB488-00F6-48CE-8B0A-1A39C5A176F5}"/>
              </a:ext>
            </a:extLst>
          </p:cNvPr>
          <p:cNvSpPr txBox="1"/>
          <p:nvPr/>
        </p:nvSpPr>
        <p:spPr>
          <a:xfrm>
            <a:off x="2969443" y="129841"/>
            <a:ext cx="6579909" cy="461665"/>
          </a:xfrm>
          <a:prstGeom prst="rect">
            <a:avLst/>
          </a:prstGeom>
          <a:noFill/>
        </p:spPr>
        <p:txBody>
          <a:bodyPr wrap="square" rtlCol="0">
            <a:spAutoFit/>
          </a:bodyPr>
          <a:lstStyle/>
          <a:p>
            <a:pPr algn="ctr"/>
            <a:r>
              <a:rPr lang="en-IN" sz="2400" b="1" u="sng" dirty="0">
                <a:latin typeface="Times New Roman" panose="02020603050405020304" pitchFamily="18" charset="0"/>
                <a:cs typeface="Times New Roman" panose="02020603050405020304" pitchFamily="18" charset="0"/>
              </a:rPr>
              <a:t>BUSINESS UNDERSTANDING</a:t>
            </a:r>
          </a:p>
        </p:txBody>
      </p:sp>
      <p:sp>
        <p:nvSpPr>
          <p:cNvPr id="13" name="TextBox 12">
            <a:extLst>
              <a:ext uri="{FF2B5EF4-FFF2-40B4-BE49-F238E27FC236}">
                <a16:creationId xmlns:a16="http://schemas.microsoft.com/office/drawing/2014/main" id="{C715AFDA-9E58-4DF4-92F0-846A8E6FB7C0}"/>
              </a:ext>
            </a:extLst>
          </p:cNvPr>
          <p:cNvSpPr txBox="1"/>
          <p:nvPr/>
        </p:nvSpPr>
        <p:spPr>
          <a:xfrm>
            <a:off x="5762918" y="684003"/>
            <a:ext cx="6366234" cy="9633406"/>
          </a:xfrm>
          <a:prstGeom prst="rect">
            <a:avLst/>
          </a:prstGeom>
          <a:noFill/>
        </p:spPr>
        <p:txBody>
          <a:bodyPr wrap="square" rtlCol="0">
            <a:spAutoFit/>
          </a:bodyPr>
          <a:lstStyle/>
          <a:p>
            <a:r>
              <a:rPr lang="en-IN" b="1" dirty="0"/>
              <a:t>Founded</a:t>
            </a:r>
          </a:p>
          <a:p>
            <a:r>
              <a:rPr lang="en-IN" dirty="0"/>
              <a:t>2015</a:t>
            </a:r>
          </a:p>
          <a:p>
            <a:endParaRPr lang="en-IN" dirty="0"/>
          </a:p>
          <a:p>
            <a:r>
              <a:rPr lang="en-IN" b="1" dirty="0"/>
              <a:t>Founders</a:t>
            </a:r>
          </a:p>
          <a:p>
            <a:r>
              <a:rPr lang="en-IN" dirty="0"/>
              <a:t>Nalini Parthiban &amp; Anand Bharadwaj</a:t>
            </a:r>
          </a:p>
          <a:p>
            <a:endParaRPr lang="en-IN" dirty="0"/>
          </a:p>
          <a:p>
            <a:r>
              <a:rPr lang="en-IN" b="1" dirty="0"/>
              <a:t>Business Model</a:t>
            </a:r>
          </a:p>
          <a:p>
            <a:r>
              <a:rPr lang="en-IN" dirty="0"/>
              <a:t>Direct-to-Consumer (D2C)</a:t>
            </a:r>
          </a:p>
          <a:p>
            <a:endParaRPr lang="en-IN" dirty="0"/>
          </a:p>
          <a:p>
            <a:r>
              <a:rPr lang="en-IN" b="1" dirty="0"/>
              <a:t>Products</a:t>
            </a:r>
          </a:p>
          <a:p>
            <a:r>
              <a:rPr lang="en-IN" dirty="0"/>
              <a:t>South Indian snacks, sweets, filter coffee &amp; traditional foods.</a:t>
            </a:r>
          </a:p>
          <a:p>
            <a:endParaRPr lang="en-IN" dirty="0"/>
          </a:p>
          <a:p>
            <a:r>
              <a:rPr lang="en-IN" b="1" dirty="0"/>
              <a:t>USP</a:t>
            </a:r>
          </a:p>
          <a:p>
            <a:r>
              <a:rPr lang="en-IN" dirty="0"/>
              <a:t>Grandma-inspired recipes, Preservative-free products &amp; authentic South Indian flavours</a:t>
            </a:r>
          </a:p>
          <a:p>
            <a:endParaRPr lang="en-IN" dirty="0"/>
          </a:p>
          <a:p>
            <a:r>
              <a:rPr lang="en-IN" b="1" dirty="0"/>
              <a:t>Audience</a:t>
            </a:r>
          </a:p>
          <a:p>
            <a:r>
              <a:rPr lang="en-IN" dirty="0"/>
              <a:t>Across India &amp; Internationally </a:t>
            </a:r>
          </a:p>
          <a:p>
            <a:endParaRPr lang="en-IN" dirty="0"/>
          </a:p>
          <a:p>
            <a:endParaRPr lang="en-IN" dirty="0"/>
          </a:p>
          <a:p>
            <a:endParaRPr lang="en-IN" sz="2400"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p:txBody>
      </p:sp>
      <p:pic>
        <p:nvPicPr>
          <p:cNvPr id="15" name="Graphic 14" descr="Daily calendar">
            <a:extLst>
              <a:ext uri="{FF2B5EF4-FFF2-40B4-BE49-F238E27FC236}">
                <a16:creationId xmlns:a16="http://schemas.microsoft.com/office/drawing/2014/main" id="{D0ACBB91-6396-4D5F-8A40-F815E95D8AAB}"/>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102260" y="622000"/>
            <a:ext cx="671483" cy="671483"/>
          </a:xfrm>
          <a:prstGeom prst="rect">
            <a:avLst/>
          </a:prstGeom>
          <a:effectLst>
            <a:glow rad="228600">
              <a:schemeClr val="accent4">
                <a:satMod val="175000"/>
                <a:alpha val="40000"/>
              </a:schemeClr>
            </a:glow>
          </a:effectLst>
        </p:spPr>
      </p:pic>
      <p:pic>
        <p:nvPicPr>
          <p:cNvPr id="17" name="Graphic 16" descr="Users">
            <a:extLst>
              <a:ext uri="{FF2B5EF4-FFF2-40B4-BE49-F238E27FC236}">
                <a16:creationId xmlns:a16="http://schemas.microsoft.com/office/drawing/2014/main" id="{D30BDBDA-C46C-49C5-8FAB-ABC7D42F2CDE}"/>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136427" y="1512463"/>
            <a:ext cx="591924" cy="591924"/>
          </a:xfrm>
          <a:prstGeom prst="rect">
            <a:avLst/>
          </a:prstGeom>
          <a:effectLst>
            <a:glow rad="228600">
              <a:schemeClr val="accent2">
                <a:satMod val="175000"/>
                <a:alpha val="40000"/>
              </a:schemeClr>
            </a:glow>
          </a:effectLst>
        </p:spPr>
      </p:pic>
      <p:sp>
        <p:nvSpPr>
          <p:cNvPr id="19" name="Rectangle 18">
            <a:extLst>
              <a:ext uri="{FF2B5EF4-FFF2-40B4-BE49-F238E27FC236}">
                <a16:creationId xmlns:a16="http://schemas.microsoft.com/office/drawing/2014/main" id="{B2984F34-F25F-4ABD-A179-0375F995A8F2}"/>
              </a:ext>
            </a:extLst>
          </p:cNvPr>
          <p:cNvSpPr/>
          <p:nvPr/>
        </p:nvSpPr>
        <p:spPr>
          <a:xfrm>
            <a:off x="9429" y="5893130"/>
            <a:ext cx="12182571" cy="948153"/>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t>                    </a:t>
            </a:r>
            <a:r>
              <a:rPr lang="en-IN" b="1" i="1" dirty="0"/>
              <a:t>MISSION:</a:t>
            </a:r>
            <a:r>
              <a:rPr lang="en-IN" i="1" dirty="0"/>
              <a:t> To Preserve the rich heritage of South Indian cuisine by offering high-quality, preservative-free products with authentic flavours and a seamless online shopping experience.</a:t>
            </a:r>
          </a:p>
        </p:txBody>
      </p:sp>
      <p:pic>
        <p:nvPicPr>
          <p:cNvPr id="21" name="Graphic 20" descr="Shopping cart">
            <a:extLst>
              <a:ext uri="{FF2B5EF4-FFF2-40B4-BE49-F238E27FC236}">
                <a16:creationId xmlns:a16="http://schemas.microsoft.com/office/drawing/2014/main" id="{350CD815-34C9-4C2D-A9C6-5394AB36AFB2}"/>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5158822" y="2351648"/>
            <a:ext cx="591924" cy="591924"/>
          </a:xfrm>
          <a:prstGeom prst="rect">
            <a:avLst/>
          </a:prstGeom>
          <a:effectLst>
            <a:glow rad="228600">
              <a:schemeClr val="accent6">
                <a:satMod val="175000"/>
                <a:alpha val="40000"/>
              </a:schemeClr>
            </a:glow>
          </a:effectLst>
        </p:spPr>
      </p:pic>
      <p:pic>
        <p:nvPicPr>
          <p:cNvPr id="23" name="Graphic 22" descr="Tea">
            <a:extLst>
              <a:ext uri="{FF2B5EF4-FFF2-40B4-BE49-F238E27FC236}">
                <a16:creationId xmlns:a16="http://schemas.microsoft.com/office/drawing/2014/main" id="{2C5A3FAB-C9B6-4D18-98F1-F121FF8D756B}"/>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5126435" y="3151554"/>
            <a:ext cx="591924" cy="591924"/>
          </a:xfrm>
          <a:prstGeom prst="rect">
            <a:avLst/>
          </a:prstGeom>
          <a:effectLst>
            <a:glow rad="228600">
              <a:schemeClr val="accent2">
                <a:satMod val="175000"/>
                <a:alpha val="40000"/>
              </a:schemeClr>
            </a:glow>
          </a:effectLst>
        </p:spPr>
      </p:pic>
      <p:pic>
        <p:nvPicPr>
          <p:cNvPr id="25" name="Graphic 24" descr="Star">
            <a:extLst>
              <a:ext uri="{FF2B5EF4-FFF2-40B4-BE49-F238E27FC236}">
                <a16:creationId xmlns:a16="http://schemas.microsoft.com/office/drawing/2014/main" id="{81E99501-0912-4250-B9A8-E570D1942371}"/>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5101081" y="3918298"/>
            <a:ext cx="591924" cy="591924"/>
          </a:xfrm>
          <a:prstGeom prst="rect">
            <a:avLst/>
          </a:prstGeom>
          <a:effectLst>
            <a:glow rad="228600">
              <a:schemeClr val="accent4">
                <a:satMod val="175000"/>
                <a:alpha val="40000"/>
              </a:schemeClr>
            </a:glow>
          </a:effectLst>
        </p:spPr>
      </p:pic>
      <p:pic>
        <p:nvPicPr>
          <p:cNvPr id="27" name="Graphic 26" descr="World">
            <a:extLst>
              <a:ext uri="{FF2B5EF4-FFF2-40B4-BE49-F238E27FC236}">
                <a16:creationId xmlns:a16="http://schemas.microsoft.com/office/drawing/2014/main" id="{B4084A06-6CD3-4154-A120-841EF5C8BF02}"/>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5064944" y="4989810"/>
            <a:ext cx="671484" cy="671484"/>
          </a:xfrm>
          <a:prstGeom prst="rect">
            <a:avLst/>
          </a:prstGeom>
          <a:effectLst>
            <a:glow rad="228600">
              <a:schemeClr val="accent6">
                <a:satMod val="175000"/>
                <a:alpha val="40000"/>
              </a:schemeClr>
            </a:glow>
          </a:effectLst>
        </p:spPr>
      </p:pic>
      <p:pic>
        <p:nvPicPr>
          <p:cNvPr id="31" name="Graphic 30" descr="Rocket">
            <a:extLst>
              <a:ext uri="{FF2B5EF4-FFF2-40B4-BE49-F238E27FC236}">
                <a16:creationId xmlns:a16="http://schemas.microsoft.com/office/drawing/2014/main" id="{289F90D1-C1F3-4591-B0FC-46422DB324C0}"/>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62848" y="5919274"/>
            <a:ext cx="914400" cy="914400"/>
          </a:xfrm>
          <a:prstGeom prst="rect">
            <a:avLst/>
          </a:prstGeom>
          <a:effectLst>
            <a:glow rad="228600">
              <a:schemeClr val="accent2">
                <a:satMod val="175000"/>
                <a:alpha val="40000"/>
              </a:schemeClr>
            </a:glow>
          </a:effectLst>
        </p:spPr>
      </p:pic>
    </p:spTree>
    <p:extLst>
      <p:ext uri="{BB962C8B-B14F-4D97-AF65-F5344CB8AC3E}">
        <p14:creationId xmlns:p14="http://schemas.microsoft.com/office/powerpoint/2010/main" val="40192977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Content Placeholder 5">
            <a:extLst>
              <a:ext uri="{FF2B5EF4-FFF2-40B4-BE49-F238E27FC236}">
                <a16:creationId xmlns:a16="http://schemas.microsoft.com/office/drawing/2014/main" id="{736427A5-30BC-47D1-AB81-BEA06766729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429" y="9429"/>
            <a:ext cx="1131216" cy="948153"/>
          </a:xfrm>
          <a:prstGeom prst="rect">
            <a:avLst/>
          </a:prstGeom>
        </p:spPr>
      </p:pic>
      <p:pic>
        <p:nvPicPr>
          <p:cNvPr id="3" name="Picture 2">
            <a:extLst>
              <a:ext uri="{FF2B5EF4-FFF2-40B4-BE49-F238E27FC236}">
                <a16:creationId xmlns:a16="http://schemas.microsoft.com/office/drawing/2014/main" id="{D26FFEA5-5EC7-493C-8028-837ECBCE0D6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844354" y="11735"/>
            <a:ext cx="1337918" cy="941168"/>
          </a:xfrm>
          <a:prstGeom prst="rect">
            <a:avLst/>
          </a:prstGeom>
        </p:spPr>
      </p:pic>
      <p:sp>
        <p:nvSpPr>
          <p:cNvPr id="4" name="TextBox 3">
            <a:extLst>
              <a:ext uri="{FF2B5EF4-FFF2-40B4-BE49-F238E27FC236}">
                <a16:creationId xmlns:a16="http://schemas.microsoft.com/office/drawing/2014/main" id="{141A6FE4-299A-461F-A818-89D3A1EC80AF}"/>
              </a:ext>
            </a:extLst>
          </p:cNvPr>
          <p:cNvSpPr txBox="1"/>
          <p:nvPr/>
        </p:nvSpPr>
        <p:spPr>
          <a:xfrm>
            <a:off x="3110845" y="29832"/>
            <a:ext cx="6523349" cy="584775"/>
          </a:xfrm>
          <a:prstGeom prst="rect">
            <a:avLst/>
          </a:prstGeom>
          <a:noFill/>
        </p:spPr>
        <p:txBody>
          <a:bodyPr wrap="square" rtlCol="0">
            <a:spAutoFit/>
          </a:bodyPr>
          <a:lstStyle/>
          <a:p>
            <a:pPr algn="ctr"/>
            <a:r>
              <a:rPr lang="en-IN" sz="3200" b="1" u="sng" dirty="0">
                <a:latin typeface="Georgia" panose="02040502050405020303" pitchFamily="18" charset="0"/>
                <a:cs typeface="Times New Roman" panose="02020603050405020304" pitchFamily="18" charset="0"/>
              </a:rPr>
              <a:t>BUSINESS</a:t>
            </a:r>
            <a:r>
              <a:rPr lang="en-IN" sz="3200" i="1" u="sng" dirty="0">
                <a:latin typeface="Georgia" panose="02040502050405020303" pitchFamily="18" charset="0"/>
                <a:cs typeface="Times New Roman" panose="02020603050405020304" pitchFamily="18" charset="0"/>
              </a:rPr>
              <a:t> </a:t>
            </a:r>
            <a:r>
              <a:rPr lang="en-IN" sz="3200" b="1" u="sng" dirty="0">
                <a:latin typeface="Georgia" panose="02040502050405020303" pitchFamily="18" charset="0"/>
                <a:cs typeface="Times New Roman" panose="02020603050405020304" pitchFamily="18" charset="0"/>
              </a:rPr>
              <a:t>OBJECTIVES</a:t>
            </a:r>
          </a:p>
        </p:txBody>
      </p:sp>
      <p:grpSp>
        <p:nvGrpSpPr>
          <p:cNvPr id="62" name="Group 61">
            <a:extLst>
              <a:ext uri="{FF2B5EF4-FFF2-40B4-BE49-F238E27FC236}">
                <a16:creationId xmlns:a16="http://schemas.microsoft.com/office/drawing/2014/main" id="{65324180-DC65-4FAE-99E2-F3FB2486F076}"/>
              </a:ext>
            </a:extLst>
          </p:cNvPr>
          <p:cNvGrpSpPr/>
          <p:nvPr/>
        </p:nvGrpSpPr>
        <p:grpSpPr>
          <a:xfrm>
            <a:off x="1491928" y="859707"/>
            <a:ext cx="9414883" cy="5721253"/>
            <a:chOff x="3341803" y="689141"/>
            <a:chExt cx="7060675" cy="5363913"/>
          </a:xfrm>
        </p:grpSpPr>
        <p:sp>
          <p:nvSpPr>
            <p:cNvPr id="14" name="Rectangle: Rounded Corners 13">
              <a:extLst>
                <a:ext uri="{FF2B5EF4-FFF2-40B4-BE49-F238E27FC236}">
                  <a16:creationId xmlns:a16="http://schemas.microsoft.com/office/drawing/2014/main" id="{C53BB64E-A949-4A3D-A4C9-5F082D114E3E}"/>
                </a:ext>
              </a:extLst>
            </p:cNvPr>
            <p:cNvSpPr/>
            <p:nvPr/>
          </p:nvSpPr>
          <p:spPr>
            <a:xfrm>
              <a:off x="8069344" y="2895435"/>
              <a:ext cx="2234152" cy="959669"/>
            </a:xfrm>
            <a:prstGeom prst="roundRect">
              <a:avLst/>
            </a:prstGeom>
            <a:ln/>
          </p:spPr>
          <p:style>
            <a:lnRef idx="3">
              <a:schemeClr val="lt1"/>
            </a:lnRef>
            <a:fillRef idx="1">
              <a:schemeClr val="accent4"/>
            </a:fillRef>
            <a:effectRef idx="1">
              <a:schemeClr val="accent4"/>
            </a:effectRef>
            <a:fontRef idx="minor">
              <a:schemeClr val="lt1"/>
            </a:fontRef>
          </p:style>
          <p:txBody>
            <a:bodyPr rtlCol="0" anchor="ctr"/>
            <a:lstStyle/>
            <a:p>
              <a:pPr algn="ctr"/>
              <a:r>
                <a:rPr lang="en-IN" dirty="0"/>
                <a:t>         Preserve Grandma’s Recipes</a:t>
              </a:r>
            </a:p>
          </p:txBody>
        </p:sp>
        <p:sp>
          <p:nvSpPr>
            <p:cNvPr id="5" name="Oval 4">
              <a:extLst>
                <a:ext uri="{FF2B5EF4-FFF2-40B4-BE49-F238E27FC236}">
                  <a16:creationId xmlns:a16="http://schemas.microsoft.com/office/drawing/2014/main" id="{AB8BE2CA-ED27-4B69-BD04-596844DFC6B9}"/>
                </a:ext>
              </a:extLst>
            </p:cNvPr>
            <p:cNvSpPr/>
            <p:nvPr/>
          </p:nvSpPr>
          <p:spPr>
            <a:xfrm>
              <a:off x="5773923" y="2318995"/>
              <a:ext cx="2144594" cy="2139884"/>
            </a:xfrm>
            <a:prstGeom prst="ellipse">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IN" dirty="0"/>
                <a:t>SWEET KARAM COFFEE</a:t>
              </a:r>
            </a:p>
          </p:txBody>
        </p:sp>
        <p:sp>
          <p:nvSpPr>
            <p:cNvPr id="6" name="Rectangle: Rounded Corners 5">
              <a:extLst>
                <a:ext uri="{FF2B5EF4-FFF2-40B4-BE49-F238E27FC236}">
                  <a16:creationId xmlns:a16="http://schemas.microsoft.com/office/drawing/2014/main" id="{9DAE0D34-865F-4CE0-A45A-2B94A334C725}"/>
                </a:ext>
              </a:extLst>
            </p:cNvPr>
            <p:cNvSpPr/>
            <p:nvPr/>
          </p:nvSpPr>
          <p:spPr>
            <a:xfrm>
              <a:off x="5722068" y="895820"/>
              <a:ext cx="2234152" cy="959669"/>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IN" dirty="0"/>
                <a:t> Increase online sales</a:t>
              </a:r>
            </a:p>
          </p:txBody>
        </p:sp>
        <p:sp>
          <p:nvSpPr>
            <p:cNvPr id="8" name="Rectangle: Rounded Corners 7">
              <a:extLst>
                <a:ext uri="{FF2B5EF4-FFF2-40B4-BE49-F238E27FC236}">
                  <a16:creationId xmlns:a16="http://schemas.microsoft.com/office/drawing/2014/main" id="{08F3C9A1-72C2-49AE-8706-3F8A43A7DC38}"/>
                </a:ext>
              </a:extLst>
            </p:cNvPr>
            <p:cNvSpPr/>
            <p:nvPr/>
          </p:nvSpPr>
          <p:spPr>
            <a:xfrm>
              <a:off x="3398364" y="4191800"/>
              <a:ext cx="2234152" cy="959669"/>
            </a:xfrm>
            <a:prstGeom prst="round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en-IN" dirty="0"/>
                <a:t>        Build Customer Trust &amp; Loyalty</a:t>
              </a:r>
            </a:p>
          </p:txBody>
        </p:sp>
        <p:sp>
          <p:nvSpPr>
            <p:cNvPr id="9" name="Rectangle: Rounded Corners 8">
              <a:extLst>
                <a:ext uri="{FF2B5EF4-FFF2-40B4-BE49-F238E27FC236}">
                  <a16:creationId xmlns:a16="http://schemas.microsoft.com/office/drawing/2014/main" id="{7EF9719E-3DCD-443A-8C63-FC02DFCE59DC}"/>
                </a:ext>
              </a:extLst>
            </p:cNvPr>
            <p:cNvSpPr/>
            <p:nvPr/>
          </p:nvSpPr>
          <p:spPr>
            <a:xfrm>
              <a:off x="8041065" y="1740479"/>
              <a:ext cx="2234152" cy="959669"/>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IN" dirty="0"/>
                <a:t>  Expand Brand Reach</a:t>
              </a:r>
            </a:p>
          </p:txBody>
        </p:sp>
        <p:sp>
          <p:nvSpPr>
            <p:cNvPr id="11" name="Rectangle: Rounded Corners 10">
              <a:extLst>
                <a:ext uri="{FF2B5EF4-FFF2-40B4-BE49-F238E27FC236}">
                  <a16:creationId xmlns:a16="http://schemas.microsoft.com/office/drawing/2014/main" id="{4F8981EC-80E9-49F2-B586-A4CB0777AA5D}"/>
                </a:ext>
              </a:extLst>
            </p:cNvPr>
            <p:cNvSpPr/>
            <p:nvPr/>
          </p:nvSpPr>
          <p:spPr>
            <a:xfrm>
              <a:off x="3341803" y="1670410"/>
              <a:ext cx="2234152" cy="959669"/>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IN" dirty="0"/>
                <a:t>     Enhance Shopping Experience</a:t>
              </a:r>
            </a:p>
          </p:txBody>
        </p:sp>
        <p:sp>
          <p:nvSpPr>
            <p:cNvPr id="12" name="Rectangle: Rounded Corners 11">
              <a:extLst>
                <a:ext uri="{FF2B5EF4-FFF2-40B4-BE49-F238E27FC236}">
                  <a16:creationId xmlns:a16="http://schemas.microsoft.com/office/drawing/2014/main" id="{5C4AD67D-D337-44D7-93D1-467407DEBE01}"/>
                </a:ext>
              </a:extLst>
            </p:cNvPr>
            <p:cNvSpPr/>
            <p:nvPr/>
          </p:nvSpPr>
          <p:spPr>
            <a:xfrm>
              <a:off x="8168326" y="4050391"/>
              <a:ext cx="2234152" cy="959669"/>
            </a:xfrm>
            <a:prstGeom prst="round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en-IN" dirty="0"/>
                <a:t>    Deliver Authentic South Indian Flavours</a:t>
              </a:r>
            </a:p>
          </p:txBody>
        </p:sp>
        <p:sp>
          <p:nvSpPr>
            <p:cNvPr id="13" name="Rectangle: Rounded Corners 12">
              <a:extLst>
                <a:ext uri="{FF2B5EF4-FFF2-40B4-BE49-F238E27FC236}">
                  <a16:creationId xmlns:a16="http://schemas.microsoft.com/office/drawing/2014/main" id="{84E7D844-BDE2-4907-958F-1D51875ED1E8}"/>
                </a:ext>
              </a:extLst>
            </p:cNvPr>
            <p:cNvSpPr/>
            <p:nvPr/>
          </p:nvSpPr>
          <p:spPr>
            <a:xfrm>
              <a:off x="3341803" y="2895435"/>
              <a:ext cx="2234152" cy="959669"/>
            </a:xfrm>
            <a:prstGeom prst="roundRect">
              <a:avLst/>
            </a:prstGeom>
          </p:spPr>
          <p:style>
            <a:lnRef idx="3">
              <a:schemeClr val="lt1"/>
            </a:lnRef>
            <a:fillRef idx="1">
              <a:schemeClr val="accent4"/>
            </a:fillRef>
            <a:effectRef idx="1">
              <a:schemeClr val="accent4"/>
            </a:effectRef>
            <a:fontRef idx="minor">
              <a:schemeClr val="lt1"/>
            </a:fontRef>
          </p:style>
          <p:txBody>
            <a:bodyPr rtlCol="0" anchor="ctr"/>
            <a:lstStyle/>
            <a:p>
              <a:pPr algn="ctr"/>
              <a:r>
                <a:rPr lang="en-IN" dirty="0"/>
                <a:t>       Increase Organic Website Traffic</a:t>
              </a:r>
            </a:p>
          </p:txBody>
        </p:sp>
        <p:sp>
          <p:nvSpPr>
            <p:cNvPr id="15" name="Rectangle: Rounded Corners 14">
              <a:extLst>
                <a:ext uri="{FF2B5EF4-FFF2-40B4-BE49-F238E27FC236}">
                  <a16:creationId xmlns:a16="http://schemas.microsoft.com/office/drawing/2014/main" id="{1906307E-9A25-419A-BCB6-A7DFEBE80326}"/>
                </a:ext>
              </a:extLst>
            </p:cNvPr>
            <p:cNvSpPr/>
            <p:nvPr/>
          </p:nvSpPr>
          <p:spPr>
            <a:xfrm>
              <a:off x="5835192" y="5093385"/>
              <a:ext cx="2234152" cy="959669"/>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IN" dirty="0"/>
                <a:t>   Offer Preservative-Free Products</a:t>
              </a:r>
            </a:p>
          </p:txBody>
        </p:sp>
        <p:sp>
          <p:nvSpPr>
            <p:cNvPr id="7" name="Oval 6">
              <a:extLst>
                <a:ext uri="{FF2B5EF4-FFF2-40B4-BE49-F238E27FC236}">
                  <a16:creationId xmlns:a16="http://schemas.microsoft.com/office/drawing/2014/main" id="{E1B7A88A-1578-45CC-8D35-7E38CBFC4C96}"/>
                </a:ext>
              </a:extLst>
            </p:cNvPr>
            <p:cNvSpPr/>
            <p:nvPr/>
          </p:nvSpPr>
          <p:spPr>
            <a:xfrm>
              <a:off x="4408609" y="4050391"/>
              <a:ext cx="301657" cy="279136"/>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IN" dirty="0"/>
                <a:t>6</a:t>
              </a:r>
            </a:p>
          </p:txBody>
        </p:sp>
        <p:sp>
          <p:nvSpPr>
            <p:cNvPr id="16" name="Oval 15">
              <a:extLst>
                <a:ext uri="{FF2B5EF4-FFF2-40B4-BE49-F238E27FC236}">
                  <a16:creationId xmlns:a16="http://schemas.microsoft.com/office/drawing/2014/main" id="{74174F76-490D-4C3B-BF94-8EB48A90F7F0}"/>
                </a:ext>
              </a:extLst>
            </p:cNvPr>
            <p:cNvSpPr/>
            <p:nvPr/>
          </p:nvSpPr>
          <p:spPr>
            <a:xfrm>
              <a:off x="4364611" y="2732854"/>
              <a:ext cx="301657" cy="279136"/>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IN" dirty="0"/>
                <a:t>7</a:t>
              </a:r>
            </a:p>
          </p:txBody>
        </p:sp>
        <p:sp>
          <p:nvSpPr>
            <p:cNvPr id="17" name="Oval 16">
              <a:extLst>
                <a:ext uri="{FF2B5EF4-FFF2-40B4-BE49-F238E27FC236}">
                  <a16:creationId xmlns:a16="http://schemas.microsoft.com/office/drawing/2014/main" id="{E1113130-E190-4501-B3EC-190C4A86DB66}"/>
                </a:ext>
              </a:extLst>
            </p:cNvPr>
            <p:cNvSpPr/>
            <p:nvPr/>
          </p:nvSpPr>
          <p:spPr>
            <a:xfrm>
              <a:off x="4324544" y="1475885"/>
              <a:ext cx="301657" cy="279136"/>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IN" dirty="0"/>
                <a:t>8</a:t>
              </a:r>
            </a:p>
          </p:txBody>
        </p:sp>
        <p:sp>
          <p:nvSpPr>
            <p:cNvPr id="18" name="Oval 17">
              <a:extLst>
                <a:ext uri="{FF2B5EF4-FFF2-40B4-BE49-F238E27FC236}">
                  <a16:creationId xmlns:a16="http://schemas.microsoft.com/office/drawing/2014/main" id="{C15489D2-FD77-47D7-B7EE-65D137F5BF9A}"/>
                </a:ext>
              </a:extLst>
            </p:cNvPr>
            <p:cNvSpPr/>
            <p:nvPr/>
          </p:nvSpPr>
          <p:spPr>
            <a:xfrm>
              <a:off x="9133002" y="3927565"/>
              <a:ext cx="301657" cy="279136"/>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IN" dirty="0"/>
                <a:t>4</a:t>
              </a:r>
            </a:p>
          </p:txBody>
        </p:sp>
        <p:sp>
          <p:nvSpPr>
            <p:cNvPr id="19" name="Oval 18">
              <a:extLst>
                <a:ext uri="{FF2B5EF4-FFF2-40B4-BE49-F238E27FC236}">
                  <a16:creationId xmlns:a16="http://schemas.microsoft.com/office/drawing/2014/main" id="{8D695EEB-D01D-446E-8DC2-C3DB77B27341}"/>
                </a:ext>
              </a:extLst>
            </p:cNvPr>
            <p:cNvSpPr/>
            <p:nvPr/>
          </p:nvSpPr>
          <p:spPr>
            <a:xfrm>
              <a:off x="9074082" y="2755867"/>
              <a:ext cx="301657" cy="279136"/>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IN" dirty="0"/>
                <a:t>3</a:t>
              </a:r>
            </a:p>
          </p:txBody>
        </p:sp>
        <p:sp>
          <p:nvSpPr>
            <p:cNvPr id="20" name="Oval 19">
              <a:extLst>
                <a:ext uri="{FF2B5EF4-FFF2-40B4-BE49-F238E27FC236}">
                  <a16:creationId xmlns:a16="http://schemas.microsoft.com/office/drawing/2014/main" id="{BE62CDCD-D62E-4F7C-AD6E-BCDFEBA60B7A}"/>
                </a:ext>
              </a:extLst>
            </p:cNvPr>
            <p:cNvSpPr/>
            <p:nvPr/>
          </p:nvSpPr>
          <p:spPr>
            <a:xfrm>
              <a:off x="6650611" y="689141"/>
              <a:ext cx="301657" cy="279136"/>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IN" dirty="0"/>
                <a:t>1</a:t>
              </a:r>
            </a:p>
          </p:txBody>
        </p:sp>
        <p:sp>
          <p:nvSpPr>
            <p:cNvPr id="21" name="Oval 20">
              <a:extLst>
                <a:ext uri="{FF2B5EF4-FFF2-40B4-BE49-F238E27FC236}">
                  <a16:creationId xmlns:a16="http://schemas.microsoft.com/office/drawing/2014/main" id="{F85CF158-84B2-452F-9171-FFF757B46370}"/>
                </a:ext>
              </a:extLst>
            </p:cNvPr>
            <p:cNvSpPr/>
            <p:nvPr/>
          </p:nvSpPr>
          <p:spPr>
            <a:xfrm>
              <a:off x="8951534" y="1530842"/>
              <a:ext cx="301657" cy="279136"/>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IN" dirty="0"/>
                <a:t>2</a:t>
              </a:r>
            </a:p>
          </p:txBody>
        </p:sp>
        <p:sp>
          <p:nvSpPr>
            <p:cNvPr id="22" name="Oval 21">
              <a:extLst>
                <a:ext uri="{FF2B5EF4-FFF2-40B4-BE49-F238E27FC236}">
                  <a16:creationId xmlns:a16="http://schemas.microsoft.com/office/drawing/2014/main" id="{F8A8BDE2-295E-4F56-81C9-5B00BA6D27F4}"/>
                </a:ext>
              </a:extLst>
            </p:cNvPr>
            <p:cNvSpPr/>
            <p:nvPr/>
          </p:nvSpPr>
          <p:spPr>
            <a:xfrm>
              <a:off x="6835227" y="4953817"/>
              <a:ext cx="301657" cy="279136"/>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IN" dirty="0"/>
                <a:t>5</a:t>
              </a:r>
            </a:p>
          </p:txBody>
        </p:sp>
        <p:pic>
          <p:nvPicPr>
            <p:cNvPr id="26" name="Graphic 25" descr="Shopping cart">
              <a:extLst>
                <a:ext uri="{FF2B5EF4-FFF2-40B4-BE49-F238E27FC236}">
                  <a16:creationId xmlns:a16="http://schemas.microsoft.com/office/drawing/2014/main" id="{A3B3BE51-0694-4AD0-9C77-C40BED0DF5D1}"/>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797488" y="1093584"/>
              <a:ext cx="325225" cy="462805"/>
            </a:xfrm>
            <a:prstGeom prst="rect">
              <a:avLst/>
            </a:prstGeom>
          </p:spPr>
        </p:pic>
        <p:pic>
          <p:nvPicPr>
            <p:cNvPr id="28" name="Graphic 27" descr="World">
              <a:extLst>
                <a:ext uri="{FF2B5EF4-FFF2-40B4-BE49-F238E27FC236}">
                  <a16:creationId xmlns:a16="http://schemas.microsoft.com/office/drawing/2014/main" id="{ECA76B5D-13D7-41C4-A03A-B135032F3D78}"/>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055207" y="1978959"/>
              <a:ext cx="457200" cy="457200"/>
            </a:xfrm>
            <a:prstGeom prst="rect">
              <a:avLst/>
            </a:prstGeom>
          </p:spPr>
        </p:pic>
        <p:pic>
          <p:nvPicPr>
            <p:cNvPr id="30" name="Graphic 29" descr="Sunglasses face with solid fill">
              <a:extLst>
                <a:ext uri="{FF2B5EF4-FFF2-40B4-BE49-F238E27FC236}">
                  <a16:creationId xmlns:a16="http://schemas.microsoft.com/office/drawing/2014/main" id="{27470C72-6AEE-4779-85FA-E07BBF131E46}"/>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199757" y="3027647"/>
              <a:ext cx="457200" cy="457200"/>
            </a:xfrm>
            <a:prstGeom prst="rect">
              <a:avLst/>
            </a:prstGeom>
          </p:spPr>
        </p:pic>
        <p:pic>
          <p:nvPicPr>
            <p:cNvPr id="42" name="Graphic 41" descr="Coffee">
              <a:extLst>
                <a:ext uri="{FF2B5EF4-FFF2-40B4-BE49-F238E27FC236}">
                  <a16:creationId xmlns:a16="http://schemas.microsoft.com/office/drawing/2014/main" id="{26A1AB61-7A47-455C-978D-8C9ED2B713A9}"/>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5846850" y="5371973"/>
              <a:ext cx="472257" cy="464207"/>
            </a:xfrm>
            <a:prstGeom prst="rect">
              <a:avLst/>
            </a:prstGeom>
          </p:spPr>
        </p:pic>
        <p:pic>
          <p:nvPicPr>
            <p:cNvPr id="44" name="Graphic 43" descr="Bowl">
              <a:extLst>
                <a:ext uri="{FF2B5EF4-FFF2-40B4-BE49-F238E27FC236}">
                  <a16:creationId xmlns:a16="http://schemas.microsoft.com/office/drawing/2014/main" id="{85B5AE76-CEAE-43E0-8A97-A8DDA8028B1A}"/>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8192170" y="4408479"/>
              <a:ext cx="390937" cy="390937"/>
            </a:xfrm>
            <a:prstGeom prst="rect">
              <a:avLst/>
            </a:prstGeom>
          </p:spPr>
        </p:pic>
        <p:pic>
          <p:nvPicPr>
            <p:cNvPr id="46" name="Graphic 45" descr="Cycle with people">
              <a:extLst>
                <a:ext uri="{FF2B5EF4-FFF2-40B4-BE49-F238E27FC236}">
                  <a16:creationId xmlns:a16="http://schemas.microsoft.com/office/drawing/2014/main" id="{F29C90F0-BDE9-4BB5-9AE3-031C5645BCBC}"/>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3375278" y="4316562"/>
              <a:ext cx="584775" cy="584775"/>
            </a:xfrm>
            <a:prstGeom prst="rect">
              <a:avLst/>
            </a:prstGeom>
          </p:spPr>
        </p:pic>
        <p:pic>
          <p:nvPicPr>
            <p:cNvPr id="48" name="Graphic 47" descr="Bar graph with upward trend">
              <a:extLst>
                <a:ext uri="{FF2B5EF4-FFF2-40B4-BE49-F238E27FC236}">
                  <a16:creationId xmlns:a16="http://schemas.microsoft.com/office/drawing/2014/main" id="{0011730F-A550-47BE-B6AA-7D34C0CFEC27}"/>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3391293" y="3075768"/>
              <a:ext cx="457200" cy="457200"/>
            </a:xfrm>
            <a:prstGeom prst="rect">
              <a:avLst/>
            </a:prstGeom>
          </p:spPr>
        </p:pic>
        <p:pic>
          <p:nvPicPr>
            <p:cNvPr id="58" name="Graphic 57" descr="Internet">
              <a:extLst>
                <a:ext uri="{FF2B5EF4-FFF2-40B4-BE49-F238E27FC236}">
                  <a16:creationId xmlns:a16="http://schemas.microsoft.com/office/drawing/2014/main" id="{5A4384E2-E414-42D2-9401-281FE6C193AC}"/>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3374900" y="1740235"/>
              <a:ext cx="537149" cy="537149"/>
            </a:xfrm>
            <a:prstGeom prst="rect">
              <a:avLst/>
            </a:prstGeom>
          </p:spPr>
        </p:pic>
      </p:grpSp>
    </p:spTree>
    <p:extLst>
      <p:ext uri="{BB962C8B-B14F-4D97-AF65-F5344CB8AC3E}">
        <p14:creationId xmlns:p14="http://schemas.microsoft.com/office/powerpoint/2010/main" val="39419753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7701721-7C19-4EFE-AEF5-957B4DE42DAD}"/>
              </a:ext>
            </a:extLst>
          </p:cNvPr>
          <p:cNvSpPr txBox="1"/>
          <p:nvPr/>
        </p:nvSpPr>
        <p:spPr>
          <a:xfrm>
            <a:off x="3761290" y="367429"/>
            <a:ext cx="5401561" cy="584775"/>
          </a:xfrm>
          <a:prstGeom prst="rect">
            <a:avLst/>
          </a:prstGeom>
          <a:noFill/>
        </p:spPr>
        <p:txBody>
          <a:bodyPr wrap="square" rtlCol="0">
            <a:spAutoFit/>
          </a:bodyPr>
          <a:lstStyle/>
          <a:p>
            <a:pPr algn="ctr"/>
            <a:r>
              <a:rPr lang="en-IN" sz="3200" b="1" u="sng" dirty="0">
                <a:solidFill>
                  <a:schemeClr val="accent2">
                    <a:lumMod val="50000"/>
                  </a:schemeClr>
                </a:solidFill>
                <a:latin typeface="Algerian" panose="04020705040A02060702" pitchFamily="82" charset="0"/>
              </a:rPr>
              <a:t>BUSINESS CHALLENGES</a:t>
            </a:r>
          </a:p>
        </p:txBody>
      </p:sp>
      <p:sp>
        <p:nvSpPr>
          <p:cNvPr id="3" name="Rectangle 2">
            <a:extLst>
              <a:ext uri="{FF2B5EF4-FFF2-40B4-BE49-F238E27FC236}">
                <a16:creationId xmlns:a16="http://schemas.microsoft.com/office/drawing/2014/main" id="{BCC1F505-4103-4E33-8E72-0DF6C5ED50FA}"/>
              </a:ext>
            </a:extLst>
          </p:cNvPr>
          <p:cNvSpPr/>
          <p:nvPr/>
        </p:nvSpPr>
        <p:spPr>
          <a:xfrm>
            <a:off x="9429" y="5893130"/>
            <a:ext cx="12182571" cy="948153"/>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t>                    </a:t>
            </a:r>
            <a:r>
              <a:rPr lang="en-IN" b="1" i="1" dirty="0"/>
              <a:t>MISSION:</a:t>
            </a:r>
            <a:r>
              <a:rPr lang="en-IN" i="1" dirty="0"/>
              <a:t> To Preserve the rich heritage of South Indian cuisine by offering high-quality, preservative-free products with authentic flavours and a seamless online shopping experience.</a:t>
            </a:r>
          </a:p>
        </p:txBody>
      </p:sp>
      <p:pic>
        <p:nvPicPr>
          <p:cNvPr id="4" name="Graphic 3" descr="Rocket">
            <a:extLst>
              <a:ext uri="{FF2B5EF4-FFF2-40B4-BE49-F238E27FC236}">
                <a16:creationId xmlns:a16="http://schemas.microsoft.com/office/drawing/2014/main" id="{C0121C90-F2A2-449F-8777-CCF050285BB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55079" y="6004948"/>
            <a:ext cx="828726" cy="828726"/>
          </a:xfrm>
          <a:prstGeom prst="rect">
            <a:avLst/>
          </a:prstGeom>
          <a:effectLst>
            <a:glow rad="228600">
              <a:schemeClr val="accent2">
                <a:satMod val="175000"/>
                <a:alpha val="40000"/>
              </a:schemeClr>
            </a:glow>
          </a:effectLst>
        </p:spPr>
      </p:pic>
      <p:pic>
        <p:nvPicPr>
          <p:cNvPr id="5" name="Content Placeholder 5">
            <a:extLst>
              <a:ext uri="{FF2B5EF4-FFF2-40B4-BE49-F238E27FC236}">
                <a16:creationId xmlns:a16="http://schemas.microsoft.com/office/drawing/2014/main" id="{82764A9E-DBF0-4B36-86CD-85466F7173D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429" y="9429"/>
            <a:ext cx="1131216" cy="948153"/>
          </a:xfrm>
          <a:prstGeom prst="rect">
            <a:avLst/>
          </a:prstGeom>
        </p:spPr>
      </p:pic>
      <p:pic>
        <p:nvPicPr>
          <p:cNvPr id="7" name="Picture 6">
            <a:extLst>
              <a:ext uri="{FF2B5EF4-FFF2-40B4-BE49-F238E27FC236}">
                <a16:creationId xmlns:a16="http://schemas.microsoft.com/office/drawing/2014/main" id="{0BC7FAA0-AF1B-4343-BD77-87447E2EDF7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844354" y="11735"/>
            <a:ext cx="1337918" cy="941168"/>
          </a:xfrm>
          <a:prstGeom prst="rect">
            <a:avLst/>
          </a:prstGeom>
        </p:spPr>
      </p:pic>
      <p:grpSp>
        <p:nvGrpSpPr>
          <p:cNvPr id="15" name="Group 14">
            <a:extLst>
              <a:ext uri="{FF2B5EF4-FFF2-40B4-BE49-F238E27FC236}">
                <a16:creationId xmlns:a16="http://schemas.microsoft.com/office/drawing/2014/main" id="{00A7068C-59B8-43D4-ADF4-D45B023192BA}"/>
              </a:ext>
            </a:extLst>
          </p:cNvPr>
          <p:cNvGrpSpPr/>
          <p:nvPr/>
        </p:nvGrpSpPr>
        <p:grpSpPr>
          <a:xfrm>
            <a:off x="716394" y="2017336"/>
            <a:ext cx="11475605" cy="2469823"/>
            <a:chOff x="716395" y="2572088"/>
            <a:chExt cx="11246218" cy="1458009"/>
          </a:xfrm>
        </p:grpSpPr>
        <p:sp>
          <p:nvSpPr>
            <p:cNvPr id="16" name="Freeform: Shape 15">
              <a:extLst>
                <a:ext uri="{FF2B5EF4-FFF2-40B4-BE49-F238E27FC236}">
                  <a16:creationId xmlns:a16="http://schemas.microsoft.com/office/drawing/2014/main" id="{3704A4D5-4B33-4241-91F7-5D8328C3DECD}"/>
                </a:ext>
              </a:extLst>
            </p:cNvPr>
            <p:cNvSpPr/>
            <p:nvPr/>
          </p:nvSpPr>
          <p:spPr>
            <a:xfrm>
              <a:off x="716395" y="2572088"/>
              <a:ext cx="4441327" cy="1458009"/>
            </a:xfrm>
            <a:custGeom>
              <a:avLst/>
              <a:gdLst>
                <a:gd name="connsiteX0" fmla="*/ 0 w 4441327"/>
                <a:gd name="connsiteY0" fmla="*/ 0 h 1458009"/>
                <a:gd name="connsiteX1" fmla="*/ 3712323 w 4441327"/>
                <a:gd name="connsiteY1" fmla="*/ 0 h 1458009"/>
                <a:gd name="connsiteX2" fmla="*/ 4441327 w 4441327"/>
                <a:gd name="connsiteY2" fmla="*/ 729005 h 1458009"/>
                <a:gd name="connsiteX3" fmla="*/ 3712323 w 4441327"/>
                <a:gd name="connsiteY3" fmla="*/ 1458009 h 1458009"/>
                <a:gd name="connsiteX4" fmla="*/ 0 w 4441327"/>
                <a:gd name="connsiteY4" fmla="*/ 1458009 h 1458009"/>
                <a:gd name="connsiteX5" fmla="*/ 729005 w 4441327"/>
                <a:gd name="connsiteY5" fmla="*/ 729005 h 1458009"/>
                <a:gd name="connsiteX6" fmla="*/ 0 w 4441327"/>
                <a:gd name="connsiteY6" fmla="*/ 0 h 14580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41327" h="1458009">
                  <a:moveTo>
                    <a:pt x="0" y="0"/>
                  </a:moveTo>
                  <a:lnTo>
                    <a:pt x="3712323" y="0"/>
                  </a:lnTo>
                  <a:lnTo>
                    <a:pt x="4441327" y="729005"/>
                  </a:lnTo>
                  <a:lnTo>
                    <a:pt x="3712323" y="1458009"/>
                  </a:lnTo>
                  <a:lnTo>
                    <a:pt x="0" y="1458009"/>
                  </a:lnTo>
                  <a:lnTo>
                    <a:pt x="729005" y="729005"/>
                  </a:lnTo>
                  <a:lnTo>
                    <a:pt x="0" y="0"/>
                  </a:lnTo>
                  <a:close/>
                </a:path>
              </a:pathLst>
            </a:custGeom>
            <a:solidFill>
              <a:schemeClr val="accent2">
                <a:lumMod val="50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961034" tIns="77343" rIns="806347" bIns="77343" numCol="1" spcCol="1270" anchor="ctr" anchorCtr="0">
              <a:noAutofit/>
            </a:bodyPr>
            <a:lstStyle/>
            <a:p>
              <a:pPr marL="0" lvl="0" indent="0" algn="l" defTabSz="2578100">
                <a:lnSpc>
                  <a:spcPct val="90000"/>
                </a:lnSpc>
                <a:spcBef>
                  <a:spcPct val="0"/>
                </a:spcBef>
                <a:spcAft>
                  <a:spcPct val="35000"/>
                </a:spcAft>
                <a:buNone/>
              </a:pPr>
              <a:endParaRPr lang="en-IN" sz="5800" kern="1200" dirty="0"/>
            </a:p>
          </p:txBody>
        </p:sp>
        <p:sp>
          <p:nvSpPr>
            <p:cNvPr id="17" name="Freeform: Shape 16">
              <a:extLst>
                <a:ext uri="{FF2B5EF4-FFF2-40B4-BE49-F238E27FC236}">
                  <a16:creationId xmlns:a16="http://schemas.microsoft.com/office/drawing/2014/main" id="{9A1FDD21-9867-49BE-8BD1-6B5856EFBDE4}"/>
                </a:ext>
              </a:extLst>
            </p:cNvPr>
            <p:cNvSpPr/>
            <p:nvPr/>
          </p:nvSpPr>
          <p:spPr>
            <a:xfrm>
              <a:off x="4704186" y="2592971"/>
              <a:ext cx="4146240" cy="1359516"/>
            </a:xfrm>
            <a:custGeom>
              <a:avLst/>
              <a:gdLst>
                <a:gd name="connsiteX0" fmla="*/ 0 w 4146240"/>
                <a:gd name="connsiteY0" fmla="*/ 0 h 1359516"/>
                <a:gd name="connsiteX1" fmla="*/ 3466482 w 4146240"/>
                <a:gd name="connsiteY1" fmla="*/ 0 h 1359516"/>
                <a:gd name="connsiteX2" fmla="*/ 4146240 w 4146240"/>
                <a:gd name="connsiteY2" fmla="*/ 679758 h 1359516"/>
                <a:gd name="connsiteX3" fmla="*/ 3466482 w 4146240"/>
                <a:gd name="connsiteY3" fmla="*/ 1359516 h 1359516"/>
                <a:gd name="connsiteX4" fmla="*/ 0 w 4146240"/>
                <a:gd name="connsiteY4" fmla="*/ 1359516 h 1359516"/>
                <a:gd name="connsiteX5" fmla="*/ 679758 w 4146240"/>
                <a:gd name="connsiteY5" fmla="*/ 679758 h 1359516"/>
                <a:gd name="connsiteX6" fmla="*/ 0 w 4146240"/>
                <a:gd name="connsiteY6" fmla="*/ 0 h 1359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46240" h="1359516">
                  <a:moveTo>
                    <a:pt x="0" y="0"/>
                  </a:moveTo>
                  <a:lnTo>
                    <a:pt x="3466482" y="0"/>
                  </a:lnTo>
                  <a:lnTo>
                    <a:pt x="4146240" y="679758"/>
                  </a:lnTo>
                  <a:lnTo>
                    <a:pt x="3466482" y="1359516"/>
                  </a:lnTo>
                  <a:lnTo>
                    <a:pt x="0" y="1359516"/>
                  </a:lnTo>
                  <a:lnTo>
                    <a:pt x="679758" y="679758"/>
                  </a:lnTo>
                  <a:lnTo>
                    <a:pt x="0" y="0"/>
                  </a:lnTo>
                  <a:close/>
                </a:path>
              </a:pathLst>
            </a:custGeom>
            <a:solidFill>
              <a:schemeClr val="accent2">
                <a:lumMod val="50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939791" tIns="86678" rIns="766436" bIns="86678" numCol="1" spcCol="1270" anchor="ctr" anchorCtr="0">
              <a:noAutofit/>
            </a:bodyPr>
            <a:lstStyle/>
            <a:p>
              <a:pPr marL="0" lvl="0" indent="0" algn="ctr" defTabSz="2889250">
                <a:lnSpc>
                  <a:spcPct val="90000"/>
                </a:lnSpc>
                <a:spcBef>
                  <a:spcPct val="0"/>
                </a:spcBef>
                <a:spcAft>
                  <a:spcPct val="35000"/>
                </a:spcAft>
                <a:buNone/>
              </a:pPr>
              <a:endParaRPr lang="en-IN" sz="6500" kern="1200" dirty="0"/>
            </a:p>
          </p:txBody>
        </p:sp>
        <p:sp>
          <p:nvSpPr>
            <p:cNvPr id="18" name="Freeform: Shape 17">
              <a:extLst>
                <a:ext uri="{FF2B5EF4-FFF2-40B4-BE49-F238E27FC236}">
                  <a16:creationId xmlns:a16="http://schemas.microsoft.com/office/drawing/2014/main" id="{41DFC837-E424-4539-BA02-946F4D82AC53}"/>
                </a:ext>
              </a:extLst>
            </p:cNvPr>
            <p:cNvSpPr/>
            <p:nvPr/>
          </p:nvSpPr>
          <p:spPr>
            <a:xfrm>
              <a:off x="8420390" y="2581370"/>
              <a:ext cx="3542223" cy="1382718"/>
            </a:xfrm>
            <a:custGeom>
              <a:avLst/>
              <a:gdLst>
                <a:gd name="connsiteX0" fmla="*/ 0 w 3542223"/>
                <a:gd name="connsiteY0" fmla="*/ 0 h 1382718"/>
                <a:gd name="connsiteX1" fmla="*/ 2850864 w 3542223"/>
                <a:gd name="connsiteY1" fmla="*/ 0 h 1382718"/>
                <a:gd name="connsiteX2" fmla="*/ 3542223 w 3542223"/>
                <a:gd name="connsiteY2" fmla="*/ 691359 h 1382718"/>
                <a:gd name="connsiteX3" fmla="*/ 2850864 w 3542223"/>
                <a:gd name="connsiteY3" fmla="*/ 1382718 h 1382718"/>
                <a:gd name="connsiteX4" fmla="*/ 0 w 3542223"/>
                <a:gd name="connsiteY4" fmla="*/ 1382718 h 1382718"/>
                <a:gd name="connsiteX5" fmla="*/ 691359 w 3542223"/>
                <a:gd name="connsiteY5" fmla="*/ 691359 h 1382718"/>
                <a:gd name="connsiteX6" fmla="*/ 0 w 3542223"/>
                <a:gd name="connsiteY6" fmla="*/ 0 h 13827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42223" h="1382718">
                  <a:moveTo>
                    <a:pt x="0" y="0"/>
                  </a:moveTo>
                  <a:lnTo>
                    <a:pt x="2850864" y="0"/>
                  </a:lnTo>
                  <a:lnTo>
                    <a:pt x="3542223" y="691359"/>
                  </a:lnTo>
                  <a:lnTo>
                    <a:pt x="2850864" y="1382718"/>
                  </a:lnTo>
                  <a:lnTo>
                    <a:pt x="0" y="1382718"/>
                  </a:lnTo>
                  <a:lnTo>
                    <a:pt x="691359" y="691359"/>
                  </a:lnTo>
                  <a:lnTo>
                    <a:pt x="0" y="0"/>
                  </a:lnTo>
                  <a:close/>
                </a:path>
              </a:pathLst>
            </a:custGeom>
            <a:solidFill>
              <a:schemeClr val="accent2">
                <a:lumMod val="50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951392" tIns="86678" rIns="778037" bIns="86678" numCol="1" spcCol="1270" anchor="ctr" anchorCtr="0">
              <a:noAutofit/>
            </a:bodyPr>
            <a:lstStyle/>
            <a:p>
              <a:pPr marL="0" lvl="0" indent="0" algn="ctr" defTabSz="2889250">
                <a:lnSpc>
                  <a:spcPct val="90000"/>
                </a:lnSpc>
                <a:spcBef>
                  <a:spcPct val="0"/>
                </a:spcBef>
                <a:spcAft>
                  <a:spcPct val="35000"/>
                </a:spcAft>
                <a:buNone/>
              </a:pPr>
              <a:endParaRPr lang="en-IN" sz="6500" kern="1200" dirty="0"/>
            </a:p>
          </p:txBody>
        </p:sp>
      </p:grpSp>
      <p:sp>
        <p:nvSpPr>
          <p:cNvPr id="11" name="TextBox 10">
            <a:extLst>
              <a:ext uri="{FF2B5EF4-FFF2-40B4-BE49-F238E27FC236}">
                <a16:creationId xmlns:a16="http://schemas.microsoft.com/office/drawing/2014/main" id="{3FD78645-EFF4-4063-B983-BBCC59282E48}"/>
              </a:ext>
            </a:extLst>
          </p:cNvPr>
          <p:cNvSpPr txBox="1"/>
          <p:nvPr/>
        </p:nvSpPr>
        <p:spPr>
          <a:xfrm>
            <a:off x="1461156" y="2671868"/>
            <a:ext cx="3318239" cy="1231106"/>
          </a:xfrm>
          <a:prstGeom prst="rect">
            <a:avLst/>
          </a:prstGeom>
          <a:noFill/>
        </p:spPr>
        <p:txBody>
          <a:bodyPr wrap="square" rtlCol="0">
            <a:spAutoFit/>
          </a:bodyPr>
          <a:lstStyle/>
          <a:p>
            <a:r>
              <a:rPr lang="en-US" sz="2000" b="1" dirty="0">
                <a:solidFill>
                  <a:schemeClr val="bg1"/>
                </a:solidFill>
              </a:rPr>
              <a:t>Increase Online Visibility</a:t>
            </a:r>
            <a:br>
              <a:rPr lang="en-US" dirty="0"/>
            </a:br>
            <a:r>
              <a:rPr lang="en-US" dirty="0">
                <a:solidFill>
                  <a:schemeClr val="bg1"/>
                </a:solidFill>
              </a:rPr>
              <a:t>Reach more potential customers through search engines and digital channels.</a:t>
            </a:r>
            <a:endParaRPr lang="en-IN" dirty="0">
              <a:solidFill>
                <a:schemeClr val="bg1"/>
              </a:solidFill>
            </a:endParaRPr>
          </a:p>
        </p:txBody>
      </p:sp>
      <p:sp>
        <p:nvSpPr>
          <p:cNvPr id="12" name="TextBox 11">
            <a:extLst>
              <a:ext uri="{FF2B5EF4-FFF2-40B4-BE49-F238E27FC236}">
                <a16:creationId xmlns:a16="http://schemas.microsoft.com/office/drawing/2014/main" id="{7264E4EB-3D98-4879-B103-22F867B1039C}"/>
              </a:ext>
            </a:extLst>
          </p:cNvPr>
          <p:cNvSpPr txBox="1"/>
          <p:nvPr/>
        </p:nvSpPr>
        <p:spPr>
          <a:xfrm>
            <a:off x="9284416" y="2727146"/>
            <a:ext cx="2922309" cy="954107"/>
          </a:xfrm>
          <a:prstGeom prst="rect">
            <a:avLst/>
          </a:prstGeom>
          <a:noFill/>
        </p:spPr>
        <p:txBody>
          <a:bodyPr wrap="square" rtlCol="0">
            <a:spAutoFit/>
          </a:bodyPr>
          <a:lstStyle/>
          <a:p>
            <a:r>
              <a:rPr lang="en-US" sz="2000" b="1" dirty="0">
                <a:solidFill>
                  <a:schemeClr val="bg1"/>
                </a:solidFill>
              </a:rPr>
              <a:t>Strong competition </a:t>
            </a:r>
          </a:p>
          <a:p>
            <a:r>
              <a:rPr lang="en-US" dirty="0">
                <a:solidFill>
                  <a:schemeClr val="bg1"/>
                </a:solidFill>
              </a:rPr>
              <a:t>from other online sweets and snack brands.</a:t>
            </a:r>
            <a:endParaRPr lang="en-IN" dirty="0">
              <a:solidFill>
                <a:schemeClr val="bg1"/>
              </a:solidFill>
            </a:endParaRPr>
          </a:p>
        </p:txBody>
      </p:sp>
      <p:sp>
        <p:nvSpPr>
          <p:cNvPr id="14" name="TextBox 13">
            <a:extLst>
              <a:ext uri="{FF2B5EF4-FFF2-40B4-BE49-F238E27FC236}">
                <a16:creationId xmlns:a16="http://schemas.microsoft.com/office/drawing/2014/main" id="{4AB07504-714A-4919-8D41-B8F928D5EF21}"/>
              </a:ext>
            </a:extLst>
          </p:cNvPr>
          <p:cNvSpPr txBox="1"/>
          <p:nvPr/>
        </p:nvSpPr>
        <p:spPr>
          <a:xfrm>
            <a:off x="5476971" y="2658358"/>
            <a:ext cx="3007150" cy="1261884"/>
          </a:xfrm>
          <a:prstGeom prst="rect">
            <a:avLst/>
          </a:prstGeom>
          <a:noFill/>
        </p:spPr>
        <p:txBody>
          <a:bodyPr wrap="square" rtlCol="0">
            <a:spAutoFit/>
          </a:bodyPr>
          <a:lstStyle/>
          <a:p>
            <a:r>
              <a:rPr lang="en-US" sz="2000" b="1" dirty="0">
                <a:solidFill>
                  <a:schemeClr val="bg1"/>
                </a:solidFill>
              </a:rPr>
              <a:t>Convert Visitors into Customers</a:t>
            </a:r>
            <a:br>
              <a:rPr lang="en-US" sz="2000" b="1" dirty="0">
                <a:solidFill>
                  <a:schemeClr val="bg1"/>
                </a:solidFill>
              </a:rPr>
            </a:br>
            <a:r>
              <a:rPr lang="en-US" dirty="0">
                <a:solidFill>
                  <a:schemeClr val="bg1"/>
                </a:solidFill>
              </a:rPr>
              <a:t>Improve the website journey and CTAs.</a:t>
            </a:r>
            <a:endParaRPr lang="en-IN" dirty="0">
              <a:solidFill>
                <a:schemeClr val="bg1"/>
              </a:solidFill>
            </a:endParaRPr>
          </a:p>
        </p:txBody>
      </p:sp>
      <p:sp>
        <p:nvSpPr>
          <p:cNvPr id="19" name="Rectangle 18">
            <a:extLst>
              <a:ext uri="{FF2B5EF4-FFF2-40B4-BE49-F238E27FC236}">
                <a16:creationId xmlns:a16="http://schemas.microsoft.com/office/drawing/2014/main" id="{2F86EA05-1562-443E-A0BE-076CCE8A4C16}"/>
              </a:ext>
            </a:extLst>
          </p:cNvPr>
          <p:cNvSpPr/>
          <p:nvPr/>
        </p:nvSpPr>
        <p:spPr>
          <a:xfrm>
            <a:off x="-3543" y="952110"/>
            <a:ext cx="405350" cy="5896465"/>
          </a:xfrm>
          <a:prstGeom prst="rect">
            <a:avLst/>
          </a:prstGeom>
          <a:solidFill>
            <a:schemeClr val="tx1">
              <a:lumMod val="95000"/>
              <a:lumOff val="5000"/>
            </a:schemeClr>
          </a:solidFill>
          <a:ln>
            <a:noFill/>
          </a:ln>
        </p:spPr>
        <p:style>
          <a:lnRef idx="0">
            <a:scrgbClr r="0" g="0" b="0"/>
          </a:lnRef>
          <a:fillRef idx="0">
            <a:scrgbClr r="0" g="0" b="0"/>
          </a:fillRef>
          <a:effectRef idx="0">
            <a:scrgbClr r="0" g="0" b="0"/>
          </a:effectRef>
          <a:fontRef idx="minor">
            <a:schemeClr val="lt1"/>
          </a:fontRef>
        </p:style>
        <p:txBody>
          <a:bodyPr vert="vert270" rtlCol="0" anchor="ctr"/>
          <a:lstStyle/>
          <a:p>
            <a:pPr algn="ctr"/>
            <a:r>
              <a:rPr lang="en-US" sz="2800" b="1" dirty="0"/>
              <a:t>SWEET KARAM COFFEE</a:t>
            </a:r>
            <a:endParaRPr lang="en-IN" sz="2800" b="1" dirty="0"/>
          </a:p>
        </p:txBody>
      </p:sp>
    </p:spTree>
    <p:extLst>
      <p:ext uri="{BB962C8B-B14F-4D97-AF65-F5344CB8AC3E}">
        <p14:creationId xmlns:p14="http://schemas.microsoft.com/office/powerpoint/2010/main" val="16862256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479696FF-5121-4E17-9F68-E378BA1E844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54082" y="11734"/>
            <a:ext cx="1337918" cy="941168"/>
          </a:xfrm>
          <a:prstGeom prst="rect">
            <a:avLst/>
          </a:prstGeom>
        </p:spPr>
      </p:pic>
      <p:pic>
        <p:nvPicPr>
          <p:cNvPr id="8" name="Content Placeholder 5">
            <a:extLst>
              <a:ext uri="{FF2B5EF4-FFF2-40B4-BE49-F238E27FC236}">
                <a16:creationId xmlns:a16="http://schemas.microsoft.com/office/drawing/2014/main" id="{75881C01-C0A4-46FE-A81A-496ADA13E72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429" y="-18854"/>
            <a:ext cx="1131216" cy="948153"/>
          </a:xfrm>
          <a:prstGeom prst="rect">
            <a:avLst/>
          </a:prstGeom>
        </p:spPr>
      </p:pic>
      <p:sp>
        <p:nvSpPr>
          <p:cNvPr id="6" name="Rectangle 5">
            <a:extLst>
              <a:ext uri="{FF2B5EF4-FFF2-40B4-BE49-F238E27FC236}">
                <a16:creationId xmlns:a16="http://schemas.microsoft.com/office/drawing/2014/main" id="{3753D102-DFA6-42F5-BBD2-72BB2DC0713A}"/>
              </a:ext>
            </a:extLst>
          </p:cNvPr>
          <p:cNvSpPr/>
          <p:nvPr/>
        </p:nvSpPr>
        <p:spPr>
          <a:xfrm>
            <a:off x="2102178" y="2469823"/>
            <a:ext cx="8252284" cy="1970202"/>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4800" b="1" dirty="0"/>
              <a:t>SEO AUDIT &amp; GROWTH PLAN</a:t>
            </a:r>
            <a:endParaRPr lang="en-IN" sz="4800" b="1" dirty="0"/>
          </a:p>
        </p:txBody>
      </p:sp>
    </p:spTree>
    <p:extLst>
      <p:ext uri="{BB962C8B-B14F-4D97-AF65-F5344CB8AC3E}">
        <p14:creationId xmlns:p14="http://schemas.microsoft.com/office/powerpoint/2010/main" val="41617010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AD5E3FC4-A648-4B8A-AF6F-22DE8EC6263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54082" y="11733"/>
            <a:ext cx="1337918" cy="941168"/>
          </a:xfrm>
          <a:prstGeom prst="rect">
            <a:avLst/>
          </a:prstGeom>
        </p:spPr>
      </p:pic>
      <p:pic>
        <p:nvPicPr>
          <p:cNvPr id="9" name="Content Placeholder 5">
            <a:extLst>
              <a:ext uri="{FF2B5EF4-FFF2-40B4-BE49-F238E27FC236}">
                <a16:creationId xmlns:a16="http://schemas.microsoft.com/office/drawing/2014/main" id="{9FDCA069-5C6F-4A2A-9A2F-138E0144E18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429" y="-18854"/>
            <a:ext cx="1131216" cy="948153"/>
          </a:xfrm>
          <a:prstGeom prst="rect">
            <a:avLst/>
          </a:prstGeom>
        </p:spPr>
      </p:pic>
      <p:pic>
        <p:nvPicPr>
          <p:cNvPr id="6" name="Content Placeholder 4">
            <a:extLst>
              <a:ext uri="{FF2B5EF4-FFF2-40B4-BE49-F238E27FC236}">
                <a16:creationId xmlns:a16="http://schemas.microsoft.com/office/drawing/2014/main" id="{C352AFBE-EDC2-470D-A427-D0A92345D51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33254" y="1119433"/>
            <a:ext cx="10331777" cy="2952947"/>
          </a:xfrm>
          <a:prstGeom prst="rect">
            <a:avLst/>
          </a:prstGeom>
          <a:effectLst>
            <a:glow rad="63500">
              <a:schemeClr val="accent6">
                <a:satMod val="175000"/>
                <a:alpha val="40000"/>
              </a:schemeClr>
            </a:glow>
            <a:outerShdw blurRad="57150" dist="19050" dir="5400000" algn="ctr" rotWithShape="0">
              <a:srgbClr val="000000">
                <a:alpha val="63000"/>
              </a:srgbClr>
            </a:outerShdw>
          </a:effectLst>
        </p:spPr>
        <p:style>
          <a:lnRef idx="0">
            <a:schemeClr val="dk1"/>
          </a:lnRef>
          <a:fillRef idx="3">
            <a:schemeClr val="dk1"/>
          </a:fillRef>
          <a:effectRef idx="3">
            <a:schemeClr val="dk1"/>
          </a:effectRef>
          <a:fontRef idx="minor">
            <a:schemeClr val="lt1"/>
          </a:fontRef>
        </p:style>
      </p:pic>
      <p:sp>
        <p:nvSpPr>
          <p:cNvPr id="3" name="Rectangle 2">
            <a:extLst>
              <a:ext uri="{FF2B5EF4-FFF2-40B4-BE49-F238E27FC236}">
                <a16:creationId xmlns:a16="http://schemas.microsoft.com/office/drawing/2014/main" id="{D8B13D10-BEF9-4D87-BB34-0180B7FEC79C}"/>
              </a:ext>
            </a:extLst>
          </p:cNvPr>
          <p:cNvSpPr/>
          <p:nvPr/>
        </p:nvSpPr>
        <p:spPr>
          <a:xfrm>
            <a:off x="3091990" y="103694"/>
            <a:ext cx="6240544" cy="669303"/>
          </a:xfrm>
          <a:prstGeom prst="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en-US" sz="2000" b="1" dirty="0">
                <a:solidFill>
                  <a:schemeClr val="bg1"/>
                </a:solidFill>
              </a:rPr>
              <a:t>WEBSITE CURRENT SCENARIO</a:t>
            </a:r>
            <a:endParaRPr lang="en-IN" sz="2000" b="1" dirty="0">
              <a:solidFill>
                <a:schemeClr val="bg1"/>
              </a:solidFill>
            </a:endParaRPr>
          </a:p>
        </p:txBody>
      </p:sp>
      <p:sp>
        <p:nvSpPr>
          <p:cNvPr id="4" name="TextBox 3">
            <a:extLst>
              <a:ext uri="{FF2B5EF4-FFF2-40B4-BE49-F238E27FC236}">
                <a16:creationId xmlns:a16="http://schemas.microsoft.com/office/drawing/2014/main" id="{C647D308-5F93-495F-A35F-6AE1016EA023}"/>
              </a:ext>
            </a:extLst>
          </p:cNvPr>
          <p:cNvSpPr txBox="1"/>
          <p:nvPr/>
        </p:nvSpPr>
        <p:spPr>
          <a:xfrm>
            <a:off x="113122" y="4326899"/>
            <a:ext cx="11953187" cy="2308324"/>
          </a:xfrm>
          <a:prstGeom prst="rect">
            <a:avLst/>
          </a:prstGeom>
          <a:noFill/>
        </p:spPr>
        <p:txBody>
          <a:bodyPr wrap="square" rtlCol="0">
            <a:spAutoFit/>
          </a:bodyPr>
          <a:lstStyle/>
          <a:p>
            <a:pPr marL="285750" indent="-285750">
              <a:buFont typeface="Arial" panose="020B0604020202020204" pitchFamily="34" charset="0"/>
              <a:buChar char="•"/>
            </a:pPr>
            <a:r>
              <a:rPr lang="en-US" dirty="0"/>
              <a:t>Right now, sweetkaramcoffee.in is doing okay in terms of Organic Traffic, with around </a:t>
            </a:r>
            <a:r>
              <a:rPr lang="en-US" b="1" dirty="0"/>
              <a:t>623 visits</a:t>
            </a:r>
            <a:r>
              <a:rPr lang="en-US" dirty="0"/>
              <a:t>, but there’s a huge opportunity to grow. Based on the SEO check, the site could potentially reach over</a:t>
            </a:r>
            <a:r>
              <a:rPr lang="en-US" b="1" dirty="0"/>
              <a:t> 70.5k visits.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There are </a:t>
            </a:r>
            <a:r>
              <a:rPr lang="en-US" b="1" dirty="0"/>
              <a:t>35 improvement ideas </a:t>
            </a:r>
            <a:r>
              <a:rPr lang="en-US" dirty="0"/>
              <a:t>across different areas like content, backlinks, and semantic SEO, which are the biggest opportunities.</a:t>
            </a:r>
          </a:p>
          <a:p>
            <a:r>
              <a:rPr lang="en-US" dirty="0"/>
              <a:t> 	</a:t>
            </a:r>
          </a:p>
          <a:p>
            <a:r>
              <a:rPr lang="en-US" dirty="0"/>
              <a:t>A few suggestions also touch on technical fixes, user experience, and strategy. With the right tweaks, sweetkaramcoffee.in could significantly boost its visibility and bring in a lot more traffic.</a:t>
            </a:r>
            <a:endParaRPr lang="en-IN" dirty="0"/>
          </a:p>
        </p:txBody>
      </p:sp>
    </p:spTree>
    <p:extLst>
      <p:ext uri="{BB962C8B-B14F-4D97-AF65-F5344CB8AC3E}">
        <p14:creationId xmlns:p14="http://schemas.microsoft.com/office/powerpoint/2010/main" val="37398587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0D93890-0B49-4AF4-B665-D362FEC70BE8}"/>
              </a:ext>
            </a:extLst>
          </p:cNvPr>
          <p:cNvSpPr/>
          <p:nvPr/>
        </p:nvSpPr>
        <p:spPr>
          <a:xfrm>
            <a:off x="4326903" y="131975"/>
            <a:ext cx="4392891" cy="461914"/>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2400" b="1" dirty="0"/>
              <a:t>OVEALL SEO AUDIT</a:t>
            </a:r>
            <a:endParaRPr lang="en-IN" sz="2400" b="1" dirty="0"/>
          </a:p>
        </p:txBody>
      </p:sp>
      <p:pic>
        <p:nvPicPr>
          <p:cNvPr id="3" name="Content Placeholder 5">
            <a:extLst>
              <a:ext uri="{FF2B5EF4-FFF2-40B4-BE49-F238E27FC236}">
                <a16:creationId xmlns:a16="http://schemas.microsoft.com/office/drawing/2014/main" id="{7B0C4A98-13D0-4040-B4AF-C9062706C13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429" y="-18854"/>
            <a:ext cx="1131216" cy="948153"/>
          </a:xfrm>
          <a:prstGeom prst="rect">
            <a:avLst/>
          </a:prstGeom>
        </p:spPr>
      </p:pic>
      <p:pic>
        <p:nvPicPr>
          <p:cNvPr id="4" name="Picture 3">
            <a:extLst>
              <a:ext uri="{FF2B5EF4-FFF2-40B4-BE49-F238E27FC236}">
                <a16:creationId xmlns:a16="http://schemas.microsoft.com/office/drawing/2014/main" id="{E307444D-DB08-45A8-89E5-24DC0E5C352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854082" y="11733"/>
            <a:ext cx="1337918" cy="941168"/>
          </a:xfrm>
          <a:prstGeom prst="rect">
            <a:avLst/>
          </a:prstGeom>
        </p:spPr>
      </p:pic>
      <p:pic>
        <p:nvPicPr>
          <p:cNvPr id="6" name="Picture 5">
            <a:extLst>
              <a:ext uri="{FF2B5EF4-FFF2-40B4-BE49-F238E27FC236}">
                <a16:creationId xmlns:a16="http://schemas.microsoft.com/office/drawing/2014/main" id="{9C00A43F-D043-4201-B38E-02265E94103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1807" y="1088035"/>
            <a:ext cx="5442811" cy="4841426"/>
          </a:xfrm>
          <a:prstGeom prst="rect">
            <a:avLst/>
          </a:prstGeom>
        </p:spPr>
      </p:pic>
      <p:sp>
        <p:nvSpPr>
          <p:cNvPr id="7" name="TextBox 6">
            <a:extLst>
              <a:ext uri="{FF2B5EF4-FFF2-40B4-BE49-F238E27FC236}">
                <a16:creationId xmlns:a16="http://schemas.microsoft.com/office/drawing/2014/main" id="{085A6406-02AF-49D5-91F8-364F1F67451D}"/>
              </a:ext>
            </a:extLst>
          </p:cNvPr>
          <p:cNvSpPr txBox="1"/>
          <p:nvPr/>
        </p:nvSpPr>
        <p:spPr>
          <a:xfrm>
            <a:off x="5860729" y="1088093"/>
            <a:ext cx="6297106" cy="4832092"/>
          </a:xfrm>
          <a:prstGeom prst="rect">
            <a:avLst/>
          </a:prstGeom>
        </p:spPr>
        <p:style>
          <a:lnRef idx="1">
            <a:schemeClr val="accent6"/>
          </a:lnRef>
          <a:fillRef idx="2">
            <a:schemeClr val="accent6"/>
          </a:fillRef>
          <a:effectRef idx="1">
            <a:schemeClr val="accent6"/>
          </a:effectRef>
          <a:fontRef idx="minor">
            <a:schemeClr val="dk1"/>
          </a:fontRef>
        </p:style>
        <p:txBody>
          <a:bodyPr wrap="square" rtlCol="0">
            <a:spAutoFit/>
          </a:bodyPr>
          <a:lstStyle/>
          <a:p>
            <a:pPr algn="ctr"/>
            <a:r>
              <a:rPr lang="en-US" sz="2000" b="1" dirty="0"/>
              <a:t>INSIGHTS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The website has several SEO issues that need improvement. On-Page SEO is good, but optimizing HTML tags, title tags, image alt text, and page speed can further improve website performance.</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GEO (Generative Engine Optimization) is not fully optimized. AI-friendly content and structured content can improve visibility in AI-powered search results.</a:t>
            </a:r>
          </a:p>
          <a:p>
            <a:endParaRPr lang="en-US" dirty="0"/>
          </a:p>
          <a:p>
            <a:pPr marL="285750" indent="-285750">
              <a:buFont typeface="Arial" panose="020B0604020202020204" pitchFamily="34" charset="0"/>
              <a:buChar char="•"/>
            </a:pPr>
            <a:r>
              <a:rPr lang="en-US" dirty="0"/>
              <a:t>URL structure can be improved by using short, readable, and SEO-friendly URLs.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The website should optimize Core Web Vitals, improve usability, and fix technical SEO issues to achieve better rankings and user experience.</a:t>
            </a:r>
            <a:endParaRPr lang="en-IN" dirty="0"/>
          </a:p>
        </p:txBody>
      </p:sp>
      <p:sp>
        <p:nvSpPr>
          <p:cNvPr id="8" name="TextBox 7">
            <a:extLst>
              <a:ext uri="{FF2B5EF4-FFF2-40B4-BE49-F238E27FC236}">
                <a16:creationId xmlns:a16="http://schemas.microsoft.com/office/drawing/2014/main" id="{4FA093BD-4866-4EBE-AE99-9A44E03B4A1B}"/>
              </a:ext>
            </a:extLst>
          </p:cNvPr>
          <p:cNvSpPr txBox="1"/>
          <p:nvPr/>
        </p:nvSpPr>
        <p:spPr>
          <a:xfrm>
            <a:off x="401807" y="6010928"/>
            <a:ext cx="11756028" cy="738664"/>
          </a:xfrm>
          <a:prstGeom prst="rect">
            <a:avLst/>
          </a:prstGeom>
          <a:noFill/>
        </p:spPr>
        <p:txBody>
          <a:bodyPr wrap="square" rtlCol="0">
            <a:spAutoFit/>
          </a:bodyPr>
          <a:lstStyle/>
          <a:p>
            <a:r>
              <a:rPr lang="en-US" sz="1400" b="1" dirty="0"/>
              <a:t>     Please note </a:t>
            </a:r>
            <a:r>
              <a:rPr lang="en-US" sz="1400" dirty="0"/>
              <a:t>that the data presented may change over time due to evolving metrics such as performance fluctuations, strategic adjustments, and external market dynamics. </a:t>
            </a:r>
          </a:p>
          <a:p>
            <a:r>
              <a:rPr lang="en-US" sz="1400" b="1" dirty="0"/>
              <a:t>     Source: </a:t>
            </a:r>
            <a:r>
              <a:rPr lang="en-US" sz="1400" dirty="0" err="1"/>
              <a:t>SEOptimer</a:t>
            </a:r>
            <a:endParaRPr lang="en-IN" sz="1400" dirty="0"/>
          </a:p>
        </p:txBody>
      </p:sp>
      <p:sp>
        <p:nvSpPr>
          <p:cNvPr id="9" name="Rectangle 8">
            <a:extLst>
              <a:ext uri="{FF2B5EF4-FFF2-40B4-BE49-F238E27FC236}">
                <a16:creationId xmlns:a16="http://schemas.microsoft.com/office/drawing/2014/main" id="{E60044E8-07B0-4018-B824-E21FDABCEA22}"/>
              </a:ext>
            </a:extLst>
          </p:cNvPr>
          <p:cNvSpPr/>
          <p:nvPr/>
        </p:nvSpPr>
        <p:spPr>
          <a:xfrm>
            <a:off x="-3543" y="952110"/>
            <a:ext cx="405350" cy="5896465"/>
          </a:xfrm>
          <a:prstGeom prst="rect">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US" sz="2800" b="1" dirty="0"/>
              <a:t>SWEET KARAM COFFEE</a:t>
            </a:r>
            <a:endParaRPr lang="en-IN" sz="2800" b="1" dirty="0"/>
          </a:p>
        </p:txBody>
      </p:sp>
    </p:spTree>
    <p:extLst>
      <p:ext uri="{BB962C8B-B14F-4D97-AF65-F5344CB8AC3E}">
        <p14:creationId xmlns:p14="http://schemas.microsoft.com/office/powerpoint/2010/main" val="31749276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E58B9CB-6E67-48E7-BBEF-73BC7FD26779}"/>
              </a:ext>
            </a:extLst>
          </p:cNvPr>
          <p:cNvSpPr/>
          <p:nvPr/>
        </p:nvSpPr>
        <p:spPr>
          <a:xfrm>
            <a:off x="3808427" y="216816"/>
            <a:ext cx="4572000" cy="584462"/>
          </a:xfrm>
          <a:prstGeom prst="rect">
            <a:avLst/>
          </a:prstGeom>
        </p:spPr>
        <p:style>
          <a:lnRef idx="3">
            <a:schemeClr val="lt1"/>
          </a:lnRef>
          <a:fillRef idx="1">
            <a:schemeClr val="accent2"/>
          </a:fillRef>
          <a:effectRef idx="1">
            <a:schemeClr val="accent2"/>
          </a:effectRef>
          <a:fontRef idx="minor">
            <a:schemeClr val="lt1"/>
          </a:fontRef>
        </p:style>
        <p:txBody>
          <a:bodyPr rtlCol="0" anchor="ctr"/>
          <a:lstStyle/>
          <a:p>
            <a:pPr algn="ctr"/>
            <a:r>
              <a:rPr lang="en-US" sz="2400" b="1" dirty="0"/>
              <a:t>WEBSITE AUTHORITY</a:t>
            </a:r>
            <a:endParaRPr lang="en-IN" sz="2400" b="1" dirty="0"/>
          </a:p>
        </p:txBody>
      </p:sp>
      <p:sp>
        <p:nvSpPr>
          <p:cNvPr id="3" name="Rectangle: Rounded Corners 2">
            <a:extLst>
              <a:ext uri="{FF2B5EF4-FFF2-40B4-BE49-F238E27FC236}">
                <a16:creationId xmlns:a16="http://schemas.microsoft.com/office/drawing/2014/main" id="{46854BCB-FC49-4C5C-9CA9-3B7A552B7FF4}"/>
              </a:ext>
            </a:extLst>
          </p:cNvPr>
          <p:cNvSpPr/>
          <p:nvPr/>
        </p:nvSpPr>
        <p:spPr>
          <a:xfrm>
            <a:off x="537327" y="980384"/>
            <a:ext cx="6938129" cy="4850091"/>
          </a:xfrm>
          <a:prstGeom prst="roundRect">
            <a:avLst/>
          </a:prstGeom>
          <a:blipFill dpi="0" rotWithShape="1">
            <a:blip r:embed="rId2">
              <a:extLst>
                <a:ext uri="{28A0092B-C50C-407E-A947-70E740481C1C}">
                  <a14:useLocalDpi xmlns:a14="http://schemas.microsoft.com/office/drawing/2010/main" val="0"/>
                </a:ext>
              </a:extLst>
            </a:blip>
            <a:srcRect/>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4" name="Content Placeholder 5">
            <a:extLst>
              <a:ext uri="{FF2B5EF4-FFF2-40B4-BE49-F238E27FC236}">
                <a16:creationId xmlns:a16="http://schemas.microsoft.com/office/drawing/2014/main" id="{01F4C1A6-8D05-4809-804B-5136AEFE6F8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429" y="-18854"/>
            <a:ext cx="1131216" cy="948153"/>
          </a:xfrm>
          <a:prstGeom prst="rect">
            <a:avLst/>
          </a:prstGeom>
        </p:spPr>
      </p:pic>
      <p:pic>
        <p:nvPicPr>
          <p:cNvPr id="5" name="Picture 4">
            <a:extLst>
              <a:ext uri="{FF2B5EF4-FFF2-40B4-BE49-F238E27FC236}">
                <a16:creationId xmlns:a16="http://schemas.microsoft.com/office/drawing/2014/main" id="{0B801CB3-E0C2-49A1-8F9D-A3786AF1A3D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854082" y="11733"/>
            <a:ext cx="1337918" cy="941168"/>
          </a:xfrm>
          <a:prstGeom prst="rect">
            <a:avLst/>
          </a:prstGeom>
        </p:spPr>
      </p:pic>
      <p:sp>
        <p:nvSpPr>
          <p:cNvPr id="7" name="Rectangle 6">
            <a:extLst>
              <a:ext uri="{FF2B5EF4-FFF2-40B4-BE49-F238E27FC236}">
                <a16:creationId xmlns:a16="http://schemas.microsoft.com/office/drawing/2014/main" id="{E0EEB5E4-BDA8-4757-BAD2-341E0DE483A4}"/>
              </a:ext>
            </a:extLst>
          </p:cNvPr>
          <p:cNvSpPr/>
          <p:nvPr/>
        </p:nvSpPr>
        <p:spPr>
          <a:xfrm>
            <a:off x="-12970" y="952110"/>
            <a:ext cx="405350" cy="5896465"/>
          </a:xfrm>
          <a:prstGeom prst="rect">
            <a:avLst/>
          </a:prstGeom>
        </p:spPr>
        <p:style>
          <a:lnRef idx="3">
            <a:schemeClr val="lt1"/>
          </a:lnRef>
          <a:fillRef idx="1">
            <a:schemeClr val="accent2"/>
          </a:fillRef>
          <a:effectRef idx="1">
            <a:schemeClr val="accent2"/>
          </a:effectRef>
          <a:fontRef idx="minor">
            <a:schemeClr val="lt1"/>
          </a:fontRef>
        </p:style>
        <p:txBody>
          <a:bodyPr vert="vert270" rtlCol="0" anchor="ctr"/>
          <a:lstStyle/>
          <a:p>
            <a:pPr algn="ctr"/>
            <a:r>
              <a:rPr lang="en-US" sz="2800" b="1" dirty="0"/>
              <a:t>SWEET KARAM COFFEE</a:t>
            </a:r>
            <a:endParaRPr lang="en-IN" sz="2800" b="1" dirty="0"/>
          </a:p>
        </p:txBody>
      </p:sp>
      <p:sp>
        <p:nvSpPr>
          <p:cNvPr id="8" name="TextBox 7">
            <a:extLst>
              <a:ext uri="{FF2B5EF4-FFF2-40B4-BE49-F238E27FC236}">
                <a16:creationId xmlns:a16="http://schemas.microsoft.com/office/drawing/2014/main" id="{5B421189-37EA-41B0-9B1D-D79F79C2F462}"/>
              </a:ext>
            </a:extLst>
          </p:cNvPr>
          <p:cNvSpPr txBox="1"/>
          <p:nvPr/>
        </p:nvSpPr>
        <p:spPr>
          <a:xfrm>
            <a:off x="7607431" y="1197204"/>
            <a:ext cx="4242062" cy="4725268"/>
          </a:xfrm>
          <a:prstGeom prst="rect">
            <a:avLst/>
          </a:prstGeom>
          <a:solidFill>
            <a:schemeClr val="accent1">
              <a:lumMod val="20000"/>
              <a:lumOff val="80000"/>
            </a:schemeClr>
          </a:solidFill>
        </p:spPr>
        <p:txBody>
          <a:bodyPr wrap="square" rtlCol="0">
            <a:spAutoFit/>
          </a:bodyPr>
          <a:lstStyle/>
          <a:p>
            <a:pPr algn="ctr"/>
            <a:r>
              <a:rPr lang="en-US" sz="1900" b="1" dirty="0"/>
              <a:t>INSIGHTS</a:t>
            </a:r>
          </a:p>
          <a:p>
            <a:pPr marL="285750" indent="-285750">
              <a:lnSpc>
                <a:spcPct val="150000"/>
              </a:lnSpc>
              <a:buFont typeface="Arial" panose="020B0604020202020204" pitchFamily="34" charset="0"/>
              <a:buChar char="•"/>
            </a:pPr>
            <a:r>
              <a:rPr lang="en-US" sz="1900" dirty="0"/>
              <a:t>The current Domain Authority Score is 21</a:t>
            </a:r>
          </a:p>
          <a:p>
            <a:pPr marL="285750" indent="-285750">
              <a:lnSpc>
                <a:spcPct val="150000"/>
              </a:lnSpc>
              <a:buFont typeface="Arial" panose="020B0604020202020204" pitchFamily="34" charset="0"/>
              <a:buChar char="•"/>
            </a:pPr>
            <a:r>
              <a:rPr lang="en-US" sz="1900" dirty="0"/>
              <a:t>The current Page Authority Score is  39</a:t>
            </a:r>
          </a:p>
          <a:p>
            <a:pPr marL="285750" indent="-285750">
              <a:lnSpc>
                <a:spcPct val="150000"/>
              </a:lnSpc>
              <a:buFont typeface="Arial" panose="020B0604020202020204" pitchFamily="34" charset="0"/>
              <a:buChar char="•"/>
            </a:pPr>
            <a:r>
              <a:rPr lang="en-US" sz="1900" dirty="0"/>
              <a:t>The current Quality Backlinks of the Domain: 5%</a:t>
            </a:r>
          </a:p>
          <a:p>
            <a:pPr marL="285750" indent="-285750">
              <a:lnSpc>
                <a:spcPct val="150000"/>
              </a:lnSpc>
              <a:buFont typeface="Arial" panose="020B0604020202020204" pitchFamily="34" charset="0"/>
              <a:buChar char="•"/>
            </a:pPr>
            <a:r>
              <a:rPr lang="en-US" sz="1900" dirty="0"/>
              <a:t>The current spam score of the domain is 1%</a:t>
            </a:r>
          </a:p>
          <a:p>
            <a:pPr marL="285750" indent="-285750">
              <a:lnSpc>
                <a:spcPct val="150000"/>
              </a:lnSpc>
              <a:buFont typeface="Arial" panose="020B0604020202020204" pitchFamily="34" charset="0"/>
              <a:buChar char="•"/>
            </a:pPr>
            <a:r>
              <a:rPr lang="en-US" sz="1900" dirty="0"/>
              <a:t>Total backlinks of the domain: 4k</a:t>
            </a:r>
          </a:p>
          <a:p>
            <a:pPr>
              <a:lnSpc>
                <a:spcPct val="150000"/>
              </a:lnSpc>
            </a:pPr>
            <a:endParaRPr lang="en-US" sz="1900" dirty="0"/>
          </a:p>
        </p:txBody>
      </p:sp>
      <p:sp>
        <p:nvSpPr>
          <p:cNvPr id="10" name="TextBox 9">
            <a:extLst>
              <a:ext uri="{FF2B5EF4-FFF2-40B4-BE49-F238E27FC236}">
                <a16:creationId xmlns:a16="http://schemas.microsoft.com/office/drawing/2014/main" id="{D01C6EA1-3862-4BBF-888D-D19D645DAF73}"/>
              </a:ext>
            </a:extLst>
          </p:cNvPr>
          <p:cNvSpPr txBox="1"/>
          <p:nvPr/>
        </p:nvSpPr>
        <p:spPr>
          <a:xfrm>
            <a:off x="537327" y="5883986"/>
            <a:ext cx="11481848" cy="923330"/>
          </a:xfrm>
          <a:prstGeom prst="rect">
            <a:avLst/>
          </a:prstGeom>
          <a:noFill/>
        </p:spPr>
        <p:txBody>
          <a:bodyPr wrap="square" rtlCol="0">
            <a:spAutoFit/>
          </a:bodyPr>
          <a:lstStyle/>
          <a:p>
            <a:r>
              <a:rPr lang="en-US" b="1" dirty="0"/>
              <a:t> Please note </a:t>
            </a:r>
            <a:r>
              <a:rPr lang="en-US" dirty="0"/>
              <a:t>that the data presented may change over time due to evolving metrics such as performance fluctuations, strategic adjustments, and external market dynamics. </a:t>
            </a:r>
          </a:p>
          <a:p>
            <a:r>
              <a:rPr lang="en-US" b="1" dirty="0"/>
              <a:t>     Source: </a:t>
            </a:r>
            <a:r>
              <a:rPr lang="en-US" dirty="0"/>
              <a:t>Website SEO Checker</a:t>
            </a:r>
            <a:endParaRPr lang="en-IN" dirty="0"/>
          </a:p>
        </p:txBody>
      </p:sp>
    </p:spTree>
    <p:extLst>
      <p:ext uri="{BB962C8B-B14F-4D97-AF65-F5344CB8AC3E}">
        <p14:creationId xmlns:p14="http://schemas.microsoft.com/office/powerpoint/2010/main" val="30751988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60988D8-F596-498D-B068-50BAD0182A3C}"/>
              </a:ext>
            </a:extLst>
          </p:cNvPr>
          <p:cNvSpPr/>
          <p:nvPr/>
        </p:nvSpPr>
        <p:spPr>
          <a:xfrm>
            <a:off x="4128937" y="122548"/>
            <a:ext cx="4958499" cy="584462"/>
          </a:xfrm>
          <a:prstGeom prst="rect">
            <a:avLst/>
          </a:prstGeom>
          <a:solidFill>
            <a:schemeClr val="accent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PAGE RENDERING CHECK</a:t>
            </a:r>
            <a:endParaRPr lang="en-IN" sz="2400" b="1" dirty="0"/>
          </a:p>
        </p:txBody>
      </p:sp>
      <p:pic>
        <p:nvPicPr>
          <p:cNvPr id="3" name="Content Placeholder 5">
            <a:extLst>
              <a:ext uri="{FF2B5EF4-FFF2-40B4-BE49-F238E27FC236}">
                <a16:creationId xmlns:a16="http://schemas.microsoft.com/office/drawing/2014/main" id="{CC4189CD-6D70-470D-917E-B7CCDB05336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429" y="0"/>
            <a:ext cx="1131216" cy="948153"/>
          </a:xfrm>
          <a:prstGeom prst="rect">
            <a:avLst/>
          </a:prstGeom>
        </p:spPr>
      </p:pic>
      <p:pic>
        <p:nvPicPr>
          <p:cNvPr id="4" name="Picture 3">
            <a:extLst>
              <a:ext uri="{FF2B5EF4-FFF2-40B4-BE49-F238E27FC236}">
                <a16:creationId xmlns:a16="http://schemas.microsoft.com/office/drawing/2014/main" id="{6E76A17D-4503-491E-AA77-A0064A4640D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854082" y="11733"/>
            <a:ext cx="1337918" cy="941168"/>
          </a:xfrm>
          <a:prstGeom prst="rect">
            <a:avLst/>
          </a:prstGeom>
        </p:spPr>
      </p:pic>
      <p:sp>
        <p:nvSpPr>
          <p:cNvPr id="5" name="Rectangle: Rounded Corners 4">
            <a:extLst>
              <a:ext uri="{FF2B5EF4-FFF2-40B4-BE49-F238E27FC236}">
                <a16:creationId xmlns:a16="http://schemas.microsoft.com/office/drawing/2014/main" id="{DFE422AF-D00A-46B0-B6EF-2EA5C73857C2}"/>
              </a:ext>
            </a:extLst>
          </p:cNvPr>
          <p:cNvSpPr/>
          <p:nvPr/>
        </p:nvSpPr>
        <p:spPr>
          <a:xfrm>
            <a:off x="942683" y="1055801"/>
            <a:ext cx="6089715" cy="4619134"/>
          </a:xfrm>
          <a:prstGeom prst="roundRect">
            <a:avLst/>
          </a:prstGeom>
          <a:blipFill dpi="0" rotWithShape="1">
            <a:blip r:embed="rId4">
              <a:extLst>
                <a:ext uri="{28A0092B-C50C-407E-A947-70E740481C1C}">
                  <a14:useLocalDpi xmlns:a14="http://schemas.microsoft.com/office/drawing/2010/main" val="0"/>
                </a:ext>
              </a:extLst>
            </a:blip>
            <a:srcRect/>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ectangle 6">
            <a:extLst>
              <a:ext uri="{FF2B5EF4-FFF2-40B4-BE49-F238E27FC236}">
                <a16:creationId xmlns:a16="http://schemas.microsoft.com/office/drawing/2014/main" id="{A467F058-F520-45BB-991B-BBF285527F93}"/>
              </a:ext>
            </a:extLst>
          </p:cNvPr>
          <p:cNvSpPr/>
          <p:nvPr/>
        </p:nvSpPr>
        <p:spPr>
          <a:xfrm>
            <a:off x="-50678" y="952110"/>
            <a:ext cx="405350" cy="5896465"/>
          </a:xfrm>
          <a:prstGeom prst="rect">
            <a:avLst/>
          </a:prstGeom>
        </p:spPr>
        <p:style>
          <a:lnRef idx="2">
            <a:schemeClr val="dk1">
              <a:shade val="50000"/>
            </a:schemeClr>
          </a:lnRef>
          <a:fillRef idx="1">
            <a:schemeClr val="dk1"/>
          </a:fillRef>
          <a:effectRef idx="0">
            <a:schemeClr val="dk1"/>
          </a:effectRef>
          <a:fontRef idx="minor">
            <a:schemeClr val="lt1"/>
          </a:fontRef>
        </p:style>
        <p:txBody>
          <a:bodyPr vert="vert270" rtlCol="0" anchor="ctr"/>
          <a:lstStyle/>
          <a:p>
            <a:pPr algn="ctr"/>
            <a:r>
              <a:rPr lang="en-US" sz="2800" b="1" dirty="0"/>
              <a:t>SWEET KARAM COFFEE</a:t>
            </a:r>
            <a:endParaRPr lang="en-IN" sz="2800" b="1" dirty="0"/>
          </a:p>
        </p:txBody>
      </p:sp>
      <p:sp>
        <p:nvSpPr>
          <p:cNvPr id="8" name="TextBox 7">
            <a:extLst>
              <a:ext uri="{FF2B5EF4-FFF2-40B4-BE49-F238E27FC236}">
                <a16:creationId xmlns:a16="http://schemas.microsoft.com/office/drawing/2014/main" id="{6D64B702-0338-4356-AA89-99B65363CA26}"/>
              </a:ext>
            </a:extLst>
          </p:cNvPr>
          <p:cNvSpPr txBox="1"/>
          <p:nvPr/>
        </p:nvSpPr>
        <p:spPr>
          <a:xfrm>
            <a:off x="537328" y="5905890"/>
            <a:ext cx="11654672" cy="923330"/>
          </a:xfrm>
          <a:prstGeom prst="rect">
            <a:avLst/>
          </a:prstGeom>
          <a:noFill/>
        </p:spPr>
        <p:txBody>
          <a:bodyPr wrap="square" rtlCol="0">
            <a:spAutoFit/>
          </a:bodyPr>
          <a:lstStyle/>
          <a:p>
            <a:r>
              <a:rPr lang="en-US" b="1" dirty="0"/>
              <a:t> Please note </a:t>
            </a:r>
            <a:r>
              <a:rPr lang="en-US" dirty="0"/>
              <a:t>that the data presented may change over time due to evolving metrics such as performance fluctuations, strategic adjustments, and external market dynamics. </a:t>
            </a:r>
          </a:p>
          <a:p>
            <a:r>
              <a:rPr lang="en-US" b="1" dirty="0"/>
              <a:t>     Source: </a:t>
            </a:r>
            <a:r>
              <a:rPr lang="en-US" dirty="0" err="1"/>
              <a:t>SEOptimer</a:t>
            </a:r>
            <a:endParaRPr lang="en-IN" dirty="0"/>
          </a:p>
        </p:txBody>
      </p:sp>
      <p:sp>
        <p:nvSpPr>
          <p:cNvPr id="9" name="TextBox 8">
            <a:extLst>
              <a:ext uri="{FF2B5EF4-FFF2-40B4-BE49-F238E27FC236}">
                <a16:creationId xmlns:a16="http://schemas.microsoft.com/office/drawing/2014/main" id="{D070CA11-2F7E-4D2B-8433-CC7AC279453F}"/>
              </a:ext>
            </a:extLst>
          </p:cNvPr>
          <p:cNvSpPr txBox="1"/>
          <p:nvPr/>
        </p:nvSpPr>
        <p:spPr>
          <a:xfrm>
            <a:off x="7343481" y="1431850"/>
            <a:ext cx="4732256" cy="3994299"/>
          </a:xfrm>
          <a:prstGeom prst="rect">
            <a:avLst/>
          </a:prstGeom>
          <a:solidFill>
            <a:schemeClr val="accent2">
              <a:lumMod val="50000"/>
            </a:schemeClr>
          </a:solidFill>
        </p:spPr>
        <p:txBody>
          <a:bodyPr wrap="square" rtlCol="0">
            <a:spAutoFit/>
          </a:bodyPr>
          <a:lstStyle/>
          <a:p>
            <a:pPr algn="ctr">
              <a:lnSpc>
                <a:spcPct val="150000"/>
              </a:lnSpc>
            </a:pPr>
            <a:r>
              <a:rPr lang="en-US" sz="1900" b="1" dirty="0">
                <a:solidFill>
                  <a:schemeClr val="bg1"/>
                </a:solidFill>
              </a:rPr>
              <a:t>INSIGHTS</a:t>
            </a:r>
          </a:p>
          <a:p>
            <a:pPr marL="285750" indent="-285750">
              <a:lnSpc>
                <a:spcPct val="150000"/>
              </a:lnSpc>
              <a:buFont typeface="Arial" panose="020B0604020202020204" pitchFamily="34" charset="0"/>
              <a:buChar char="•"/>
            </a:pPr>
            <a:r>
              <a:rPr lang="en-US" sz="1900" dirty="0">
                <a:solidFill>
                  <a:schemeClr val="bg1"/>
                </a:solidFill>
              </a:rPr>
              <a:t>The Website is mobile-responsive, and the layout adapts well across different devices.</a:t>
            </a:r>
          </a:p>
          <a:p>
            <a:pPr marL="285750" indent="-285750">
              <a:lnSpc>
                <a:spcPct val="150000"/>
              </a:lnSpc>
              <a:buFont typeface="Arial" panose="020B0604020202020204" pitchFamily="34" charset="0"/>
              <a:buChar char="•"/>
            </a:pPr>
            <a:r>
              <a:rPr lang="en-US" sz="1900" dirty="0">
                <a:solidFill>
                  <a:schemeClr val="bg1"/>
                </a:solidFill>
              </a:rPr>
              <a:t>The site does not pass Google’s Core Web Vitals assessment; performance optimization is needed.</a:t>
            </a:r>
          </a:p>
          <a:p>
            <a:pPr marL="285750" indent="-285750">
              <a:lnSpc>
                <a:spcPct val="150000"/>
              </a:lnSpc>
              <a:buFont typeface="Arial" panose="020B0604020202020204" pitchFamily="34" charset="0"/>
              <a:buChar char="•"/>
            </a:pPr>
            <a:r>
              <a:rPr lang="en-US" sz="1900" dirty="0">
                <a:solidFill>
                  <a:schemeClr val="bg1"/>
                </a:solidFill>
              </a:rPr>
              <a:t>Optimizing Images, caching and overall page speed can improve Core Web Vitals, user experience and SEO performance.</a:t>
            </a:r>
            <a:endParaRPr lang="en-IN" sz="1900" dirty="0">
              <a:solidFill>
                <a:schemeClr val="bg1"/>
              </a:solidFill>
            </a:endParaRPr>
          </a:p>
        </p:txBody>
      </p:sp>
    </p:spTree>
    <p:extLst>
      <p:ext uri="{BB962C8B-B14F-4D97-AF65-F5344CB8AC3E}">
        <p14:creationId xmlns:p14="http://schemas.microsoft.com/office/powerpoint/2010/main" val="31719904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0D53BC9-01CD-4DEE-A01C-4531964F91F2}"/>
              </a:ext>
            </a:extLst>
          </p:cNvPr>
          <p:cNvSpPr/>
          <p:nvPr/>
        </p:nvSpPr>
        <p:spPr>
          <a:xfrm>
            <a:off x="4119512" y="197963"/>
            <a:ext cx="4468305" cy="537328"/>
          </a:xfrm>
          <a:prstGeom prst="rect">
            <a:avLst/>
          </a:prstGeom>
          <a:solidFill>
            <a:schemeClr val="accent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PAGE SPEED CHECK IN MOBILE</a:t>
            </a:r>
            <a:endParaRPr lang="en-IN" sz="2400" b="1" dirty="0"/>
          </a:p>
        </p:txBody>
      </p:sp>
      <p:sp>
        <p:nvSpPr>
          <p:cNvPr id="3" name="Rectangle 2">
            <a:extLst>
              <a:ext uri="{FF2B5EF4-FFF2-40B4-BE49-F238E27FC236}">
                <a16:creationId xmlns:a16="http://schemas.microsoft.com/office/drawing/2014/main" id="{B7C0A6E8-378C-4591-9BF5-D6178155D2BB}"/>
              </a:ext>
            </a:extLst>
          </p:cNvPr>
          <p:cNvSpPr/>
          <p:nvPr/>
        </p:nvSpPr>
        <p:spPr>
          <a:xfrm>
            <a:off x="688160" y="1263193"/>
            <a:ext cx="8964893" cy="3506771"/>
          </a:xfrm>
          <a:prstGeom prst="rect">
            <a:avLst/>
          </a:prstGeom>
          <a:blipFill dpi="0" rotWithShape="1">
            <a:blip r:embed="rId2">
              <a:extLst>
                <a:ext uri="{28A0092B-C50C-407E-A947-70E740481C1C}">
                  <a14:useLocalDpi xmlns:a14="http://schemas.microsoft.com/office/drawing/2010/main" val="0"/>
                </a:ext>
              </a:extLst>
            </a:blip>
            <a:srcRect/>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D2A0EDA7-BE63-460C-8A4E-CA818E5F8A2B}"/>
              </a:ext>
            </a:extLst>
          </p:cNvPr>
          <p:cNvSpPr txBox="1"/>
          <p:nvPr/>
        </p:nvSpPr>
        <p:spPr>
          <a:xfrm>
            <a:off x="6957767" y="5056347"/>
            <a:ext cx="5083404" cy="1477328"/>
          </a:xfrm>
          <a:prstGeom prst="rect">
            <a:avLst/>
          </a:prstGeom>
          <a:solidFill>
            <a:schemeClr val="accent2">
              <a:lumMod val="60000"/>
              <a:lumOff val="40000"/>
            </a:schemeClr>
          </a:solidFill>
        </p:spPr>
        <p:txBody>
          <a:bodyPr wrap="square" rtlCol="0">
            <a:spAutoFit/>
          </a:bodyPr>
          <a:lstStyle/>
          <a:p>
            <a:pPr algn="ctr"/>
            <a:r>
              <a:rPr lang="en-US" b="1" dirty="0">
                <a:solidFill>
                  <a:schemeClr val="tx1">
                    <a:lumMod val="95000"/>
                    <a:lumOff val="5000"/>
                  </a:schemeClr>
                </a:solidFill>
              </a:rPr>
              <a:t>INSIGHTS</a:t>
            </a:r>
          </a:p>
          <a:p>
            <a:pPr marL="285750" indent="-285750">
              <a:buFont typeface="Arial" panose="020B0604020202020204" pitchFamily="34" charset="0"/>
              <a:buChar char="•"/>
            </a:pPr>
            <a:r>
              <a:rPr lang="en-US" dirty="0"/>
              <a:t>Here LCP is 3 sec, INP is 231ms, so both do not maintained the metrics. So the site did not pass Core Web Vitals.  </a:t>
            </a:r>
          </a:p>
          <a:p>
            <a:endParaRPr lang="en-IN" dirty="0"/>
          </a:p>
        </p:txBody>
      </p:sp>
      <p:sp>
        <p:nvSpPr>
          <p:cNvPr id="5" name="TextBox 4">
            <a:extLst>
              <a:ext uri="{FF2B5EF4-FFF2-40B4-BE49-F238E27FC236}">
                <a16:creationId xmlns:a16="http://schemas.microsoft.com/office/drawing/2014/main" id="{CBD24215-B9F2-44AF-AB78-DA040EA71637}"/>
              </a:ext>
            </a:extLst>
          </p:cNvPr>
          <p:cNvSpPr txBox="1"/>
          <p:nvPr/>
        </p:nvSpPr>
        <p:spPr>
          <a:xfrm>
            <a:off x="9747315" y="1234909"/>
            <a:ext cx="2380268" cy="3539430"/>
          </a:xfrm>
          <a:prstGeom prst="rect">
            <a:avLst/>
          </a:prstGeom>
          <a:solidFill>
            <a:srgbClr val="FFFF00"/>
          </a:solidFill>
        </p:spPr>
        <p:txBody>
          <a:bodyPr wrap="square" rtlCol="0">
            <a:spAutoFit/>
          </a:bodyPr>
          <a:lstStyle/>
          <a:p>
            <a:r>
              <a:rPr lang="en-US" sz="1400" b="1" dirty="0"/>
              <a:t>The 3 main metrics to passed core web vital is :</a:t>
            </a:r>
          </a:p>
          <a:p>
            <a:pPr marL="342900" indent="-342900">
              <a:buFont typeface="+mj-lt"/>
              <a:buAutoNum type="arabicPeriod"/>
            </a:pPr>
            <a:r>
              <a:rPr lang="en-US" sz="1400" b="1" dirty="0">
                <a:solidFill>
                  <a:srgbClr val="FF0000"/>
                </a:solidFill>
              </a:rPr>
              <a:t>LCP( largest </a:t>
            </a:r>
            <a:r>
              <a:rPr lang="en-US" sz="1400" b="1" dirty="0" err="1">
                <a:solidFill>
                  <a:srgbClr val="FF0000"/>
                </a:solidFill>
              </a:rPr>
              <a:t>contentful</a:t>
            </a:r>
            <a:r>
              <a:rPr lang="en-US" sz="1400" b="1" dirty="0">
                <a:solidFill>
                  <a:srgbClr val="FF0000"/>
                </a:solidFill>
              </a:rPr>
              <a:t> paint):</a:t>
            </a:r>
          </a:p>
          <a:p>
            <a:pPr marL="285750" indent="-285750">
              <a:buFont typeface="Arial" panose="020B0604020202020204" pitchFamily="34" charset="0"/>
              <a:buChar char="•"/>
            </a:pPr>
            <a:r>
              <a:rPr lang="en-US" sz="1400" b="1" dirty="0"/>
              <a:t>Measures loading performance.</a:t>
            </a:r>
          </a:p>
          <a:p>
            <a:pPr marL="285750" indent="-285750">
              <a:buFont typeface="Arial" panose="020B0604020202020204" pitchFamily="34" charset="0"/>
              <a:buChar char="•"/>
            </a:pPr>
            <a:r>
              <a:rPr lang="en-US" sz="1400" b="1" dirty="0"/>
              <a:t>Good: &lt;2.5 sec / =2.5 sec</a:t>
            </a:r>
          </a:p>
          <a:p>
            <a:r>
              <a:rPr lang="en-US" sz="1400" b="1" dirty="0">
                <a:solidFill>
                  <a:srgbClr val="FF0000"/>
                </a:solidFill>
              </a:rPr>
              <a:t>2. INP (Interaction to Next Paint) </a:t>
            </a:r>
          </a:p>
          <a:p>
            <a:pPr marL="285750" indent="-285750">
              <a:buFont typeface="Arial" panose="020B0604020202020204" pitchFamily="34" charset="0"/>
              <a:buChar char="•"/>
            </a:pPr>
            <a:r>
              <a:rPr lang="en-US" sz="1400" b="1" dirty="0"/>
              <a:t>Measures Responsiveness</a:t>
            </a:r>
          </a:p>
          <a:p>
            <a:pPr marL="285750" indent="-285750">
              <a:buFont typeface="Arial" panose="020B0604020202020204" pitchFamily="34" charset="0"/>
              <a:buChar char="•"/>
            </a:pPr>
            <a:r>
              <a:rPr lang="en-US" sz="1400" b="1" dirty="0"/>
              <a:t>Good: &lt;200 </a:t>
            </a:r>
            <a:r>
              <a:rPr lang="en-US" sz="1400" b="1" dirty="0" err="1"/>
              <a:t>ms</a:t>
            </a:r>
            <a:r>
              <a:rPr lang="en-US" sz="1400" b="1" dirty="0"/>
              <a:t>/ =200ms</a:t>
            </a:r>
          </a:p>
          <a:p>
            <a:r>
              <a:rPr lang="en-US" sz="1400" b="1" dirty="0">
                <a:solidFill>
                  <a:srgbClr val="FF0000"/>
                </a:solidFill>
              </a:rPr>
              <a:t>3. CLS ( Cumulative Layout Shift)</a:t>
            </a:r>
          </a:p>
          <a:p>
            <a:pPr marL="285750" indent="-285750">
              <a:buFont typeface="Arial" panose="020B0604020202020204" pitchFamily="34" charset="0"/>
              <a:buChar char="•"/>
            </a:pPr>
            <a:r>
              <a:rPr lang="en-US" sz="1400" b="1" dirty="0"/>
              <a:t>Measures visual stability</a:t>
            </a:r>
          </a:p>
          <a:p>
            <a:pPr marL="285750" indent="-285750">
              <a:buFont typeface="Arial" panose="020B0604020202020204" pitchFamily="34" charset="0"/>
              <a:buChar char="•"/>
            </a:pPr>
            <a:r>
              <a:rPr lang="en-US" sz="1400" b="1" dirty="0"/>
              <a:t>Good: &lt;0.1/=0.1</a:t>
            </a:r>
            <a:endParaRPr lang="en-US" b="1" dirty="0"/>
          </a:p>
        </p:txBody>
      </p:sp>
      <p:sp>
        <p:nvSpPr>
          <p:cNvPr id="6" name="TextBox 5">
            <a:extLst>
              <a:ext uri="{FF2B5EF4-FFF2-40B4-BE49-F238E27FC236}">
                <a16:creationId xmlns:a16="http://schemas.microsoft.com/office/drawing/2014/main" id="{FF198C63-97AF-4D06-A7F0-3FF2E2A8AB2F}"/>
              </a:ext>
            </a:extLst>
          </p:cNvPr>
          <p:cNvSpPr txBox="1"/>
          <p:nvPr/>
        </p:nvSpPr>
        <p:spPr>
          <a:xfrm>
            <a:off x="1300896" y="4935601"/>
            <a:ext cx="4892511" cy="1477328"/>
          </a:xfrm>
          <a:prstGeom prst="rect">
            <a:avLst/>
          </a:prstGeom>
          <a:noFill/>
        </p:spPr>
        <p:txBody>
          <a:bodyPr wrap="square" rtlCol="0">
            <a:spAutoFit/>
          </a:bodyPr>
          <a:lstStyle/>
          <a:p>
            <a:r>
              <a:rPr lang="en-US" b="1" dirty="0"/>
              <a:t>Please note </a:t>
            </a:r>
            <a:r>
              <a:rPr lang="en-US" dirty="0"/>
              <a:t>that the data presented may change over time due to evolving metrics such as performance fluctuations, strategic adjustments, and external market dynamics. </a:t>
            </a:r>
          </a:p>
          <a:p>
            <a:r>
              <a:rPr lang="en-US" b="1" dirty="0"/>
              <a:t>     Source: </a:t>
            </a:r>
            <a:r>
              <a:rPr lang="en-US" dirty="0" err="1"/>
              <a:t>PageSpeed</a:t>
            </a:r>
            <a:r>
              <a:rPr lang="en-US" dirty="0"/>
              <a:t> Insights</a:t>
            </a:r>
            <a:endParaRPr lang="en-IN" dirty="0"/>
          </a:p>
        </p:txBody>
      </p:sp>
      <p:pic>
        <p:nvPicPr>
          <p:cNvPr id="7" name="Content Placeholder 5">
            <a:extLst>
              <a:ext uri="{FF2B5EF4-FFF2-40B4-BE49-F238E27FC236}">
                <a16:creationId xmlns:a16="http://schemas.microsoft.com/office/drawing/2014/main" id="{C4C1FAEA-F4C3-4253-8995-6CF5D9F4666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429" y="0"/>
            <a:ext cx="1131216" cy="948153"/>
          </a:xfrm>
          <a:prstGeom prst="rect">
            <a:avLst/>
          </a:prstGeom>
        </p:spPr>
      </p:pic>
      <p:pic>
        <p:nvPicPr>
          <p:cNvPr id="8" name="Picture 7">
            <a:extLst>
              <a:ext uri="{FF2B5EF4-FFF2-40B4-BE49-F238E27FC236}">
                <a16:creationId xmlns:a16="http://schemas.microsoft.com/office/drawing/2014/main" id="{7A540AB9-89F7-4705-BA05-A7AA46B2429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854082" y="11733"/>
            <a:ext cx="1337918" cy="941168"/>
          </a:xfrm>
          <a:prstGeom prst="rect">
            <a:avLst/>
          </a:prstGeom>
        </p:spPr>
      </p:pic>
      <p:sp>
        <p:nvSpPr>
          <p:cNvPr id="9" name="Rectangle 8">
            <a:extLst>
              <a:ext uri="{FF2B5EF4-FFF2-40B4-BE49-F238E27FC236}">
                <a16:creationId xmlns:a16="http://schemas.microsoft.com/office/drawing/2014/main" id="{EAEBC5DB-33F0-41EF-AE01-6D01B170C77A}"/>
              </a:ext>
            </a:extLst>
          </p:cNvPr>
          <p:cNvSpPr/>
          <p:nvPr/>
        </p:nvSpPr>
        <p:spPr>
          <a:xfrm>
            <a:off x="-50678" y="952110"/>
            <a:ext cx="405350" cy="5896465"/>
          </a:xfrm>
          <a:prstGeom prst="rect">
            <a:avLst/>
          </a:prstGeom>
          <a:solidFill>
            <a:schemeClr val="accent5">
              <a:lumMod val="50000"/>
            </a:schemeClr>
          </a:solidFill>
        </p:spPr>
        <p:style>
          <a:lnRef idx="2">
            <a:schemeClr val="dk1">
              <a:shade val="50000"/>
            </a:schemeClr>
          </a:lnRef>
          <a:fillRef idx="1">
            <a:schemeClr val="dk1"/>
          </a:fillRef>
          <a:effectRef idx="0">
            <a:schemeClr val="dk1"/>
          </a:effectRef>
          <a:fontRef idx="minor">
            <a:schemeClr val="lt1"/>
          </a:fontRef>
        </p:style>
        <p:txBody>
          <a:bodyPr vert="vert270" rtlCol="0" anchor="ctr"/>
          <a:lstStyle/>
          <a:p>
            <a:pPr algn="ctr"/>
            <a:r>
              <a:rPr lang="en-US" sz="2800" b="1" dirty="0"/>
              <a:t>SWEET KARAM COFFEE</a:t>
            </a:r>
            <a:endParaRPr lang="en-IN" sz="2800" b="1" dirty="0"/>
          </a:p>
        </p:txBody>
      </p:sp>
    </p:spTree>
    <p:extLst>
      <p:ext uri="{BB962C8B-B14F-4D97-AF65-F5344CB8AC3E}">
        <p14:creationId xmlns:p14="http://schemas.microsoft.com/office/powerpoint/2010/main" val="16301928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Content Placeholder 5">
            <a:extLst>
              <a:ext uri="{FF2B5EF4-FFF2-40B4-BE49-F238E27FC236}">
                <a16:creationId xmlns:a16="http://schemas.microsoft.com/office/drawing/2014/main" id="{F064505A-BCA4-4E8E-AD91-4419B79B215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429" y="0"/>
            <a:ext cx="1131216" cy="948153"/>
          </a:xfrm>
          <a:prstGeom prst="rect">
            <a:avLst/>
          </a:prstGeom>
        </p:spPr>
      </p:pic>
      <p:pic>
        <p:nvPicPr>
          <p:cNvPr id="3" name="Picture 2">
            <a:extLst>
              <a:ext uri="{FF2B5EF4-FFF2-40B4-BE49-F238E27FC236}">
                <a16:creationId xmlns:a16="http://schemas.microsoft.com/office/drawing/2014/main" id="{072150F1-885D-4AAF-810F-2AE3D210B3E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854082" y="11733"/>
            <a:ext cx="1337918" cy="941168"/>
          </a:xfrm>
          <a:prstGeom prst="rect">
            <a:avLst/>
          </a:prstGeom>
        </p:spPr>
      </p:pic>
      <p:sp>
        <p:nvSpPr>
          <p:cNvPr id="4" name="Rectangle 3">
            <a:extLst>
              <a:ext uri="{FF2B5EF4-FFF2-40B4-BE49-F238E27FC236}">
                <a16:creationId xmlns:a16="http://schemas.microsoft.com/office/drawing/2014/main" id="{CF7ECADE-F380-47AC-89E6-0E3E60C780FC}"/>
              </a:ext>
            </a:extLst>
          </p:cNvPr>
          <p:cNvSpPr/>
          <p:nvPr/>
        </p:nvSpPr>
        <p:spPr>
          <a:xfrm>
            <a:off x="3695307" y="216816"/>
            <a:ext cx="5382705" cy="490194"/>
          </a:xfrm>
          <a:prstGeom prst="rect">
            <a:avLst/>
          </a:prstGeom>
          <a:solidFill>
            <a:schemeClr val="accent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PAGE SPEED CHECK IN DESKTOP</a:t>
            </a:r>
            <a:endParaRPr lang="en-IN" sz="2400" b="1" dirty="0"/>
          </a:p>
        </p:txBody>
      </p:sp>
      <p:sp>
        <p:nvSpPr>
          <p:cNvPr id="5" name="Rectangle 4">
            <a:extLst>
              <a:ext uri="{FF2B5EF4-FFF2-40B4-BE49-F238E27FC236}">
                <a16:creationId xmlns:a16="http://schemas.microsoft.com/office/drawing/2014/main" id="{7D0D2E0F-6956-4721-ABD8-BCB5D78A0CE9}"/>
              </a:ext>
            </a:extLst>
          </p:cNvPr>
          <p:cNvSpPr/>
          <p:nvPr/>
        </p:nvSpPr>
        <p:spPr>
          <a:xfrm>
            <a:off x="772995" y="1159491"/>
            <a:ext cx="7484882" cy="3421937"/>
          </a:xfrm>
          <a:prstGeom prst="rect">
            <a:avLst/>
          </a:prstGeom>
          <a:blipFill dpi="0" rotWithShape="1">
            <a:blip r:embed="rId4">
              <a:extLst>
                <a:ext uri="{28A0092B-C50C-407E-A947-70E740481C1C}">
                  <a14:useLocalDpi xmlns:a14="http://schemas.microsoft.com/office/drawing/2010/main" val="0"/>
                </a:ext>
              </a:extLst>
            </a:blip>
            <a:srcRect/>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70B0D16A-32D2-413A-BF4C-A61C780F4512}"/>
              </a:ext>
            </a:extLst>
          </p:cNvPr>
          <p:cNvSpPr txBox="1"/>
          <p:nvPr/>
        </p:nvSpPr>
        <p:spPr>
          <a:xfrm>
            <a:off x="1423446" y="4978941"/>
            <a:ext cx="9926425" cy="1200329"/>
          </a:xfrm>
          <a:prstGeom prst="rect">
            <a:avLst/>
          </a:prstGeom>
          <a:noFill/>
        </p:spPr>
        <p:txBody>
          <a:bodyPr wrap="square" rtlCol="0">
            <a:spAutoFit/>
          </a:bodyPr>
          <a:lstStyle/>
          <a:p>
            <a:r>
              <a:rPr lang="en-US" b="1" dirty="0"/>
              <a:t>Please note </a:t>
            </a:r>
            <a:r>
              <a:rPr lang="en-US" dirty="0"/>
              <a:t>that the data presented may change over time due to evolving metrics such as performance fluctuations, strategic adjustments, and external market dynamics. </a:t>
            </a:r>
          </a:p>
          <a:p>
            <a:r>
              <a:rPr lang="en-US" b="1" dirty="0"/>
              <a:t>     Source: </a:t>
            </a:r>
            <a:r>
              <a:rPr lang="en-US" dirty="0" err="1"/>
              <a:t>PageSpeed</a:t>
            </a:r>
            <a:r>
              <a:rPr lang="en-US" dirty="0"/>
              <a:t> Insights</a:t>
            </a:r>
            <a:endParaRPr lang="en-IN" dirty="0"/>
          </a:p>
          <a:p>
            <a:endParaRPr lang="en-IN" dirty="0"/>
          </a:p>
        </p:txBody>
      </p:sp>
      <p:sp>
        <p:nvSpPr>
          <p:cNvPr id="7" name="TextBox 6">
            <a:extLst>
              <a:ext uri="{FF2B5EF4-FFF2-40B4-BE49-F238E27FC236}">
                <a16:creationId xmlns:a16="http://schemas.microsoft.com/office/drawing/2014/main" id="{E04C8122-164E-4C8B-9CDB-B4A29F06E323}"/>
              </a:ext>
            </a:extLst>
          </p:cNvPr>
          <p:cNvSpPr txBox="1"/>
          <p:nvPr/>
        </p:nvSpPr>
        <p:spPr>
          <a:xfrm>
            <a:off x="8389855" y="1084076"/>
            <a:ext cx="3802145" cy="3600986"/>
          </a:xfrm>
          <a:prstGeom prst="rect">
            <a:avLst/>
          </a:prstGeom>
          <a:solidFill>
            <a:schemeClr val="accent6">
              <a:lumMod val="60000"/>
              <a:lumOff val="40000"/>
            </a:schemeClr>
          </a:solidFill>
        </p:spPr>
        <p:txBody>
          <a:bodyPr wrap="square" rtlCol="0">
            <a:spAutoFit/>
          </a:bodyPr>
          <a:lstStyle/>
          <a:p>
            <a:pPr algn="ctr"/>
            <a:r>
              <a:rPr lang="en-US" sz="2000" b="1" dirty="0"/>
              <a:t>INSIGHTS</a:t>
            </a:r>
          </a:p>
          <a:p>
            <a:r>
              <a:rPr lang="en-IN" sz="1600" b="1" dirty="0"/>
              <a:t>Core Web Vitals: Passed</a:t>
            </a:r>
            <a:r>
              <a:rPr lang="en-IN" sz="1600" dirty="0"/>
              <a:t> – Overall website performance meets Google’s recommended standards. </a:t>
            </a:r>
          </a:p>
          <a:p>
            <a:r>
              <a:rPr lang="en-IN" sz="1600" b="1" dirty="0"/>
              <a:t>LCP: 2.1s</a:t>
            </a:r>
            <a:r>
              <a:rPr lang="en-IN" sz="1600" dirty="0"/>
              <a:t> – Main content loads quickly and provides a good user experience. </a:t>
            </a:r>
          </a:p>
          <a:p>
            <a:r>
              <a:rPr lang="en-IN" sz="1600" b="1" dirty="0"/>
              <a:t>INP: 96ms</a:t>
            </a:r>
            <a:r>
              <a:rPr lang="en-IN" sz="1600" dirty="0"/>
              <a:t> – Website responds very quickly to user interactions. </a:t>
            </a:r>
          </a:p>
          <a:p>
            <a:r>
              <a:rPr lang="en-IN" sz="1600" b="1" dirty="0"/>
              <a:t>CLS: 0.07</a:t>
            </a:r>
            <a:r>
              <a:rPr lang="en-IN" sz="1600" dirty="0"/>
              <a:t> – Page layout remains stable with minimal unexpected movement. </a:t>
            </a:r>
          </a:p>
          <a:p>
            <a:r>
              <a:rPr lang="en-IN" sz="1600" b="1" dirty="0"/>
              <a:t>Overall:</a:t>
            </a:r>
            <a:r>
              <a:rPr lang="en-IN" sz="1600" dirty="0"/>
              <a:t> </a:t>
            </a:r>
            <a:r>
              <a:rPr lang="en-IN" sz="1600" b="1" dirty="0"/>
              <a:t>Good desktop performance</a:t>
            </a:r>
            <a:r>
              <a:rPr lang="en-IN" sz="1600" dirty="0"/>
              <a:t> with fast loading, responsive interactions, and stable page layout. </a:t>
            </a:r>
          </a:p>
          <a:p>
            <a:endParaRPr lang="en-IN" dirty="0"/>
          </a:p>
        </p:txBody>
      </p:sp>
      <p:sp>
        <p:nvSpPr>
          <p:cNvPr id="9" name="Rectangle 8">
            <a:extLst>
              <a:ext uri="{FF2B5EF4-FFF2-40B4-BE49-F238E27FC236}">
                <a16:creationId xmlns:a16="http://schemas.microsoft.com/office/drawing/2014/main" id="{083999E4-EC49-4EDC-AFC8-1169A517B40E}"/>
              </a:ext>
            </a:extLst>
          </p:cNvPr>
          <p:cNvSpPr/>
          <p:nvPr/>
        </p:nvSpPr>
        <p:spPr>
          <a:xfrm>
            <a:off x="15311" y="952110"/>
            <a:ext cx="616286" cy="5896465"/>
          </a:xfrm>
          <a:prstGeom prst="rect">
            <a:avLst/>
          </a:prstGeom>
        </p:spPr>
        <p:style>
          <a:lnRef idx="2">
            <a:schemeClr val="dk1">
              <a:shade val="50000"/>
            </a:schemeClr>
          </a:lnRef>
          <a:fillRef idx="1">
            <a:schemeClr val="dk1"/>
          </a:fillRef>
          <a:effectRef idx="0">
            <a:schemeClr val="dk1"/>
          </a:effectRef>
          <a:fontRef idx="minor">
            <a:schemeClr val="lt1"/>
          </a:fontRef>
        </p:style>
        <p:txBody>
          <a:bodyPr vert="vert270" rtlCol="0" anchor="ctr"/>
          <a:lstStyle/>
          <a:p>
            <a:pPr algn="ctr"/>
            <a:r>
              <a:rPr lang="en-US" sz="2800" b="1" dirty="0"/>
              <a:t>SWEET KARAM COFFEE</a:t>
            </a:r>
            <a:endParaRPr lang="en-IN" sz="2800" b="1" dirty="0"/>
          </a:p>
        </p:txBody>
      </p:sp>
    </p:spTree>
    <p:extLst>
      <p:ext uri="{BB962C8B-B14F-4D97-AF65-F5344CB8AC3E}">
        <p14:creationId xmlns:p14="http://schemas.microsoft.com/office/powerpoint/2010/main" val="7487876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Content Placeholder 5">
            <a:extLst>
              <a:ext uri="{FF2B5EF4-FFF2-40B4-BE49-F238E27FC236}">
                <a16:creationId xmlns:a16="http://schemas.microsoft.com/office/drawing/2014/main" id="{F3A90031-824F-4870-BABD-7DE6CAC707E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429" y="0"/>
            <a:ext cx="1131216" cy="948153"/>
          </a:xfrm>
          <a:prstGeom prst="rect">
            <a:avLst/>
          </a:prstGeom>
        </p:spPr>
      </p:pic>
      <p:pic>
        <p:nvPicPr>
          <p:cNvPr id="3" name="Picture 2">
            <a:extLst>
              <a:ext uri="{FF2B5EF4-FFF2-40B4-BE49-F238E27FC236}">
                <a16:creationId xmlns:a16="http://schemas.microsoft.com/office/drawing/2014/main" id="{D11618EC-9B45-471F-A978-022BA2F3C2C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854082" y="11733"/>
            <a:ext cx="1337918" cy="941168"/>
          </a:xfrm>
          <a:prstGeom prst="rect">
            <a:avLst/>
          </a:prstGeom>
        </p:spPr>
      </p:pic>
      <p:sp>
        <p:nvSpPr>
          <p:cNvPr id="4" name="Rectangle 3">
            <a:extLst>
              <a:ext uri="{FF2B5EF4-FFF2-40B4-BE49-F238E27FC236}">
                <a16:creationId xmlns:a16="http://schemas.microsoft.com/office/drawing/2014/main" id="{276F1A02-C713-405D-BA6C-561AEE313E81}"/>
              </a:ext>
            </a:extLst>
          </p:cNvPr>
          <p:cNvSpPr/>
          <p:nvPr/>
        </p:nvSpPr>
        <p:spPr>
          <a:xfrm>
            <a:off x="3525624" y="122548"/>
            <a:ext cx="5344998" cy="584462"/>
          </a:xfrm>
          <a:prstGeom prst="rect">
            <a:avLst/>
          </a:prstGeom>
          <a:solidFill>
            <a:schemeClr val="accent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WEBSITE TRAFFIC ANALYSIS</a:t>
            </a:r>
          </a:p>
        </p:txBody>
      </p:sp>
      <p:sp>
        <p:nvSpPr>
          <p:cNvPr id="5" name="Rectangle 4">
            <a:extLst>
              <a:ext uri="{FF2B5EF4-FFF2-40B4-BE49-F238E27FC236}">
                <a16:creationId xmlns:a16="http://schemas.microsoft.com/office/drawing/2014/main" id="{305217A9-7D6A-4B13-BD2A-E7491B02CDA3}"/>
              </a:ext>
            </a:extLst>
          </p:cNvPr>
          <p:cNvSpPr/>
          <p:nvPr/>
        </p:nvSpPr>
        <p:spPr>
          <a:xfrm>
            <a:off x="801279" y="1253766"/>
            <a:ext cx="7268066" cy="2771480"/>
          </a:xfrm>
          <a:prstGeom prst="rect">
            <a:avLst/>
          </a:prstGeom>
          <a:blipFill dpi="0" rotWithShape="1">
            <a:blip r:embed="rId4">
              <a:extLst>
                <a:ext uri="{28A0092B-C50C-407E-A947-70E740481C1C}">
                  <a14:useLocalDpi xmlns:a14="http://schemas.microsoft.com/office/drawing/2010/main" val="0"/>
                </a:ext>
              </a:extLst>
            </a:blip>
            <a:srcRect/>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5F42926A-883A-4162-9C55-7E88E936FDFA}"/>
              </a:ext>
            </a:extLst>
          </p:cNvPr>
          <p:cNvSpPr txBox="1"/>
          <p:nvPr/>
        </p:nvSpPr>
        <p:spPr>
          <a:xfrm>
            <a:off x="8257880" y="1310326"/>
            <a:ext cx="3789575" cy="5324535"/>
          </a:xfrm>
          <a:prstGeom prst="rect">
            <a:avLst/>
          </a:prstGeom>
          <a:noFill/>
        </p:spPr>
        <p:txBody>
          <a:bodyPr wrap="square" rtlCol="0">
            <a:spAutoFit/>
          </a:bodyPr>
          <a:lstStyle/>
          <a:p>
            <a:pPr algn="ctr"/>
            <a:r>
              <a:rPr lang="en-IN" sz="1700" b="1" dirty="0"/>
              <a:t>INSIGHTS</a:t>
            </a:r>
          </a:p>
          <a:p>
            <a:pPr marL="285750" indent="-285750">
              <a:buFont typeface="Arial" panose="020B0604020202020204" pitchFamily="34" charset="0"/>
              <a:buChar char="•"/>
            </a:pPr>
            <a:r>
              <a:rPr lang="en-US" sz="1700" dirty="0"/>
              <a:t>Strong Website Reach: The website generated 300.2K total visits, indicating strong online visibility.</a:t>
            </a:r>
          </a:p>
          <a:p>
            <a:pPr marL="285750" indent="-285750">
              <a:buFont typeface="Arial" panose="020B0604020202020204" pitchFamily="34" charset="0"/>
              <a:buChar char="•"/>
            </a:pPr>
            <a:r>
              <a:rPr lang="en-US" sz="1700" dirty="0"/>
              <a:t>Global Visibility: Sweet Karam Coffee holds a Global Rank of 121,116, reflecting its position among websites worldwide.</a:t>
            </a:r>
          </a:p>
          <a:p>
            <a:pPr marL="285750" indent="-285750">
              <a:buFont typeface="Arial" panose="020B0604020202020204" pitchFamily="34" charset="0"/>
              <a:buChar char="•"/>
            </a:pPr>
            <a:r>
              <a:rPr lang="en-US" sz="1700" dirty="0"/>
              <a:t>Country Presence: The website ranks 8,764 nationally, showing a measurable presence within its target market.</a:t>
            </a:r>
          </a:p>
          <a:p>
            <a:pPr marL="285750" indent="-285750">
              <a:buFont typeface="Arial" panose="020B0604020202020204" pitchFamily="34" charset="0"/>
              <a:buChar char="•"/>
            </a:pPr>
            <a:r>
              <a:rPr lang="en-US" sz="1700" dirty="0"/>
              <a:t>Engagement Opportunity: With a 51.83% bounce rate, there is an opportunity to improve landing-page experience and visitor retention.</a:t>
            </a:r>
          </a:p>
          <a:p>
            <a:pPr marL="285750" indent="-285750">
              <a:buFont typeface="Arial" panose="020B0604020202020204" pitchFamily="34" charset="0"/>
              <a:buChar char="•"/>
            </a:pPr>
            <a:r>
              <a:rPr lang="en-US" sz="1700" dirty="0"/>
              <a:t>Healthy Browsing Depth: Visitors view an average of 4.51 pages per visit, suggesting good interest in the website content.</a:t>
            </a:r>
            <a:endParaRPr lang="en-IN" sz="1700" dirty="0"/>
          </a:p>
        </p:txBody>
      </p:sp>
      <p:sp>
        <p:nvSpPr>
          <p:cNvPr id="7" name="Rectangle 6">
            <a:extLst>
              <a:ext uri="{FF2B5EF4-FFF2-40B4-BE49-F238E27FC236}">
                <a16:creationId xmlns:a16="http://schemas.microsoft.com/office/drawing/2014/main" id="{32F342D4-8646-4E92-9490-A592C823DACE}"/>
              </a:ext>
            </a:extLst>
          </p:cNvPr>
          <p:cNvSpPr/>
          <p:nvPr/>
        </p:nvSpPr>
        <p:spPr>
          <a:xfrm>
            <a:off x="1492578" y="4773660"/>
            <a:ext cx="6096000" cy="1477328"/>
          </a:xfrm>
          <a:prstGeom prst="rect">
            <a:avLst/>
          </a:prstGeom>
        </p:spPr>
        <p:txBody>
          <a:bodyPr>
            <a:spAutoFit/>
          </a:bodyPr>
          <a:lstStyle/>
          <a:p>
            <a:r>
              <a:rPr lang="en-US" b="1" dirty="0"/>
              <a:t>Please note </a:t>
            </a:r>
            <a:r>
              <a:rPr lang="en-US" dirty="0"/>
              <a:t>that the data presented may change over time due to evolving metrics such as performance fluctuations, strategic adjustments, and external market dynamics. </a:t>
            </a:r>
          </a:p>
          <a:p>
            <a:r>
              <a:rPr lang="en-US" b="1" dirty="0"/>
              <a:t>     Source: </a:t>
            </a:r>
            <a:r>
              <a:rPr lang="en-US" dirty="0" err="1"/>
              <a:t>Similarweb</a:t>
            </a:r>
            <a:endParaRPr lang="en-IN" dirty="0"/>
          </a:p>
          <a:p>
            <a:endParaRPr lang="en-IN" dirty="0"/>
          </a:p>
        </p:txBody>
      </p:sp>
      <p:sp>
        <p:nvSpPr>
          <p:cNvPr id="8" name="Rectangle 7">
            <a:extLst>
              <a:ext uri="{FF2B5EF4-FFF2-40B4-BE49-F238E27FC236}">
                <a16:creationId xmlns:a16="http://schemas.microsoft.com/office/drawing/2014/main" id="{BCBC028A-C422-426F-82F0-1B3C33B81946}"/>
              </a:ext>
            </a:extLst>
          </p:cNvPr>
          <p:cNvSpPr/>
          <p:nvPr/>
        </p:nvSpPr>
        <p:spPr>
          <a:xfrm>
            <a:off x="-12970" y="952110"/>
            <a:ext cx="405350" cy="5896465"/>
          </a:xfrm>
          <a:prstGeom prst="rect">
            <a:avLst/>
          </a:prstGeom>
        </p:spPr>
        <p:style>
          <a:lnRef idx="3">
            <a:schemeClr val="lt1"/>
          </a:lnRef>
          <a:fillRef idx="1">
            <a:schemeClr val="accent2"/>
          </a:fillRef>
          <a:effectRef idx="1">
            <a:schemeClr val="accent2"/>
          </a:effectRef>
          <a:fontRef idx="minor">
            <a:schemeClr val="lt1"/>
          </a:fontRef>
        </p:style>
        <p:txBody>
          <a:bodyPr vert="vert270" rtlCol="0" anchor="ctr"/>
          <a:lstStyle/>
          <a:p>
            <a:pPr algn="ctr"/>
            <a:r>
              <a:rPr lang="en-US" sz="2800" b="1" dirty="0"/>
              <a:t>SWEET KARAM COFFEE</a:t>
            </a:r>
            <a:endParaRPr lang="en-IN" sz="2800" b="1" dirty="0"/>
          </a:p>
        </p:txBody>
      </p:sp>
    </p:spTree>
    <p:extLst>
      <p:ext uri="{BB962C8B-B14F-4D97-AF65-F5344CB8AC3E}">
        <p14:creationId xmlns:p14="http://schemas.microsoft.com/office/powerpoint/2010/main" val="1389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Content Placeholder 5">
            <a:extLst>
              <a:ext uri="{FF2B5EF4-FFF2-40B4-BE49-F238E27FC236}">
                <a16:creationId xmlns:a16="http://schemas.microsoft.com/office/drawing/2014/main" id="{BC4765D3-2F6F-4E5E-BC2E-34DFB83DEC6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429" y="0"/>
            <a:ext cx="1131216" cy="948153"/>
          </a:xfrm>
          <a:prstGeom prst="rect">
            <a:avLst/>
          </a:prstGeom>
        </p:spPr>
      </p:pic>
      <p:pic>
        <p:nvPicPr>
          <p:cNvPr id="3" name="Picture 2">
            <a:extLst>
              <a:ext uri="{FF2B5EF4-FFF2-40B4-BE49-F238E27FC236}">
                <a16:creationId xmlns:a16="http://schemas.microsoft.com/office/drawing/2014/main" id="{2FC815FF-DD70-4662-AB19-8A4248365EB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854082" y="11733"/>
            <a:ext cx="1337918" cy="941168"/>
          </a:xfrm>
          <a:prstGeom prst="rect">
            <a:avLst/>
          </a:prstGeom>
        </p:spPr>
      </p:pic>
      <p:sp>
        <p:nvSpPr>
          <p:cNvPr id="4" name="Rectangle 3">
            <a:extLst>
              <a:ext uri="{FF2B5EF4-FFF2-40B4-BE49-F238E27FC236}">
                <a16:creationId xmlns:a16="http://schemas.microsoft.com/office/drawing/2014/main" id="{41C2C80E-0339-478B-89B1-66018EC3F084}"/>
              </a:ext>
            </a:extLst>
          </p:cNvPr>
          <p:cNvSpPr/>
          <p:nvPr/>
        </p:nvSpPr>
        <p:spPr>
          <a:xfrm>
            <a:off x="3704732" y="18854"/>
            <a:ext cx="4958499" cy="627642"/>
          </a:xfrm>
          <a:prstGeom prst="rect">
            <a:avLst/>
          </a:prstGeom>
          <a:solidFill>
            <a:schemeClr val="accent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ORGANIC TRAFFIC ANALYSIS</a:t>
            </a:r>
          </a:p>
        </p:txBody>
      </p:sp>
      <p:sp>
        <p:nvSpPr>
          <p:cNvPr id="5" name="TextBox 4">
            <a:extLst>
              <a:ext uri="{FF2B5EF4-FFF2-40B4-BE49-F238E27FC236}">
                <a16:creationId xmlns:a16="http://schemas.microsoft.com/office/drawing/2014/main" id="{C0C9D959-5A74-473B-8A4B-8E2EA143D45E}"/>
              </a:ext>
            </a:extLst>
          </p:cNvPr>
          <p:cNvSpPr txBox="1"/>
          <p:nvPr/>
        </p:nvSpPr>
        <p:spPr>
          <a:xfrm>
            <a:off x="7532016" y="1498862"/>
            <a:ext cx="4204355" cy="5078313"/>
          </a:xfrm>
          <a:prstGeom prst="rect">
            <a:avLst/>
          </a:prstGeom>
          <a:noFill/>
        </p:spPr>
        <p:txBody>
          <a:bodyPr wrap="square" rtlCol="0">
            <a:spAutoFit/>
          </a:bodyPr>
          <a:lstStyle/>
          <a:p>
            <a:pPr algn="ctr"/>
            <a:r>
              <a:rPr lang="en-IN" b="1" dirty="0"/>
              <a:t>Insights</a:t>
            </a:r>
          </a:p>
          <a:p>
            <a:pPr marL="285750" indent="-285750">
              <a:buFont typeface="Arial" panose="020B0604020202020204" pitchFamily="34" charset="0"/>
              <a:buChar char="•"/>
            </a:pPr>
            <a:r>
              <a:rPr lang="en-US" dirty="0"/>
              <a:t>The website gets around 88.9K organic visits, which shows that it is getting good traffic from search engines.</a:t>
            </a:r>
          </a:p>
          <a:p>
            <a:pPr marL="285750" indent="-285750">
              <a:buFont typeface="Arial" panose="020B0604020202020204" pitchFamily="34" charset="0"/>
              <a:buChar char="•"/>
            </a:pPr>
            <a:r>
              <a:rPr lang="en-US" dirty="0"/>
              <a:t>There are around 3.9K organic keywords helping people find the website through Google.</a:t>
            </a:r>
          </a:p>
          <a:p>
            <a:pPr marL="285750" indent="-285750">
              <a:buFont typeface="Arial" panose="020B0604020202020204" pitchFamily="34" charset="0"/>
              <a:buChar char="•"/>
            </a:pPr>
            <a:r>
              <a:rPr lang="en-US" dirty="0"/>
              <a:t>The Authority Score is 37, so there is still scope to improve the website’s SEO strength.</a:t>
            </a:r>
          </a:p>
          <a:p>
            <a:pPr marL="285750" indent="-285750">
              <a:buFont typeface="Arial" panose="020B0604020202020204" pitchFamily="34" charset="0"/>
              <a:buChar char="•"/>
            </a:pPr>
            <a:r>
              <a:rPr lang="en-US" dirty="0"/>
              <a:t>Organic traffic and keywords have slightly decreased, so improving website content and keyword targeting can help increase organic traffic.</a:t>
            </a:r>
          </a:p>
          <a:p>
            <a:pPr marL="285750" indent="-285750">
              <a:buFont typeface="Arial" panose="020B0604020202020204" pitchFamily="34" charset="0"/>
              <a:buChar char="•"/>
            </a:pPr>
            <a:r>
              <a:rPr lang="en-US" dirty="0"/>
              <a:t>The website has 1.3K referring domains, which shows that other websites are linking to it.</a:t>
            </a:r>
            <a:endParaRPr lang="en-IN" dirty="0"/>
          </a:p>
          <a:p>
            <a:pPr marL="285750" indent="-285750">
              <a:buFont typeface="Arial" panose="020B0604020202020204" pitchFamily="34" charset="0"/>
              <a:buChar char="•"/>
            </a:pPr>
            <a:endParaRPr lang="en-IN" dirty="0"/>
          </a:p>
        </p:txBody>
      </p:sp>
      <p:sp>
        <p:nvSpPr>
          <p:cNvPr id="6" name="Rectangle 5">
            <a:extLst>
              <a:ext uri="{FF2B5EF4-FFF2-40B4-BE49-F238E27FC236}">
                <a16:creationId xmlns:a16="http://schemas.microsoft.com/office/drawing/2014/main" id="{598092C2-EB60-49DB-BCEB-96D62536B5D3}"/>
              </a:ext>
            </a:extLst>
          </p:cNvPr>
          <p:cNvSpPr/>
          <p:nvPr/>
        </p:nvSpPr>
        <p:spPr>
          <a:xfrm>
            <a:off x="1489437" y="829559"/>
            <a:ext cx="5938885" cy="2168165"/>
          </a:xfrm>
          <a:prstGeom prst="rect">
            <a:avLst/>
          </a:prstGeom>
          <a:blipFill dpi="0" rotWithShape="1">
            <a:blip r:embed="rId4">
              <a:extLst>
                <a:ext uri="{28A0092B-C50C-407E-A947-70E740481C1C}">
                  <a14:useLocalDpi xmlns:a14="http://schemas.microsoft.com/office/drawing/2010/main" val="0"/>
                </a:ext>
              </a:extLst>
            </a:blip>
            <a:srcRect/>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ectangle 6">
            <a:extLst>
              <a:ext uri="{FF2B5EF4-FFF2-40B4-BE49-F238E27FC236}">
                <a16:creationId xmlns:a16="http://schemas.microsoft.com/office/drawing/2014/main" id="{2B7AD60B-17DD-42C9-BA0D-2B692D94D379}"/>
              </a:ext>
            </a:extLst>
          </p:cNvPr>
          <p:cNvSpPr/>
          <p:nvPr/>
        </p:nvSpPr>
        <p:spPr>
          <a:xfrm>
            <a:off x="744719" y="4272677"/>
            <a:ext cx="6919274" cy="2800767"/>
          </a:xfrm>
          <a:prstGeom prst="rect">
            <a:avLst/>
          </a:prstGeom>
        </p:spPr>
        <p:txBody>
          <a:bodyPr wrap="square">
            <a:spAutoFit/>
          </a:bodyPr>
          <a:lstStyle/>
          <a:p>
            <a:endParaRPr lang="en-US" sz="1600" b="1" dirty="0"/>
          </a:p>
          <a:p>
            <a:endParaRPr lang="en-US" sz="1600" b="1" dirty="0"/>
          </a:p>
          <a:p>
            <a:endParaRPr lang="en-US" sz="1600" b="1" dirty="0"/>
          </a:p>
          <a:p>
            <a:endParaRPr lang="en-US" sz="1600" b="1" dirty="0"/>
          </a:p>
          <a:p>
            <a:endParaRPr lang="en-US" sz="1600" b="1" dirty="0"/>
          </a:p>
          <a:p>
            <a:endParaRPr lang="en-US" sz="1600" b="1" dirty="0"/>
          </a:p>
          <a:p>
            <a:r>
              <a:rPr lang="en-US" sz="1600" b="1" dirty="0"/>
              <a:t>Please note </a:t>
            </a:r>
            <a:r>
              <a:rPr lang="en-US" sz="1600" dirty="0"/>
              <a:t>that the data presented may change over time due to evolving metrics such as performance fluctuations, strategic adjustments, and external market dynamics. </a:t>
            </a:r>
          </a:p>
          <a:p>
            <a:r>
              <a:rPr lang="en-US" sz="1600" b="1" dirty="0"/>
              <a:t>     Source: </a:t>
            </a:r>
            <a:r>
              <a:rPr lang="en-US" sz="1600" dirty="0" err="1"/>
              <a:t>Semrush</a:t>
            </a:r>
            <a:endParaRPr lang="en-IN" sz="1600" dirty="0"/>
          </a:p>
          <a:p>
            <a:endParaRPr lang="en-IN" sz="1600" dirty="0"/>
          </a:p>
        </p:txBody>
      </p:sp>
      <p:sp>
        <p:nvSpPr>
          <p:cNvPr id="8" name="Rectangle 7">
            <a:extLst>
              <a:ext uri="{FF2B5EF4-FFF2-40B4-BE49-F238E27FC236}">
                <a16:creationId xmlns:a16="http://schemas.microsoft.com/office/drawing/2014/main" id="{D3526354-E29F-4BDC-A30C-854C8EBAFF92}"/>
              </a:ext>
            </a:extLst>
          </p:cNvPr>
          <p:cNvSpPr/>
          <p:nvPr/>
        </p:nvSpPr>
        <p:spPr>
          <a:xfrm>
            <a:off x="15311" y="952110"/>
            <a:ext cx="616286" cy="5896465"/>
          </a:xfrm>
          <a:prstGeom prst="rect">
            <a:avLst/>
          </a:prstGeom>
          <a:solidFill>
            <a:schemeClr val="accent6">
              <a:lumMod val="50000"/>
            </a:schemeClr>
          </a:solidFill>
        </p:spPr>
        <p:style>
          <a:lnRef idx="2">
            <a:schemeClr val="dk1">
              <a:shade val="50000"/>
            </a:schemeClr>
          </a:lnRef>
          <a:fillRef idx="1">
            <a:schemeClr val="dk1"/>
          </a:fillRef>
          <a:effectRef idx="0">
            <a:schemeClr val="dk1"/>
          </a:effectRef>
          <a:fontRef idx="minor">
            <a:schemeClr val="lt1"/>
          </a:fontRef>
        </p:style>
        <p:txBody>
          <a:bodyPr vert="vert270" rtlCol="0" anchor="ctr"/>
          <a:lstStyle/>
          <a:p>
            <a:pPr algn="ctr"/>
            <a:r>
              <a:rPr lang="en-US" sz="2800" b="1" dirty="0"/>
              <a:t>SWEET KARAM COFFEE</a:t>
            </a:r>
            <a:endParaRPr lang="en-IN" sz="2800" b="1" dirty="0"/>
          </a:p>
        </p:txBody>
      </p:sp>
      <p:sp>
        <p:nvSpPr>
          <p:cNvPr id="9" name="Rectangle 8">
            <a:extLst>
              <a:ext uri="{FF2B5EF4-FFF2-40B4-BE49-F238E27FC236}">
                <a16:creationId xmlns:a16="http://schemas.microsoft.com/office/drawing/2014/main" id="{2B127444-7B97-4AEA-8401-6F994A367BA2}"/>
              </a:ext>
            </a:extLst>
          </p:cNvPr>
          <p:cNvSpPr/>
          <p:nvPr/>
        </p:nvSpPr>
        <p:spPr>
          <a:xfrm>
            <a:off x="1489436" y="2997724"/>
            <a:ext cx="5929458" cy="2800766"/>
          </a:xfrm>
          <a:prstGeom prst="rect">
            <a:avLst/>
          </a:prstGeom>
          <a:blipFill dpi="0" rotWithShape="1">
            <a:blip r:embed="rId5">
              <a:extLst>
                <a:ext uri="{28A0092B-C50C-407E-A947-70E740481C1C}">
                  <a14:useLocalDpi xmlns:a14="http://schemas.microsoft.com/office/drawing/2010/main" val="0"/>
                </a:ext>
              </a:extLst>
            </a:blip>
            <a:srcRect/>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686490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Content Placeholder 5">
            <a:extLst>
              <a:ext uri="{FF2B5EF4-FFF2-40B4-BE49-F238E27FC236}">
                <a16:creationId xmlns:a16="http://schemas.microsoft.com/office/drawing/2014/main" id="{2C06AF54-00FD-43E3-A000-6C9FC2FA47F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429" y="0"/>
            <a:ext cx="1131216" cy="948153"/>
          </a:xfrm>
          <a:prstGeom prst="rect">
            <a:avLst/>
          </a:prstGeom>
        </p:spPr>
      </p:pic>
      <p:pic>
        <p:nvPicPr>
          <p:cNvPr id="3" name="Picture 2">
            <a:extLst>
              <a:ext uri="{FF2B5EF4-FFF2-40B4-BE49-F238E27FC236}">
                <a16:creationId xmlns:a16="http://schemas.microsoft.com/office/drawing/2014/main" id="{D51E9AB4-20DB-4078-8E06-4660A3CB8B1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854082" y="11733"/>
            <a:ext cx="1337918" cy="941168"/>
          </a:xfrm>
          <a:prstGeom prst="rect">
            <a:avLst/>
          </a:prstGeom>
        </p:spPr>
      </p:pic>
      <p:sp>
        <p:nvSpPr>
          <p:cNvPr id="4" name="Rectangle 3">
            <a:extLst>
              <a:ext uri="{FF2B5EF4-FFF2-40B4-BE49-F238E27FC236}">
                <a16:creationId xmlns:a16="http://schemas.microsoft.com/office/drawing/2014/main" id="{548F27E5-0A2C-49C6-9942-6798506BDB50}"/>
              </a:ext>
            </a:extLst>
          </p:cNvPr>
          <p:cNvSpPr/>
          <p:nvPr/>
        </p:nvSpPr>
        <p:spPr>
          <a:xfrm>
            <a:off x="3525630" y="311083"/>
            <a:ext cx="5231877" cy="754144"/>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KEYWORD CONSISTENCY</a:t>
            </a:r>
          </a:p>
        </p:txBody>
      </p:sp>
      <p:sp>
        <p:nvSpPr>
          <p:cNvPr id="5" name="TextBox 4">
            <a:extLst>
              <a:ext uri="{FF2B5EF4-FFF2-40B4-BE49-F238E27FC236}">
                <a16:creationId xmlns:a16="http://schemas.microsoft.com/office/drawing/2014/main" id="{9F382D5D-BAD4-4913-A89E-52CFECCE0B19}"/>
              </a:ext>
            </a:extLst>
          </p:cNvPr>
          <p:cNvSpPr txBox="1"/>
          <p:nvPr/>
        </p:nvSpPr>
        <p:spPr>
          <a:xfrm>
            <a:off x="7437750" y="1499964"/>
            <a:ext cx="4163098" cy="3581083"/>
          </a:xfrm>
          <a:prstGeom prst="rect">
            <a:avLst/>
          </a:prstGeom>
          <a:noFill/>
        </p:spPr>
        <p:txBody>
          <a:bodyPr wrap="square" rtlCol="0">
            <a:spAutoFit/>
          </a:bodyPr>
          <a:lstStyle/>
          <a:p>
            <a:pPr algn="ctr"/>
            <a:r>
              <a:rPr lang="en-IN" sz="2000" b="1" dirty="0"/>
              <a:t>Insights</a:t>
            </a:r>
          </a:p>
          <a:p>
            <a:endParaRPr lang="en-US" sz="2000" dirty="0"/>
          </a:p>
          <a:p>
            <a:r>
              <a:rPr lang="en-US" sz="2000" dirty="0"/>
              <a:t>This indicates that Page’s main keywords are not distributed well across important HTML tags. Page content should be focused around particular keywords we are likely to rank for. Ideally, these keywords should also be distributed across tags such as the title, meta and header tags.</a:t>
            </a:r>
            <a:endParaRPr lang="en-IN" sz="2000" dirty="0"/>
          </a:p>
        </p:txBody>
      </p:sp>
      <p:sp>
        <p:nvSpPr>
          <p:cNvPr id="6" name="Rectangle 5">
            <a:extLst>
              <a:ext uri="{FF2B5EF4-FFF2-40B4-BE49-F238E27FC236}">
                <a16:creationId xmlns:a16="http://schemas.microsoft.com/office/drawing/2014/main" id="{87DA6F9C-90D9-49F4-8E20-81591DBFCC3C}"/>
              </a:ext>
            </a:extLst>
          </p:cNvPr>
          <p:cNvSpPr/>
          <p:nvPr/>
        </p:nvSpPr>
        <p:spPr>
          <a:xfrm>
            <a:off x="122555" y="1545367"/>
            <a:ext cx="6956979" cy="3874420"/>
          </a:xfrm>
          <a:prstGeom prst="rect">
            <a:avLst/>
          </a:prstGeom>
          <a:blipFill dpi="0" rotWithShape="1">
            <a:blip r:embed="rId4">
              <a:extLst>
                <a:ext uri="{28A0092B-C50C-407E-A947-70E740481C1C}">
                  <a14:useLocalDpi xmlns:a14="http://schemas.microsoft.com/office/drawing/2010/main" val="0"/>
                </a:ext>
              </a:extLst>
            </a:blip>
            <a:srcRect/>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TextBox 6">
            <a:extLst>
              <a:ext uri="{FF2B5EF4-FFF2-40B4-BE49-F238E27FC236}">
                <a16:creationId xmlns:a16="http://schemas.microsoft.com/office/drawing/2014/main" id="{707A0293-D627-42BE-9823-C42646AE4A90}"/>
              </a:ext>
            </a:extLst>
          </p:cNvPr>
          <p:cNvSpPr txBox="1"/>
          <p:nvPr/>
        </p:nvSpPr>
        <p:spPr>
          <a:xfrm>
            <a:off x="565608" y="5637228"/>
            <a:ext cx="10746557" cy="1200329"/>
          </a:xfrm>
          <a:prstGeom prst="rect">
            <a:avLst/>
          </a:prstGeom>
          <a:noFill/>
        </p:spPr>
        <p:txBody>
          <a:bodyPr wrap="square" rtlCol="0">
            <a:spAutoFit/>
          </a:bodyPr>
          <a:lstStyle/>
          <a:p>
            <a:r>
              <a:rPr lang="en-US" b="1" dirty="0"/>
              <a:t>Please note </a:t>
            </a:r>
            <a:r>
              <a:rPr lang="en-US" dirty="0"/>
              <a:t>that the data presented may change over time due to evolving metrics such as performance fluctuations, strategic adjustments, and external market dynamics. </a:t>
            </a:r>
          </a:p>
          <a:p>
            <a:r>
              <a:rPr lang="en-US" b="1" dirty="0"/>
              <a:t>     Source: </a:t>
            </a:r>
            <a:r>
              <a:rPr lang="en-US" dirty="0" err="1"/>
              <a:t>SEOptimer</a:t>
            </a:r>
            <a:endParaRPr lang="en-IN" dirty="0"/>
          </a:p>
          <a:p>
            <a:endParaRPr lang="en-IN" dirty="0"/>
          </a:p>
        </p:txBody>
      </p:sp>
      <p:sp>
        <p:nvSpPr>
          <p:cNvPr id="8" name="Rectangle 7">
            <a:extLst>
              <a:ext uri="{FF2B5EF4-FFF2-40B4-BE49-F238E27FC236}">
                <a16:creationId xmlns:a16="http://schemas.microsoft.com/office/drawing/2014/main" id="{1D8F2CD5-7E71-45E6-918D-5A4026B17B52}"/>
              </a:ext>
            </a:extLst>
          </p:cNvPr>
          <p:cNvSpPr/>
          <p:nvPr/>
        </p:nvSpPr>
        <p:spPr>
          <a:xfrm>
            <a:off x="11626392" y="952110"/>
            <a:ext cx="540064" cy="5896465"/>
          </a:xfrm>
          <a:prstGeom prst="rect">
            <a:avLst/>
          </a:prstGeom>
        </p:spPr>
        <p:style>
          <a:lnRef idx="3">
            <a:schemeClr val="lt1"/>
          </a:lnRef>
          <a:fillRef idx="1">
            <a:schemeClr val="accent2"/>
          </a:fillRef>
          <a:effectRef idx="1">
            <a:schemeClr val="accent2"/>
          </a:effectRef>
          <a:fontRef idx="minor">
            <a:schemeClr val="lt1"/>
          </a:fontRef>
        </p:style>
        <p:txBody>
          <a:bodyPr vert="vert" rtlCol="0" anchor="ctr"/>
          <a:lstStyle/>
          <a:p>
            <a:pPr algn="ctr"/>
            <a:r>
              <a:rPr lang="en-US" sz="2800" b="1" dirty="0"/>
              <a:t>SWEET KARAM COFFEE</a:t>
            </a:r>
            <a:endParaRPr lang="en-IN" sz="2800" b="1" dirty="0"/>
          </a:p>
        </p:txBody>
      </p:sp>
    </p:spTree>
    <p:extLst>
      <p:ext uri="{BB962C8B-B14F-4D97-AF65-F5344CB8AC3E}">
        <p14:creationId xmlns:p14="http://schemas.microsoft.com/office/powerpoint/2010/main" val="32050455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Content Placeholder 5">
            <a:extLst>
              <a:ext uri="{FF2B5EF4-FFF2-40B4-BE49-F238E27FC236}">
                <a16:creationId xmlns:a16="http://schemas.microsoft.com/office/drawing/2014/main" id="{C30C00CB-79C6-404C-99D3-637F29330EC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429" y="1"/>
            <a:ext cx="1131216" cy="948153"/>
          </a:xfrm>
          <a:prstGeom prst="rect">
            <a:avLst/>
          </a:prstGeom>
        </p:spPr>
      </p:pic>
      <p:pic>
        <p:nvPicPr>
          <p:cNvPr id="3" name="Picture 2">
            <a:extLst>
              <a:ext uri="{FF2B5EF4-FFF2-40B4-BE49-F238E27FC236}">
                <a16:creationId xmlns:a16="http://schemas.microsoft.com/office/drawing/2014/main" id="{21639DF6-88B4-4720-A1DE-2D93EB259E2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854082" y="11734"/>
            <a:ext cx="1337918" cy="941168"/>
          </a:xfrm>
          <a:prstGeom prst="rect">
            <a:avLst/>
          </a:prstGeom>
        </p:spPr>
      </p:pic>
      <p:sp>
        <p:nvSpPr>
          <p:cNvPr id="4" name="TextBox 3">
            <a:extLst>
              <a:ext uri="{FF2B5EF4-FFF2-40B4-BE49-F238E27FC236}">
                <a16:creationId xmlns:a16="http://schemas.microsoft.com/office/drawing/2014/main" id="{D967E1BC-39DE-4CC4-B1E7-CAD81028AF3D}"/>
              </a:ext>
            </a:extLst>
          </p:cNvPr>
          <p:cNvSpPr txBox="1"/>
          <p:nvPr/>
        </p:nvSpPr>
        <p:spPr>
          <a:xfrm>
            <a:off x="3497344" y="226240"/>
            <a:ext cx="5439266" cy="523220"/>
          </a:xfrm>
          <a:prstGeom prst="rect">
            <a:avLst/>
          </a:prstGeom>
          <a:solidFill>
            <a:schemeClr val="accent2">
              <a:lumMod val="50000"/>
            </a:schemeClr>
          </a:solidFill>
        </p:spPr>
        <p:txBody>
          <a:bodyPr wrap="square" rtlCol="0">
            <a:spAutoFit/>
          </a:bodyPr>
          <a:lstStyle/>
          <a:p>
            <a:pPr algn="ctr"/>
            <a:r>
              <a:rPr lang="en-US" sz="2800" b="1" dirty="0">
                <a:solidFill>
                  <a:schemeClr val="bg1"/>
                </a:solidFill>
              </a:rPr>
              <a:t>ORGANIC KEYWORD ANALYSIS</a:t>
            </a:r>
            <a:endParaRPr lang="en-IN" sz="2800" b="1" dirty="0">
              <a:solidFill>
                <a:schemeClr val="bg1"/>
              </a:solidFill>
            </a:endParaRPr>
          </a:p>
        </p:txBody>
      </p:sp>
      <p:sp>
        <p:nvSpPr>
          <p:cNvPr id="5" name="TextBox 4">
            <a:extLst>
              <a:ext uri="{FF2B5EF4-FFF2-40B4-BE49-F238E27FC236}">
                <a16:creationId xmlns:a16="http://schemas.microsoft.com/office/drawing/2014/main" id="{4F4F4E3C-4F3C-420F-9F4F-5E4B0942A20F}"/>
              </a:ext>
            </a:extLst>
          </p:cNvPr>
          <p:cNvSpPr txBox="1"/>
          <p:nvPr/>
        </p:nvSpPr>
        <p:spPr>
          <a:xfrm>
            <a:off x="7082674" y="1300899"/>
            <a:ext cx="5021342" cy="5078313"/>
          </a:xfrm>
          <a:prstGeom prst="rect">
            <a:avLst/>
          </a:prstGeom>
          <a:noFill/>
        </p:spPr>
        <p:txBody>
          <a:bodyPr wrap="square" rtlCol="0">
            <a:spAutoFit/>
          </a:bodyPr>
          <a:lstStyle/>
          <a:p>
            <a:pPr algn="ctr"/>
            <a:r>
              <a:rPr lang="en-US" b="1" dirty="0"/>
              <a:t>INSIGHTS</a:t>
            </a:r>
          </a:p>
          <a:p>
            <a:pPr marL="285750" indent="-285750">
              <a:buFont typeface="Arial" panose="020B0604020202020204" pitchFamily="34" charset="0"/>
              <a:buChar char="•"/>
            </a:pPr>
            <a:r>
              <a:rPr lang="en-US" dirty="0"/>
              <a:t>The website is ranking for around 10 keywords during the shown period. </a:t>
            </a:r>
          </a:p>
          <a:p>
            <a:pPr marL="285750" indent="-285750">
              <a:buFont typeface="Arial" panose="020B0604020202020204" pitchFamily="34" charset="0"/>
              <a:buChar char="•"/>
            </a:pPr>
            <a:r>
              <a:rPr lang="en-US" dirty="0"/>
              <a:t>A good number of keywords are ranking in the top 10 positions, which shows good search visibility. </a:t>
            </a:r>
          </a:p>
          <a:p>
            <a:pPr marL="285750" indent="-285750">
              <a:buFont typeface="Arial" panose="020B0604020202020204" pitchFamily="34" charset="0"/>
              <a:buChar char="•"/>
            </a:pPr>
            <a:r>
              <a:rPr lang="en-US" dirty="0"/>
              <a:t>Some keywords are ranking in positions 11–20, so there is a chance to move them to the first page. </a:t>
            </a:r>
          </a:p>
          <a:p>
            <a:pPr marL="285750" indent="-285750">
              <a:buFont typeface="Arial" panose="020B0604020202020204" pitchFamily="34" charset="0"/>
              <a:buChar char="•"/>
            </a:pPr>
            <a:r>
              <a:rPr lang="en-US" dirty="0"/>
              <a:t>A few keywords are also ranking in the 21–100 range, which need more SEO improvement. </a:t>
            </a:r>
          </a:p>
          <a:p>
            <a:pPr marL="285750" indent="-285750">
              <a:buFont typeface="Arial" panose="020B0604020202020204" pitchFamily="34" charset="0"/>
              <a:buChar char="•"/>
            </a:pPr>
            <a:r>
              <a:rPr lang="en-US" dirty="0"/>
              <a:t>The graph shows that the number of ranking keywords is fairly stable from September 15 to September 22. </a:t>
            </a:r>
          </a:p>
          <a:p>
            <a:pPr marL="285750" indent="-285750">
              <a:buFont typeface="Arial" panose="020B0604020202020204" pitchFamily="34" charset="0"/>
              <a:buChar char="•"/>
            </a:pPr>
            <a:r>
              <a:rPr lang="en-US" dirty="0"/>
              <a:t>Improving the keywords’ ranking outside the top 10 can help the website get more organic traffic and visibility.</a:t>
            </a:r>
          </a:p>
          <a:p>
            <a:endParaRPr lang="en-IN" dirty="0"/>
          </a:p>
        </p:txBody>
      </p:sp>
      <p:sp>
        <p:nvSpPr>
          <p:cNvPr id="6" name="TextBox 5">
            <a:extLst>
              <a:ext uri="{FF2B5EF4-FFF2-40B4-BE49-F238E27FC236}">
                <a16:creationId xmlns:a16="http://schemas.microsoft.com/office/drawing/2014/main" id="{FE858CAE-13B5-419C-BBB3-3716C5ACEF3B}"/>
              </a:ext>
            </a:extLst>
          </p:cNvPr>
          <p:cNvSpPr txBox="1"/>
          <p:nvPr/>
        </p:nvSpPr>
        <p:spPr>
          <a:xfrm>
            <a:off x="886120" y="5514679"/>
            <a:ext cx="5722070" cy="1477328"/>
          </a:xfrm>
          <a:prstGeom prst="rect">
            <a:avLst/>
          </a:prstGeom>
          <a:noFill/>
        </p:spPr>
        <p:txBody>
          <a:bodyPr wrap="square" rtlCol="0">
            <a:spAutoFit/>
          </a:bodyPr>
          <a:lstStyle/>
          <a:p>
            <a:r>
              <a:rPr lang="en-US" b="1" dirty="0"/>
              <a:t>Please note </a:t>
            </a:r>
            <a:r>
              <a:rPr lang="en-US" dirty="0"/>
              <a:t>that the data presented may change over time due to evolving metrics such as performance fluctuations, strategic adjustments, and external market dynamics. </a:t>
            </a:r>
          </a:p>
          <a:p>
            <a:r>
              <a:rPr lang="en-US" dirty="0"/>
              <a:t>Source: SEMrush</a:t>
            </a:r>
          </a:p>
          <a:p>
            <a:endParaRPr lang="en-IN" dirty="0"/>
          </a:p>
        </p:txBody>
      </p:sp>
      <p:pic>
        <p:nvPicPr>
          <p:cNvPr id="8" name="Picture 7">
            <a:extLst>
              <a:ext uri="{FF2B5EF4-FFF2-40B4-BE49-F238E27FC236}">
                <a16:creationId xmlns:a16="http://schemas.microsoft.com/office/drawing/2014/main" id="{A1948861-1F11-4EBC-B2D6-1F03634BCDD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90268" y="1199327"/>
            <a:ext cx="6946913" cy="4155096"/>
          </a:xfrm>
          <a:prstGeom prst="rect">
            <a:avLst/>
          </a:prstGeom>
          <a:ln>
            <a:solidFill>
              <a:schemeClr val="tx2">
                <a:lumMod val="50000"/>
              </a:schemeClr>
            </a:solidFill>
          </a:ln>
        </p:spPr>
      </p:pic>
    </p:spTree>
    <p:extLst>
      <p:ext uri="{BB962C8B-B14F-4D97-AF65-F5344CB8AC3E}">
        <p14:creationId xmlns:p14="http://schemas.microsoft.com/office/powerpoint/2010/main" val="34295079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4C2765A-2B47-4292-A930-C2AB6028410B}"/>
              </a:ext>
            </a:extLst>
          </p:cNvPr>
          <p:cNvSpPr/>
          <p:nvPr/>
        </p:nvSpPr>
        <p:spPr>
          <a:xfrm>
            <a:off x="3214541" y="113121"/>
            <a:ext cx="5910606" cy="801280"/>
          </a:xfrm>
          <a:prstGeom prst="rect">
            <a:avLst/>
          </a:prstGeom>
          <a:solidFill>
            <a:schemeClr val="accent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WEBSITE GEO DISTRIBUTION ANALYSIS</a:t>
            </a:r>
          </a:p>
        </p:txBody>
      </p:sp>
      <p:pic>
        <p:nvPicPr>
          <p:cNvPr id="3" name="Content Placeholder 5">
            <a:extLst>
              <a:ext uri="{FF2B5EF4-FFF2-40B4-BE49-F238E27FC236}">
                <a16:creationId xmlns:a16="http://schemas.microsoft.com/office/drawing/2014/main" id="{059CBCB2-2E68-45E0-90E4-2C519D47425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429" y="0"/>
            <a:ext cx="1131216" cy="948153"/>
          </a:xfrm>
          <a:prstGeom prst="rect">
            <a:avLst/>
          </a:prstGeom>
        </p:spPr>
      </p:pic>
      <p:pic>
        <p:nvPicPr>
          <p:cNvPr id="4" name="Picture 3">
            <a:extLst>
              <a:ext uri="{FF2B5EF4-FFF2-40B4-BE49-F238E27FC236}">
                <a16:creationId xmlns:a16="http://schemas.microsoft.com/office/drawing/2014/main" id="{D0E7FC0D-9552-4BBD-8D35-007838B11E4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854082" y="11733"/>
            <a:ext cx="1337918" cy="941168"/>
          </a:xfrm>
          <a:prstGeom prst="rect">
            <a:avLst/>
          </a:prstGeom>
        </p:spPr>
      </p:pic>
      <p:sp>
        <p:nvSpPr>
          <p:cNvPr id="6" name="Rectangle 5">
            <a:extLst>
              <a:ext uri="{FF2B5EF4-FFF2-40B4-BE49-F238E27FC236}">
                <a16:creationId xmlns:a16="http://schemas.microsoft.com/office/drawing/2014/main" id="{F72EB520-2284-4955-AAC4-4A43537641A0}"/>
              </a:ext>
            </a:extLst>
          </p:cNvPr>
          <p:cNvSpPr/>
          <p:nvPr/>
        </p:nvSpPr>
        <p:spPr>
          <a:xfrm>
            <a:off x="622170" y="1211231"/>
            <a:ext cx="6617616" cy="3465439"/>
          </a:xfrm>
          <a:prstGeom prst="rect">
            <a:avLst/>
          </a:prstGeom>
          <a:blipFill dpi="0" rotWithShape="1">
            <a:blip r:embed="rId4">
              <a:extLst>
                <a:ext uri="{28A0092B-C50C-407E-A947-70E740481C1C}">
                  <a14:useLocalDpi xmlns:a14="http://schemas.microsoft.com/office/drawing/2010/main" val="0"/>
                </a:ext>
              </a:extLst>
            </a:blip>
            <a:srcRect/>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TextBox 12">
            <a:extLst>
              <a:ext uri="{FF2B5EF4-FFF2-40B4-BE49-F238E27FC236}">
                <a16:creationId xmlns:a16="http://schemas.microsoft.com/office/drawing/2014/main" id="{B955A58B-3651-414D-8FCD-690955AB2DA9}"/>
              </a:ext>
            </a:extLst>
          </p:cNvPr>
          <p:cNvSpPr txBox="1"/>
          <p:nvPr/>
        </p:nvSpPr>
        <p:spPr>
          <a:xfrm>
            <a:off x="7315200" y="1071002"/>
            <a:ext cx="4927083" cy="5216813"/>
          </a:xfrm>
          <a:prstGeom prst="rect">
            <a:avLst/>
          </a:prstGeom>
          <a:noFill/>
        </p:spPr>
        <p:txBody>
          <a:bodyPr wrap="square" rtlCol="0">
            <a:spAutoFit/>
          </a:bodyPr>
          <a:lstStyle/>
          <a:p>
            <a:pPr algn="ctr">
              <a:lnSpc>
                <a:spcPct val="150000"/>
              </a:lnSpc>
            </a:pPr>
            <a:r>
              <a:rPr lang="en-US" b="1" dirty="0"/>
              <a:t>Insights</a:t>
            </a:r>
          </a:p>
          <a:p>
            <a:pPr marL="285750" indent="-285750">
              <a:buFont typeface="Arial" panose="020B0604020202020204" pitchFamily="34" charset="0"/>
              <a:buChar char="•"/>
            </a:pPr>
            <a:r>
              <a:rPr lang="en-US" dirty="0"/>
              <a:t> The website has a good foundation for Generative Engine Optimization.  </a:t>
            </a:r>
          </a:p>
          <a:p>
            <a:pPr marL="285750" indent="-285750">
              <a:buFont typeface="Arial" panose="020B0604020202020204" pitchFamily="34" charset="0"/>
              <a:buChar char="•"/>
            </a:pPr>
            <a:r>
              <a:rPr lang="en-US" dirty="0"/>
              <a:t>Search engines can partially crawl and understand the website’s content and entity structure. </a:t>
            </a:r>
          </a:p>
          <a:p>
            <a:pPr marL="285750" indent="-285750">
              <a:buFont typeface="Arial" panose="020B0604020202020204" pitchFamily="34" charset="0"/>
              <a:buChar char="•"/>
            </a:pPr>
            <a:r>
              <a:rPr lang="en-US" dirty="0"/>
              <a:t>Additional GEO enhancements are required to strengthen visibility across AI-driven search platforms. </a:t>
            </a:r>
          </a:p>
          <a:p>
            <a:pPr marL="285750" indent="-285750">
              <a:buFont typeface="Arial" panose="020B0604020202020204" pitchFamily="34" charset="0"/>
              <a:buChar char="•"/>
            </a:pPr>
            <a:r>
              <a:rPr lang="en-US" dirty="0"/>
              <a:t>Improve structured content and clear entity relationships to help AI systems understand the brand and offerings. </a:t>
            </a:r>
          </a:p>
          <a:p>
            <a:pPr marL="285750" indent="-285750">
              <a:buFont typeface="Arial" panose="020B0604020202020204" pitchFamily="34" charset="0"/>
              <a:buChar char="•"/>
            </a:pPr>
            <a:r>
              <a:rPr lang="en-US" dirty="0"/>
              <a:t>GEO is increasingly important as AI-powered search becomes a growing source of website traffic. </a:t>
            </a:r>
          </a:p>
          <a:p>
            <a:pPr marL="285750" indent="-285750">
              <a:buFont typeface="Arial" panose="020B0604020202020204" pitchFamily="34" charset="0"/>
              <a:buChar char="•"/>
            </a:pPr>
            <a:r>
              <a:rPr lang="en-US" dirty="0"/>
              <a:t>Focus on structured data, authoritative content, FAQs, conversational queries, and entity-based optimization to improve it.</a:t>
            </a:r>
          </a:p>
        </p:txBody>
      </p:sp>
      <p:sp>
        <p:nvSpPr>
          <p:cNvPr id="14" name="Rectangle 13">
            <a:extLst>
              <a:ext uri="{FF2B5EF4-FFF2-40B4-BE49-F238E27FC236}">
                <a16:creationId xmlns:a16="http://schemas.microsoft.com/office/drawing/2014/main" id="{4B9E48C5-A34A-4E47-8469-30A9622D40DC}"/>
              </a:ext>
            </a:extLst>
          </p:cNvPr>
          <p:cNvSpPr/>
          <p:nvPr/>
        </p:nvSpPr>
        <p:spPr>
          <a:xfrm>
            <a:off x="669304" y="4877355"/>
            <a:ext cx="5238166" cy="1754326"/>
          </a:xfrm>
          <a:prstGeom prst="rect">
            <a:avLst/>
          </a:prstGeom>
        </p:spPr>
        <p:txBody>
          <a:bodyPr wrap="square">
            <a:spAutoFit/>
          </a:bodyPr>
          <a:lstStyle/>
          <a:p>
            <a:r>
              <a:rPr lang="en-US" b="1" dirty="0"/>
              <a:t>Please note </a:t>
            </a:r>
            <a:r>
              <a:rPr lang="en-US" dirty="0"/>
              <a:t>that the data presented may change over time due to evolving metrics such as performance fluctuations, strategic adjustments, and external market dynamics. </a:t>
            </a:r>
          </a:p>
          <a:p>
            <a:r>
              <a:rPr lang="en-US" b="1" dirty="0"/>
              <a:t>     Source: </a:t>
            </a:r>
            <a:r>
              <a:rPr lang="en-US" dirty="0" err="1"/>
              <a:t>SEOptimer</a:t>
            </a:r>
            <a:endParaRPr lang="en-IN" dirty="0"/>
          </a:p>
          <a:p>
            <a:endParaRPr lang="en-IN" dirty="0"/>
          </a:p>
        </p:txBody>
      </p:sp>
      <p:sp>
        <p:nvSpPr>
          <p:cNvPr id="15" name="Rectangle 14">
            <a:extLst>
              <a:ext uri="{FF2B5EF4-FFF2-40B4-BE49-F238E27FC236}">
                <a16:creationId xmlns:a16="http://schemas.microsoft.com/office/drawing/2014/main" id="{0E0D23E7-8C76-4F96-93D6-D7259BBCFAC3}"/>
              </a:ext>
            </a:extLst>
          </p:cNvPr>
          <p:cNvSpPr/>
          <p:nvPr/>
        </p:nvSpPr>
        <p:spPr>
          <a:xfrm>
            <a:off x="9425" y="980388"/>
            <a:ext cx="443058" cy="5877612"/>
          </a:xfrm>
          <a:prstGeom prst="rect">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IN" sz="2400" b="1" dirty="0"/>
              <a:t>SWEET KARAM COFFEE</a:t>
            </a:r>
          </a:p>
        </p:txBody>
      </p:sp>
    </p:spTree>
    <p:extLst>
      <p:ext uri="{BB962C8B-B14F-4D97-AF65-F5344CB8AC3E}">
        <p14:creationId xmlns:p14="http://schemas.microsoft.com/office/powerpoint/2010/main" val="3775867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Content Placeholder 5">
            <a:extLst>
              <a:ext uri="{FF2B5EF4-FFF2-40B4-BE49-F238E27FC236}">
                <a16:creationId xmlns:a16="http://schemas.microsoft.com/office/drawing/2014/main" id="{79244FD1-14BE-4209-B146-364B2203813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429" y="-28280"/>
            <a:ext cx="1131216" cy="948153"/>
          </a:xfrm>
          <a:prstGeom prst="rect">
            <a:avLst/>
          </a:prstGeom>
        </p:spPr>
      </p:pic>
      <p:pic>
        <p:nvPicPr>
          <p:cNvPr id="3" name="Picture 2">
            <a:extLst>
              <a:ext uri="{FF2B5EF4-FFF2-40B4-BE49-F238E27FC236}">
                <a16:creationId xmlns:a16="http://schemas.microsoft.com/office/drawing/2014/main" id="{906DF594-D7C1-4BF3-A7F2-237A55619DB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854082" y="-16547"/>
            <a:ext cx="1337918" cy="941168"/>
          </a:xfrm>
          <a:prstGeom prst="rect">
            <a:avLst/>
          </a:prstGeom>
        </p:spPr>
      </p:pic>
      <p:sp>
        <p:nvSpPr>
          <p:cNvPr id="4" name="Rectangle 3">
            <a:extLst>
              <a:ext uri="{FF2B5EF4-FFF2-40B4-BE49-F238E27FC236}">
                <a16:creationId xmlns:a16="http://schemas.microsoft.com/office/drawing/2014/main" id="{F6287653-B430-4BE9-AED2-F069839E2778}"/>
              </a:ext>
            </a:extLst>
          </p:cNvPr>
          <p:cNvSpPr/>
          <p:nvPr/>
        </p:nvSpPr>
        <p:spPr>
          <a:xfrm>
            <a:off x="3601039" y="301658"/>
            <a:ext cx="5712643" cy="499620"/>
          </a:xfrm>
          <a:prstGeom prst="rect">
            <a:avLst/>
          </a:prstGeom>
          <a:solidFill>
            <a:schemeClr val="accent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WEBSITE SERP ANALYSIS</a:t>
            </a:r>
          </a:p>
        </p:txBody>
      </p:sp>
      <p:sp>
        <p:nvSpPr>
          <p:cNvPr id="5" name="Rectangle 4">
            <a:extLst>
              <a:ext uri="{FF2B5EF4-FFF2-40B4-BE49-F238E27FC236}">
                <a16:creationId xmlns:a16="http://schemas.microsoft.com/office/drawing/2014/main" id="{800AC37E-E9D7-4376-8024-00AA9459DC82}"/>
              </a:ext>
            </a:extLst>
          </p:cNvPr>
          <p:cNvSpPr/>
          <p:nvPr/>
        </p:nvSpPr>
        <p:spPr>
          <a:xfrm>
            <a:off x="952107" y="1241054"/>
            <a:ext cx="5863473" cy="1959558"/>
          </a:xfrm>
          <a:prstGeom prst="rect">
            <a:avLst/>
          </a:prstGeom>
          <a:blipFill dpi="0" rotWithShape="1">
            <a:blip r:embed="rId4">
              <a:extLst>
                <a:ext uri="{28A0092B-C50C-407E-A947-70E740481C1C}">
                  <a14:useLocalDpi xmlns:a14="http://schemas.microsoft.com/office/drawing/2010/main" val="0"/>
                </a:ext>
              </a:extLst>
            </a:blip>
            <a:srcRect/>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23F4E1A2-2135-40FC-8F19-70DAF169BF73}"/>
              </a:ext>
            </a:extLst>
          </p:cNvPr>
          <p:cNvSpPr txBox="1"/>
          <p:nvPr/>
        </p:nvSpPr>
        <p:spPr>
          <a:xfrm>
            <a:off x="4581429" y="3770721"/>
            <a:ext cx="7268065" cy="2585323"/>
          </a:xfrm>
          <a:prstGeom prst="rect">
            <a:avLst/>
          </a:prstGeom>
          <a:noFill/>
        </p:spPr>
        <p:txBody>
          <a:bodyPr wrap="square" rtlCol="0">
            <a:spAutoFit/>
          </a:bodyPr>
          <a:lstStyle/>
          <a:p>
            <a:pPr algn="ctr"/>
            <a:r>
              <a:rPr lang="en-US" b="1" dirty="0"/>
              <a:t>Insights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Strong brand visibility with a clear brand name. </a:t>
            </a:r>
          </a:p>
          <a:p>
            <a:pPr marL="285750" indent="-285750">
              <a:buFont typeface="Arial" panose="020B0604020202020204" pitchFamily="34" charset="0"/>
              <a:buChar char="•"/>
            </a:pPr>
            <a:r>
              <a:rPr lang="en-US" dirty="0"/>
              <a:t>SEO-friendly page title highlighting South Indian positioning. </a:t>
            </a:r>
          </a:p>
          <a:p>
            <a:pPr marL="285750" indent="-285750">
              <a:buFont typeface="Arial" panose="020B0604020202020204" pitchFamily="34" charset="0"/>
              <a:buChar char="•"/>
            </a:pPr>
            <a:r>
              <a:rPr lang="en-US" dirty="0"/>
              <a:t>USP-focused meta description featuring 100+ delicacies and preservative-free products. </a:t>
            </a:r>
          </a:p>
          <a:p>
            <a:pPr marL="285750" indent="-285750">
              <a:buFont typeface="Arial" panose="020B0604020202020204" pitchFamily="34" charset="0"/>
              <a:buChar char="•"/>
            </a:pPr>
            <a:r>
              <a:rPr lang="en-US" dirty="0"/>
              <a:t>Global reach is clearly communicated. </a:t>
            </a:r>
          </a:p>
          <a:p>
            <a:pPr marL="285750" indent="-285750">
              <a:buFont typeface="Arial" panose="020B0604020202020204" pitchFamily="34" charset="0"/>
              <a:buChar char="•"/>
            </a:pPr>
            <a:r>
              <a:rPr lang="en-US" dirty="0"/>
              <a:t>Opportunity: Add high-intent keywords to improve CTR and rankings. </a:t>
            </a:r>
          </a:p>
          <a:p>
            <a:pPr marL="285750" indent="-285750">
              <a:buFont typeface="Arial" panose="020B0604020202020204" pitchFamily="34" charset="0"/>
              <a:buChar char="•"/>
            </a:pPr>
            <a:endParaRPr lang="en-IN" dirty="0"/>
          </a:p>
        </p:txBody>
      </p:sp>
      <p:sp>
        <p:nvSpPr>
          <p:cNvPr id="7" name="Rectangle 6">
            <a:extLst>
              <a:ext uri="{FF2B5EF4-FFF2-40B4-BE49-F238E27FC236}">
                <a16:creationId xmlns:a16="http://schemas.microsoft.com/office/drawing/2014/main" id="{6972E29E-2DA4-4DB0-A1ED-390E92BFFEC4}"/>
              </a:ext>
            </a:extLst>
          </p:cNvPr>
          <p:cNvSpPr/>
          <p:nvPr/>
        </p:nvSpPr>
        <p:spPr>
          <a:xfrm>
            <a:off x="5883" y="952110"/>
            <a:ext cx="625713" cy="5896465"/>
          </a:xfrm>
          <a:prstGeom prst="rect">
            <a:avLst/>
          </a:prstGeom>
        </p:spPr>
        <p:style>
          <a:lnRef idx="2">
            <a:schemeClr val="dk1">
              <a:shade val="50000"/>
            </a:schemeClr>
          </a:lnRef>
          <a:fillRef idx="1">
            <a:schemeClr val="dk1"/>
          </a:fillRef>
          <a:effectRef idx="0">
            <a:schemeClr val="dk1"/>
          </a:effectRef>
          <a:fontRef idx="minor">
            <a:schemeClr val="lt1"/>
          </a:fontRef>
        </p:style>
        <p:txBody>
          <a:bodyPr vert="vert270" rtlCol="0" anchor="ctr"/>
          <a:lstStyle/>
          <a:p>
            <a:pPr algn="ctr"/>
            <a:r>
              <a:rPr lang="en-US" sz="2800" b="1" dirty="0"/>
              <a:t>SWEET KARAM COFFEE</a:t>
            </a:r>
            <a:endParaRPr lang="en-IN" sz="2800" b="1" dirty="0"/>
          </a:p>
        </p:txBody>
      </p:sp>
      <p:sp>
        <p:nvSpPr>
          <p:cNvPr id="8" name="TextBox 7">
            <a:extLst>
              <a:ext uri="{FF2B5EF4-FFF2-40B4-BE49-F238E27FC236}">
                <a16:creationId xmlns:a16="http://schemas.microsoft.com/office/drawing/2014/main" id="{89FB3402-9757-4104-8B67-099240398C94}"/>
              </a:ext>
            </a:extLst>
          </p:cNvPr>
          <p:cNvSpPr txBox="1"/>
          <p:nvPr/>
        </p:nvSpPr>
        <p:spPr>
          <a:xfrm>
            <a:off x="1234911" y="4034672"/>
            <a:ext cx="2960017" cy="2585323"/>
          </a:xfrm>
          <a:prstGeom prst="rect">
            <a:avLst/>
          </a:prstGeom>
          <a:noFill/>
        </p:spPr>
        <p:txBody>
          <a:bodyPr wrap="square" rtlCol="0">
            <a:spAutoFit/>
          </a:bodyPr>
          <a:lstStyle/>
          <a:p>
            <a:r>
              <a:rPr lang="en-US" b="1" dirty="0"/>
              <a:t>Please note </a:t>
            </a:r>
            <a:r>
              <a:rPr lang="en-US" dirty="0"/>
              <a:t>that the data presented may change over time due to evolving metrics such as performance fluctuations, strategic adjustments, and external market dynamics. </a:t>
            </a:r>
          </a:p>
          <a:p>
            <a:r>
              <a:rPr lang="en-US" b="1" dirty="0"/>
              <a:t>Source: </a:t>
            </a:r>
            <a:r>
              <a:rPr lang="en-US" dirty="0" err="1"/>
              <a:t>SEOptimer</a:t>
            </a:r>
            <a:r>
              <a:rPr lang="en-US" dirty="0"/>
              <a:t>, SEMrush</a:t>
            </a:r>
            <a:endParaRPr lang="en-IN" dirty="0"/>
          </a:p>
          <a:p>
            <a:endParaRPr lang="en-IN" dirty="0"/>
          </a:p>
        </p:txBody>
      </p:sp>
      <p:sp>
        <p:nvSpPr>
          <p:cNvPr id="10" name="Rectangle 9">
            <a:extLst>
              <a:ext uri="{FF2B5EF4-FFF2-40B4-BE49-F238E27FC236}">
                <a16:creationId xmlns:a16="http://schemas.microsoft.com/office/drawing/2014/main" id="{0760195F-A1F6-491B-8B2B-7E4A7D24CDBA}"/>
              </a:ext>
            </a:extLst>
          </p:cNvPr>
          <p:cNvSpPr/>
          <p:nvPr/>
        </p:nvSpPr>
        <p:spPr>
          <a:xfrm>
            <a:off x="7079530" y="957577"/>
            <a:ext cx="4572000" cy="2360658"/>
          </a:xfrm>
          <a:prstGeom prst="rect">
            <a:avLst/>
          </a:prstGeom>
          <a:blipFill dpi="0" rotWithShape="1">
            <a:blip r:embed="rId5">
              <a:extLst>
                <a:ext uri="{28A0092B-C50C-407E-A947-70E740481C1C}">
                  <a14:useLocalDpi xmlns:a14="http://schemas.microsoft.com/office/drawing/2010/main" val="0"/>
                </a:ext>
              </a:extLst>
            </a:blip>
            <a:srcRect/>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8117345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130E992-FC01-4A2D-B4B3-8223CF93773E}"/>
              </a:ext>
            </a:extLst>
          </p:cNvPr>
          <p:cNvSpPr/>
          <p:nvPr/>
        </p:nvSpPr>
        <p:spPr>
          <a:xfrm>
            <a:off x="3648171" y="254522"/>
            <a:ext cx="5854045" cy="612743"/>
          </a:xfrm>
          <a:prstGeom prst="rect">
            <a:avLst/>
          </a:prstGeom>
          <a:solidFill>
            <a:schemeClr val="accent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IMPROVEMENT RECOMMENDATION </a:t>
            </a:r>
          </a:p>
        </p:txBody>
      </p:sp>
      <p:sp>
        <p:nvSpPr>
          <p:cNvPr id="3" name="TextBox 2">
            <a:extLst>
              <a:ext uri="{FF2B5EF4-FFF2-40B4-BE49-F238E27FC236}">
                <a16:creationId xmlns:a16="http://schemas.microsoft.com/office/drawing/2014/main" id="{B82A0ABE-CB00-4214-9803-8F58DB715400}"/>
              </a:ext>
            </a:extLst>
          </p:cNvPr>
          <p:cNvSpPr txBox="1"/>
          <p:nvPr/>
        </p:nvSpPr>
        <p:spPr>
          <a:xfrm>
            <a:off x="461913" y="1055802"/>
            <a:ext cx="11425287" cy="4539704"/>
          </a:xfrm>
          <a:prstGeom prst="rect">
            <a:avLst/>
          </a:prstGeom>
          <a:noFill/>
        </p:spPr>
        <p:txBody>
          <a:bodyPr wrap="square" rtlCol="0">
            <a:spAutoFit/>
          </a:bodyPr>
          <a:lstStyle/>
          <a:p>
            <a:pPr marL="285750" indent="-285750">
              <a:buFont typeface="Arial" panose="020B0604020202020204" pitchFamily="34" charset="0"/>
              <a:buChar char="•"/>
            </a:pPr>
            <a:r>
              <a:rPr lang="en-IN" sz="1700" b="1" dirty="0"/>
              <a:t>TITLE TAG: </a:t>
            </a:r>
            <a:r>
              <a:rPr lang="en-IN" sz="1700" dirty="0"/>
              <a:t>The title tag should be between 50 and 60 characters in length, but here the title tag was 43 characters. So it will be increased.</a:t>
            </a:r>
          </a:p>
          <a:p>
            <a:pPr marL="285750" indent="-285750">
              <a:buFont typeface="Arial" panose="020B0604020202020204" pitchFamily="34" charset="0"/>
              <a:buChar char="•"/>
            </a:pPr>
            <a:endParaRPr lang="en-IN" sz="1700" b="1" dirty="0"/>
          </a:p>
          <a:p>
            <a:pPr marL="285750" indent="-285750">
              <a:buFont typeface="Arial" panose="020B0604020202020204" pitchFamily="34" charset="0"/>
              <a:buChar char="•"/>
            </a:pPr>
            <a:r>
              <a:rPr lang="en-IN" sz="1700" b="1" dirty="0"/>
              <a:t>KEYWORD CONSISTENCY:</a:t>
            </a:r>
            <a:r>
              <a:rPr lang="en-IN" sz="1700" dirty="0"/>
              <a:t> </a:t>
            </a:r>
            <a:r>
              <a:rPr lang="en-US" sz="1700" dirty="0"/>
              <a:t>The page's main keywords are not distributed well across the important HTML tags. The page content should be focused around particular keywords you would like to rank for. Ideally, these keywords should also be distributed across tags such as the title, meta and header tags.</a:t>
            </a:r>
            <a:endParaRPr lang="en-IN" sz="1700" dirty="0"/>
          </a:p>
          <a:p>
            <a:endParaRPr lang="en-IN" sz="1700" b="1" dirty="0"/>
          </a:p>
          <a:p>
            <a:pPr marL="285750" indent="-285750">
              <a:buFont typeface="Arial" panose="020B0604020202020204" pitchFamily="34" charset="0"/>
              <a:buChar char="•"/>
            </a:pPr>
            <a:r>
              <a:rPr lang="en-IN" sz="1700" b="1" dirty="0"/>
              <a:t>AMOUNT OF CONTENT: </a:t>
            </a:r>
            <a:r>
              <a:rPr lang="en-IN" sz="1700" dirty="0"/>
              <a:t>This page has a low volume of text content, which search engines can interpret as “ thin content”. Word count: 888. It has been well researched that higher text content volume are related to better ranking ability in general.</a:t>
            </a:r>
          </a:p>
          <a:p>
            <a:pPr marL="285750" indent="-285750">
              <a:buFont typeface="Arial" panose="020B0604020202020204" pitchFamily="34" charset="0"/>
              <a:buChar char="•"/>
            </a:pPr>
            <a:endParaRPr lang="en-IN" sz="1700" b="1" dirty="0"/>
          </a:p>
          <a:p>
            <a:pPr marL="285750" indent="-285750">
              <a:buFont typeface="Arial" panose="020B0604020202020204" pitchFamily="34" charset="0"/>
              <a:buChar char="•"/>
            </a:pPr>
            <a:r>
              <a:rPr lang="en-IN" sz="1700" b="1" dirty="0"/>
              <a:t>IMAGE ALT ATTRIBUTES</a:t>
            </a:r>
            <a:r>
              <a:rPr lang="en-IN" sz="1700" dirty="0"/>
              <a:t>: </a:t>
            </a:r>
            <a:r>
              <a:rPr lang="en-US" sz="1700" dirty="0"/>
              <a:t>This site has images on the page that are missing Alt Attributes. We found 143 images on the page, and 52 of them are missing the attribute. Image Alt Attributes are an often overlooked and simple way to signal to Search Engines what an image is about and help it rank in image search results. </a:t>
            </a:r>
            <a:endParaRPr lang="en-IN" sz="1700" dirty="0"/>
          </a:p>
          <a:p>
            <a:pPr marL="285750" indent="-285750">
              <a:buFont typeface="Arial" panose="020B0604020202020204" pitchFamily="34" charset="0"/>
              <a:buChar char="•"/>
            </a:pPr>
            <a:endParaRPr lang="en-IN" sz="1700" b="1" dirty="0"/>
          </a:p>
          <a:p>
            <a:pPr marL="285750" indent="-285750">
              <a:buFont typeface="Arial" panose="020B0604020202020204" pitchFamily="34" charset="0"/>
              <a:buChar char="•"/>
            </a:pPr>
            <a:r>
              <a:rPr lang="en-IN" sz="1700" b="1" dirty="0"/>
              <a:t>RENDERED CONTENT (LLM READABILITY): </a:t>
            </a:r>
            <a:r>
              <a:rPr lang="en-IN" sz="1700" dirty="0"/>
              <a:t>page has a high level of rendering ( changes to the HTML). Rendering percentage: 42%. Dynamically rendering a lot of page content risks some important information being missed by LLMs that generally do not read this content.</a:t>
            </a:r>
          </a:p>
        </p:txBody>
      </p:sp>
      <p:pic>
        <p:nvPicPr>
          <p:cNvPr id="4" name="Content Placeholder 5">
            <a:extLst>
              <a:ext uri="{FF2B5EF4-FFF2-40B4-BE49-F238E27FC236}">
                <a16:creationId xmlns:a16="http://schemas.microsoft.com/office/drawing/2014/main" id="{FE7ED986-CEE5-47B4-AD80-3FEBAC16F11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429" y="0"/>
            <a:ext cx="1131216" cy="948153"/>
          </a:xfrm>
          <a:prstGeom prst="rect">
            <a:avLst/>
          </a:prstGeom>
        </p:spPr>
      </p:pic>
      <p:pic>
        <p:nvPicPr>
          <p:cNvPr id="5" name="Picture 4">
            <a:extLst>
              <a:ext uri="{FF2B5EF4-FFF2-40B4-BE49-F238E27FC236}">
                <a16:creationId xmlns:a16="http://schemas.microsoft.com/office/drawing/2014/main" id="{FE685AF2-C200-41DC-961E-0A609B277DA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854082" y="11733"/>
            <a:ext cx="1337918" cy="941168"/>
          </a:xfrm>
          <a:prstGeom prst="rect">
            <a:avLst/>
          </a:prstGeom>
        </p:spPr>
      </p:pic>
      <p:sp>
        <p:nvSpPr>
          <p:cNvPr id="8" name="TextBox 7">
            <a:extLst>
              <a:ext uri="{FF2B5EF4-FFF2-40B4-BE49-F238E27FC236}">
                <a16:creationId xmlns:a16="http://schemas.microsoft.com/office/drawing/2014/main" id="{910383C3-B833-4D29-B2B1-A1D9673146E7}"/>
              </a:ext>
            </a:extLst>
          </p:cNvPr>
          <p:cNvSpPr txBox="1"/>
          <p:nvPr/>
        </p:nvSpPr>
        <p:spPr>
          <a:xfrm>
            <a:off x="952108" y="5680148"/>
            <a:ext cx="9492792" cy="923330"/>
          </a:xfrm>
          <a:prstGeom prst="rect">
            <a:avLst/>
          </a:prstGeom>
          <a:noFill/>
        </p:spPr>
        <p:txBody>
          <a:bodyPr wrap="square" rtlCol="0">
            <a:spAutoFit/>
          </a:bodyPr>
          <a:lstStyle/>
          <a:p>
            <a:r>
              <a:rPr lang="en-US" b="1" dirty="0"/>
              <a:t>Please note </a:t>
            </a:r>
            <a:r>
              <a:rPr lang="en-US" dirty="0"/>
              <a:t>that the data presented may change over time due to evolving metrics such as performance fluctuations, strategic adjustments, and external market dynamics. </a:t>
            </a:r>
          </a:p>
          <a:p>
            <a:r>
              <a:rPr lang="en-US" b="1" dirty="0"/>
              <a:t>     Source: </a:t>
            </a:r>
            <a:r>
              <a:rPr lang="en-US" dirty="0" err="1"/>
              <a:t>SEOptimer</a:t>
            </a:r>
            <a:endParaRPr lang="en-IN" dirty="0"/>
          </a:p>
        </p:txBody>
      </p:sp>
    </p:spTree>
    <p:extLst>
      <p:ext uri="{BB962C8B-B14F-4D97-AF65-F5344CB8AC3E}">
        <p14:creationId xmlns:p14="http://schemas.microsoft.com/office/powerpoint/2010/main" val="124305053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D35173C-FE9F-4526-8712-2A99FAAF9222}"/>
              </a:ext>
            </a:extLst>
          </p:cNvPr>
          <p:cNvSpPr txBox="1"/>
          <p:nvPr/>
        </p:nvSpPr>
        <p:spPr>
          <a:xfrm>
            <a:off x="122548" y="1102938"/>
            <a:ext cx="11076495" cy="5078313"/>
          </a:xfrm>
          <a:prstGeom prst="rect">
            <a:avLst/>
          </a:prstGeom>
          <a:noFill/>
        </p:spPr>
        <p:txBody>
          <a:bodyPr wrap="square" rtlCol="0">
            <a:spAutoFit/>
          </a:bodyPr>
          <a:lstStyle/>
          <a:p>
            <a:pPr marL="285750" indent="-285750">
              <a:buFont typeface="Arial" panose="020B0604020202020204" pitchFamily="34" charset="0"/>
              <a:buChar char="•"/>
            </a:pPr>
            <a:r>
              <a:rPr lang="en-IN" b="1" dirty="0"/>
              <a:t>FRIENDLY LINKS: </a:t>
            </a:r>
            <a:r>
              <a:rPr lang="en-IN" dirty="0"/>
              <a:t>Some of link URLs do not appear friendly to humans or search engines. We would recommend making URLs as readable as possible by reducing length, file names, code strings and special characters.</a:t>
            </a:r>
            <a:endParaRPr lang="en-IN" b="1" dirty="0"/>
          </a:p>
          <a:p>
            <a:pPr marL="285750" indent="-285750">
              <a:buFont typeface="Arial" panose="020B0604020202020204" pitchFamily="34" charset="0"/>
              <a:buChar char="•"/>
            </a:pPr>
            <a:endParaRPr lang="en-IN" b="1" dirty="0"/>
          </a:p>
          <a:p>
            <a:pPr marL="285750" indent="-285750">
              <a:buFont typeface="Arial" panose="020B0604020202020204" pitchFamily="34" charset="0"/>
              <a:buChar char="•"/>
            </a:pPr>
            <a:r>
              <a:rPr lang="en-IN" b="1" dirty="0"/>
              <a:t>WEBSITE LOAD SPEED: </a:t>
            </a:r>
            <a:r>
              <a:rPr lang="en-IN" dirty="0"/>
              <a:t>Page loads slowly. Page load speed is critical to ensuring good user experience and is becoming a more important ranking factor. Load speed can be impacted by a multitude of factors; however and may need technical resources to investigate.</a:t>
            </a:r>
          </a:p>
          <a:p>
            <a:pPr marL="285750" indent="-285750">
              <a:buFont typeface="Arial" panose="020B0604020202020204" pitchFamily="34" charset="0"/>
              <a:buChar char="•"/>
            </a:pPr>
            <a:endParaRPr lang="en-IN" b="1" dirty="0"/>
          </a:p>
          <a:p>
            <a:pPr marL="285750" indent="-285750">
              <a:buFont typeface="Arial" panose="020B0604020202020204" pitchFamily="34" charset="0"/>
              <a:buChar char="•"/>
            </a:pPr>
            <a:r>
              <a:rPr lang="en-IN" b="1" dirty="0"/>
              <a:t>WEBSITE DOWNLOAD SIZE:  </a:t>
            </a:r>
            <a:r>
              <a:rPr lang="en-IN" dirty="0"/>
              <a:t>Page is full size is quite large, which, regardless of other optimisations, can reduce load speed and impact user experience. A general rule is to keep your page under 5MB in total file size.</a:t>
            </a:r>
          </a:p>
          <a:p>
            <a:pPr marL="285750" indent="-285750">
              <a:buFont typeface="Arial" panose="020B0604020202020204" pitchFamily="34" charset="0"/>
              <a:buChar char="•"/>
            </a:pPr>
            <a:endParaRPr lang="en-IN" b="1" dirty="0"/>
          </a:p>
          <a:p>
            <a:pPr marL="285750" indent="-285750">
              <a:buFont typeface="Arial" panose="020B0604020202020204" pitchFamily="34" charset="0"/>
              <a:buChar char="•"/>
            </a:pPr>
            <a:r>
              <a:rPr lang="en-IN" b="1" dirty="0"/>
              <a:t>JAVASCRIPT ERROR: </a:t>
            </a:r>
            <a:r>
              <a:rPr lang="en-IN" dirty="0"/>
              <a:t>Page is reporting JavaScript errors during load. This could indicate that some required functionality on the page is failing or scripted may have coding problems</a:t>
            </a:r>
            <a:endParaRPr lang="en-IN" b="1" dirty="0"/>
          </a:p>
          <a:p>
            <a:pPr marL="285750" indent="-285750">
              <a:buFont typeface="Arial" panose="020B0604020202020204" pitchFamily="34" charset="0"/>
              <a:buChar char="•"/>
            </a:pPr>
            <a:endParaRPr lang="en-IN" b="1" dirty="0"/>
          </a:p>
          <a:p>
            <a:pPr marL="285750" indent="-285750">
              <a:buFont typeface="Arial" panose="020B0604020202020204" pitchFamily="34" charset="0"/>
              <a:buChar char="•"/>
            </a:pPr>
            <a:r>
              <a:rPr lang="en-IN" b="1" dirty="0"/>
              <a:t>FACEBOOK PIXEL: </a:t>
            </a:r>
            <a:r>
              <a:rPr lang="en-IN" dirty="0"/>
              <a:t>We have not detected a Facebook Pixel on the page.  Add this as soon as possible.</a:t>
            </a:r>
            <a:endParaRPr lang="en-IN" b="1" dirty="0"/>
          </a:p>
          <a:p>
            <a:pPr marL="285750" indent="-285750">
              <a:buFont typeface="Arial" panose="020B0604020202020204" pitchFamily="34" charset="0"/>
              <a:buChar char="•"/>
            </a:pPr>
            <a:endParaRPr lang="en-IN" b="1" dirty="0"/>
          </a:p>
          <a:p>
            <a:pPr marL="285750" indent="-285750">
              <a:buFont typeface="Arial" panose="020B0604020202020204" pitchFamily="34" charset="0"/>
              <a:buChar char="•"/>
            </a:pPr>
            <a:r>
              <a:rPr lang="en-IN" b="1" dirty="0"/>
              <a:t>LOCAL BUSINESS SCHEMA: </a:t>
            </a:r>
            <a:r>
              <a:rPr lang="en-IN" dirty="0"/>
              <a:t>No Local Business Schema detected on the page. Add Local Business Schema.</a:t>
            </a:r>
          </a:p>
          <a:p>
            <a:pPr marL="285750" indent="-285750">
              <a:buFont typeface="Arial" panose="020B0604020202020204" pitchFamily="34" charset="0"/>
              <a:buChar char="•"/>
            </a:pPr>
            <a:endParaRPr lang="en-IN" dirty="0"/>
          </a:p>
          <a:p>
            <a:endParaRPr lang="en-IN" dirty="0"/>
          </a:p>
        </p:txBody>
      </p:sp>
      <p:sp>
        <p:nvSpPr>
          <p:cNvPr id="4" name="Rectangle 3">
            <a:extLst>
              <a:ext uri="{FF2B5EF4-FFF2-40B4-BE49-F238E27FC236}">
                <a16:creationId xmlns:a16="http://schemas.microsoft.com/office/drawing/2014/main" id="{AF6E054A-78B6-4CD9-92B3-ABF679FC7737}"/>
              </a:ext>
            </a:extLst>
          </p:cNvPr>
          <p:cNvSpPr/>
          <p:nvPr/>
        </p:nvSpPr>
        <p:spPr>
          <a:xfrm>
            <a:off x="3497343" y="282803"/>
            <a:ext cx="5627802" cy="612743"/>
          </a:xfrm>
          <a:prstGeom prst="rect">
            <a:avLst/>
          </a:prstGeom>
          <a:solidFill>
            <a:schemeClr val="accent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IMPROVEMENT RECOMMENDATION </a:t>
            </a:r>
          </a:p>
        </p:txBody>
      </p:sp>
      <p:pic>
        <p:nvPicPr>
          <p:cNvPr id="5" name="Content Placeholder 5">
            <a:extLst>
              <a:ext uri="{FF2B5EF4-FFF2-40B4-BE49-F238E27FC236}">
                <a16:creationId xmlns:a16="http://schemas.microsoft.com/office/drawing/2014/main" id="{1C620BEA-A836-4CEC-9CA4-29537D9B203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429" y="0"/>
            <a:ext cx="1131216" cy="948153"/>
          </a:xfrm>
          <a:prstGeom prst="rect">
            <a:avLst/>
          </a:prstGeom>
        </p:spPr>
      </p:pic>
      <p:pic>
        <p:nvPicPr>
          <p:cNvPr id="6" name="Picture 5">
            <a:extLst>
              <a:ext uri="{FF2B5EF4-FFF2-40B4-BE49-F238E27FC236}">
                <a16:creationId xmlns:a16="http://schemas.microsoft.com/office/drawing/2014/main" id="{7987F4A2-D72F-47FE-8F10-B104C99D358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854082" y="11733"/>
            <a:ext cx="1337918" cy="941168"/>
          </a:xfrm>
          <a:prstGeom prst="rect">
            <a:avLst/>
          </a:prstGeom>
        </p:spPr>
      </p:pic>
    </p:spTree>
    <p:extLst>
      <p:ext uri="{BB962C8B-B14F-4D97-AF65-F5344CB8AC3E}">
        <p14:creationId xmlns:p14="http://schemas.microsoft.com/office/powerpoint/2010/main" val="251558342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CCAC439-49F2-45C3-B2DA-35AA5B1C2DE2}"/>
              </a:ext>
            </a:extLst>
          </p:cNvPr>
          <p:cNvSpPr/>
          <p:nvPr/>
        </p:nvSpPr>
        <p:spPr>
          <a:xfrm>
            <a:off x="3883842" y="226243"/>
            <a:ext cx="5938886" cy="490194"/>
          </a:xfrm>
          <a:prstGeom prst="rect">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SUGGESTIVE KEY IMPORTANT AREAS</a:t>
            </a:r>
          </a:p>
        </p:txBody>
      </p:sp>
      <p:sp>
        <p:nvSpPr>
          <p:cNvPr id="3" name="TextBox 2">
            <a:extLst>
              <a:ext uri="{FF2B5EF4-FFF2-40B4-BE49-F238E27FC236}">
                <a16:creationId xmlns:a16="http://schemas.microsoft.com/office/drawing/2014/main" id="{9271C54C-6BF8-42C9-B465-C1631E16EF44}"/>
              </a:ext>
            </a:extLst>
          </p:cNvPr>
          <p:cNvSpPr txBox="1"/>
          <p:nvPr/>
        </p:nvSpPr>
        <p:spPr>
          <a:xfrm>
            <a:off x="1206632" y="867266"/>
            <a:ext cx="10341204" cy="5497018"/>
          </a:xfrm>
          <a:prstGeom prst="rect">
            <a:avLst/>
          </a:prstGeom>
          <a:noFill/>
        </p:spPr>
        <p:txBody>
          <a:bodyPr wrap="square" rtlCol="0">
            <a:spAutoFit/>
          </a:bodyPr>
          <a:lstStyle/>
          <a:p>
            <a:pPr algn="ctr">
              <a:lnSpc>
                <a:spcPct val="150000"/>
              </a:lnSpc>
            </a:pPr>
            <a:endParaRPr lang="en-US" sz="2000" b="1" dirty="0"/>
          </a:p>
          <a:p>
            <a:pPr marL="285750" indent="-285750">
              <a:lnSpc>
                <a:spcPct val="150000"/>
              </a:lnSpc>
              <a:buFont typeface="Arial" panose="020B0604020202020204" pitchFamily="34" charset="0"/>
              <a:buChar char="•"/>
            </a:pPr>
            <a:r>
              <a:rPr lang="en-US" dirty="0"/>
              <a:t>Enhancing website loading speed and performance is a top priority, particularly for mobile devices, to improve both user experience and SEO rankings. </a:t>
            </a:r>
          </a:p>
          <a:p>
            <a:pPr marL="285750" indent="-285750">
              <a:lnSpc>
                <a:spcPct val="150000"/>
              </a:lnSpc>
              <a:buFont typeface="Arial" panose="020B0604020202020204" pitchFamily="34" charset="0"/>
              <a:buChar char="•"/>
            </a:pPr>
            <a:r>
              <a:rPr lang="en-US" dirty="0"/>
              <a:t>Significant improvements are needed in on-page SEO elements such as title tags, meta descriptions, H1 tag usage, and keyword placement to strengthen organic visibility. </a:t>
            </a:r>
          </a:p>
          <a:p>
            <a:pPr marL="285750" indent="-285750">
              <a:lnSpc>
                <a:spcPct val="150000"/>
              </a:lnSpc>
              <a:buFont typeface="Arial" panose="020B0604020202020204" pitchFamily="34" charset="0"/>
              <a:buChar char="•"/>
            </a:pPr>
            <a:r>
              <a:rPr lang="en-US" dirty="0"/>
              <a:t>The site requires richer and more optimized content on key pages to improve relevance, engagement, and keyword targeting. </a:t>
            </a:r>
          </a:p>
          <a:p>
            <a:pPr marL="285750" indent="-285750">
              <a:lnSpc>
                <a:spcPct val="150000"/>
              </a:lnSpc>
              <a:buFont typeface="Arial" panose="020B0604020202020204" pitchFamily="34" charset="0"/>
              <a:buChar char="•"/>
            </a:pPr>
            <a:r>
              <a:rPr lang="en-US" dirty="0"/>
              <a:t>Image optimization (alt attributes, compression, next-gen formats) should be implemented to reduce page weight and improve accessibility. </a:t>
            </a:r>
          </a:p>
          <a:p>
            <a:pPr marL="285750" indent="-285750">
              <a:lnSpc>
                <a:spcPct val="150000"/>
              </a:lnSpc>
              <a:buFont typeface="Arial" panose="020B0604020202020204" pitchFamily="34" charset="0"/>
              <a:buChar char="•"/>
            </a:pPr>
            <a:r>
              <a:rPr lang="en-US" dirty="0"/>
              <a:t>The site is responsive; mobile interactivity and usability should be enhanced to lower bounce rates and increase conversions. </a:t>
            </a:r>
          </a:p>
          <a:p>
            <a:pPr marL="285750" indent="-285750">
              <a:lnSpc>
                <a:spcPct val="150000"/>
              </a:lnSpc>
              <a:buFont typeface="Arial" panose="020B0604020202020204" pitchFamily="34" charset="0"/>
              <a:buChar char="•"/>
            </a:pPr>
            <a:r>
              <a:rPr lang="en-US" dirty="0"/>
              <a:t>Structured data/schema markup and local SEO enhancements (business address, phone number, geo-targeted keywords) are missing and should be added for better SERP visibility. </a:t>
            </a:r>
          </a:p>
        </p:txBody>
      </p:sp>
      <p:pic>
        <p:nvPicPr>
          <p:cNvPr id="4" name="Content Placeholder 5">
            <a:extLst>
              <a:ext uri="{FF2B5EF4-FFF2-40B4-BE49-F238E27FC236}">
                <a16:creationId xmlns:a16="http://schemas.microsoft.com/office/drawing/2014/main" id="{7E1C292C-C2DE-4FE9-BB3C-2E097A0B459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429" y="0"/>
            <a:ext cx="1131216" cy="948153"/>
          </a:xfrm>
          <a:prstGeom prst="rect">
            <a:avLst/>
          </a:prstGeom>
        </p:spPr>
      </p:pic>
      <p:pic>
        <p:nvPicPr>
          <p:cNvPr id="5" name="Picture 4">
            <a:extLst>
              <a:ext uri="{FF2B5EF4-FFF2-40B4-BE49-F238E27FC236}">
                <a16:creationId xmlns:a16="http://schemas.microsoft.com/office/drawing/2014/main" id="{10C1440A-E583-4689-930E-762130889B9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854082" y="11733"/>
            <a:ext cx="1337918" cy="941168"/>
          </a:xfrm>
          <a:prstGeom prst="rect">
            <a:avLst/>
          </a:prstGeom>
        </p:spPr>
      </p:pic>
    </p:spTree>
    <p:extLst>
      <p:ext uri="{BB962C8B-B14F-4D97-AF65-F5344CB8AC3E}">
        <p14:creationId xmlns:p14="http://schemas.microsoft.com/office/powerpoint/2010/main" val="333706590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Content Placeholder 5">
            <a:extLst>
              <a:ext uri="{FF2B5EF4-FFF2-40B4-BE49-F238E27FC236}">
                <a16:creationId xmlns:a16="http://schemas.microsoft.com/office/drawing/2014/main" id="{BBE4D5AD-7C7B-438B-A6DD-5F0B043B000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429" y="0"/>
            <a:ext cx="1131216" cy="948153"/>
          </a:xfrm>
          <a:prstGeom prst="rect">
            <a:avLst/>
          </a:prstGeom>
        </p:spPr>
      </p:pic>
      <p:pic>
        <p:nvPicPr>
          <p:cNvPr id="3" name="Picture 2">
            <a:extLst>
              <a:ext uri="{FF2B5EF4-FFF2-40B4-BE49-F238E27FC236}">
                <a16:creationId xmlns:a16="http://schemas.microsoft.com/office/drawing/2014/main" id="{D54E05D7-DB10-4BA1-8D45-4007D7347C4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854082" y="11733"/>
            <a:ext cx="1337918" cy="941168"/>
          </a:xfrm>
          <a:prstGeom prst="rect">
            <a:avLst/>
          </a:prstGeom>
        </p:spPr>
      </p:pic>
      <p:sp>
        <p:nvSpPr>
          <p:cNvPr id="4" name="Rectangle 3">
            <a:extLst>
              <a:ext uri="{FF2B5EF4-FFF2-40B4-BE49-F238E27FC236}">
                <a16:creationId xmlns:a16="http://schemas.microsoft.com/office/drawing/2014/main" id="{0AA31C61-6FA8-46BB-88D4-F4A807ABA82A}"/>
              </a:ext>
            </a:extLst>
          </p:cNvPr>
          <p:cNvSpPr/>
          <p:nvPr/>
        </p:nvSpPr>
        <p:spPr>
          <a:xfrm>
            <a:off x="3516199" y="216816"/>
            <a:ext cx="5279010" cy="575036"/>
          </a:xfrm>
          <a:prstGeom prst="rect">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4 PILLERS OF SEO</a:t>
            </a:r>
          </a:p>
        </p:txBody>
      </p:sp>
      <p:sp>
        <p:nvSpPr>
          <p:cNvPr id="8" name="Isosceles Triangle 7">
            <a:extLst>
              <a:ext uri="{FF2B5EF4-FFF2-40B4-BE49-F238E27FC236}">
                <a16:creationId xmlns:a16="http://schemas.microsoft.com/office/drawing/2014/main" id="{EABBD4F3-983F-49C9-9D32-25578A00C11B}"/>
              </a:ext>
            </a:extLst>
          </p:cNvPr>
          <p:cNvSpPr/>
          <p:nvPr/>
        </p:nvSpPr>
        <p:spPr>
          <a:xfrm>
            <a:off x="245094" y="1517717"/>
            <a:ext cx="6146278" cy="5274297"/>
          </a:xfrm>
          <a:prstGeom prst="triangl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IN" dirty="0"/>
          </a:p>
        </p:txBody>
      </p:sp>
      <p:sp>
        <p:nvSpPr>
          <p:cNvPr id="9" name="Arrow: Right 8">
            <a:extLst>
              <a:ext uri="{FF2B5EF4-FFF2-40B4-BE49-F238E27FC236}">
                <a16:creationId xmlns:a16="http://schemas.microsoft.com/office/drawing/2014/main" id="{22029D6D-430F-4AE0-80CC-526B4E5ACD37}"/>
              </a:ext>
            </a:extLst>
          </p:cNvPr>
          <p:cNvSpPr/>
          <p:nvPr/>
        </p:nvSpPr>
        <p:spPr>
          <a:xfrm>
            <a:off x="5854046" y="1517715"/>
            <a:ext cx="1621410" cy="100866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Arrow: Right 9">
            <a:extLst>
              <a:ext uri="{FF2B5EF4-FFF2-40B4-BE49-F238E27FC236}">
                <a16:creationId xmlns:a16="http://schemas.microsoft.com/office/drawing/2014/main" id="{4CEFBF70-B7AF-4250-A60B-6831CB5C7B57}"/>
              </a:ext>
            </a:extLst>
          </p:cNvPr>
          <p:cNvSpPr/>
          <p:nvPr/>
        </p:nvSpPr>
        <p:spPr>
          <a:xfrm>
            <a:off x="6015869" y="2810760"/>
            <a:ext cx="1621410" cy="100866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Arrow: Right 10">
            <a:extLst>
              <a:ext uri="{FF2B5EF4-FFF2-40B4-BE49-F238E27FC236}">
                <a16:creationId xmlns:a16="http://schemas.microsoft.com/office/drawing/2014/main" id="{54D59EE1-EA22-452C-8FDB-1D76BB868895}"/>
              </a:ext>
            </a:extLst>
          </p:cNvPr>
          <p:cNvSpPr/>
          <p:nvPr/>
        </p:nvSpPr>
        <p:spPr>
          <a:xfrm>
            <a:off x="6036295" y="4216930"/>
            <a:ext cx="1621410" cy="100866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Arrow: Right 11">
            <a:extLst>
              <a:ext uri="{FF2B5EF4-FFF2-40B4-BE49-F238E27FC236}">
                <a16:creationId xmlns:a16="http://schemas.microsoft.com/office/drawing/2014/main" id="{CB208EAD-9A9C-4AAF-A71E-8E285F82F450}"/>
              </a:ext>
            </a:extLst>
          </p:cNvPr>
          <p:cNvSpPr/>
          <p:nvPr/>
        </p:nvSpPr>
        <p:spPr>
          <a:xfrm>
            <a:off x="6198123" y="5472264"/>
            <a:ext cx="1621410" cy="100866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TextBox 13">
            <a:extLst>
              <a:ext uri="{FF2B5EF4-FFF2-40B4-BE49-F238E27FC236}">
                <a16:creationId xmlns:a16="http://schemas.microsoft.com/office/drawing/2014/main" id="{B8965D09-DCC3-4299-AD9B-E71E405E9F7E}"/>
              </a:ext>
            </a:extLst>
          </p:cNvPr>
          <p:cNvSpPr txBox="1"/>
          <p:nvPr/>
        </p:nvSpPr>
        <p:spPr>
          <a:xfrm>
            <a:off x="7637278" y="1038517"/>
            <a:ext cx="4554722" cy="1477328"/>
          </a:xfrm>
          <a:prstGeom prst="rect">
            <a:avLst/>
          </a:prstGeom>
          <a:noFill/>
        </p:spPr>
        <p:txBody>
          <a:bodyPr wrap="square" rtlCol="0">
            <a:spAutoFit/>
          </a:bodyPr>
          <a:lstStyle/>
          <a:p>
            <a:r>
              <a:rPr lang="en-IN" b="1" u="sng" dirty="0"/>
              <a:t>Content creation &amp; enhancement</a:t>
            </a:r>
          </a:p>
          <a:p>
            <a:pPr marL="285750" indent="-285750">
              <a:buFont typeface="Arial" panose="020B0604020202020204" pitchFamily="34" charset="0"/>
              <a:buChar char="•"/>
            </a:pPr>
            <a:r>
              <a:rPr lang="en-US" dirty="0"/>
              <a:t>Focus on high-quality.</a:t>
            </a:r>
          </a:p>
          <a:p>
            <a:pPr marL="285750" indent="-285750">
              <a:buFont typeface="Arial" panose="020B0604020202020204" pitchFamily="34" charset="0"/>
              <a:buChar char="•"/>
            </a:pPr>
            <a:r>
              <a:rPr lang="en-US" dirty="0"/>
              <a:t> Valuable content. Integrate relevant.</a:t>
            </a:r>
          </a:p>
          <a:p>
            <a:pPr marL="285750" indent="-285750">
              <a:buFont typeface="Arial" panose="020B0604020202020204" pitchFamily="34" charset="0"/>
              <a:buChar char="•"/>
            </a:pPr>
            <a:r>
              <a:rPr lang="en-US" dirty="0"/>
              <a:t> Targeted keywords: Maintain consistency through regular updates</a:t>
            </a:r>
            <a:r>
              <a:rPr lang="en-IN" dirty="0"/>
              <a:t>.</a:t>
            </a:r>
          </a:p>
        </p:txBody>
      </p:sp>
      <p:sp>
        <p:nvSpPr>
          <p:cNvPr id="15" name="TextBox 14">
            <a:extLst>
              <a:ext uri="{FF2B5EF4-FFF2-40B4-BE49-F238E27FC236}">
                <a16:creationId xmlns:a16="http://schemas.microsoft.com/office/drawing/2014/main" id="{F5F65F89-EF66-4D3D-832F-F33CE16BBC6C}"/>
              </a:ext>
            </a:extLst>
          </p:cNvPr>
          <p:cNvSpPr txBox="1"/>
          <p:nvPr/>
        </p:nvSpPr>
        <p:spPr>
          <a:xfrm>
            <a:off x="7637278" y="2418985"/>
            <a:ext cx="4545295" cy="1477328"/>
          </a:xfrm>
          <a:prstGeom prst="rect">
            <a:avLst/>
          </a:prstGeom>
          <a:noFill/>
        </p:spPr>
        <p:txBody>
          <a:bodyPr wrap="square" rtlCol="0">
            <a:spAutoFit/>
          </a:bodyPr>
          <a:lstStyle/>
          <a:p>
            <a:r>
              <a:rPr lang="en-IN" b="1" u="sng" dirty="0"/>
              <a:t>Backlink Strategy</a:t>
            </a:r>
          </a:p>
          <a:p>
            <a:pPr marL="285750" indent="-285750">
              <a:buFont typeface="Arial" panose="020B0604020202020204" pitchFamily="34" charset="0"/>
              <a:buChar char="•"/>
            </a:pPr>
            <a:r>
              <a:rPr lang="en-US" dirty="0"/>
              <a:t>Build authoritative, high-quality backlinks.</a:t>
            </a:r>
          </a:p>
          <a:p>
            <a:pPr marL="285750" indent="-285750">
              <a:buFont typeface="Arial" panose="020B0604020202020204" pitchFamily="34" charset="0"/>
              <a:buChar char="•"/>
            </a:pPr>
            <a:r>
              <a:rPr lang="en-US" dirty="0"/>
              <a:t> Target backlinks from niche-relevant sources.</a:t>
            </a:r>
          </a:p>
          <a:p>
            <a:pPr marL="285750" indent="-285750">
              <a:buFont typeface="Arial" panose="020B0604020202020204" pitchFamily="34" charset="0"/>
              <a:buChar char="•"/>
            </a:pPr>
            <a:r>
              <a:rPr lang="en-US" dirty="0"/>
              <a:t>Ensure a diverse and natural link profile</a:t>
            </a:r>
            <a:endParaRPr lang="en-IN" dirty="0"/>
          </a:p>
        </p:txBody>
      </p:sp>
      <p:sp>
        <p:nvSpPr>
          <p:cNvPr id="16" name="TextBox 15">
            <a:extLst>
              <a:ext uri="{FF2B5EF4-FFF2-40B4-BE49-F238E27FC236}">
                <a16:creationId xmlns:a16="http://schemas.microsoft.com/office/drawing/2014/main" id="{E78792B2-3DB2-4351-9BE3-4B991F145252}"/>
              </a:ext>
            </a:extLst>
          </p:cNvPr>
          <p:cNvSpPr txBox="1"/>
          <p:nvPr/>
        </p:nvSpPr>
        <p:spPr>
          <a:xfrm>
            <a:off x="7767686" y="3817852"/>
            <a:ext cx="4545295" cy="1754326"/>
          </a:xfrm>
          <a:prstGeom prst="rect">
            <a:avLst/>
          </a:prstGeom>
          <a:noFill/>
        </p:spPr>
        <p:txBody>
          <a:bodyPr wrap="square" rtlCol="0">
            <a:spAutoFit/>
          </a:bodyPr>
          <a:lstStyle/>
          <a:p>
            <a:r>
              <a:rPr lang="en-US" b="1" u="sng" dirty="0"/>
              <a:t>CRO &amp; User Experience </a:t>
            </a:r>
          </a:p>
          <a:p>
            <a:pPr marL="285750" indent="-285750">
              <a:buFont typeface="Arial" panose="020B0604020202020204" pitchFamily="34" charset="0"/>
              <a:buChar char="•"/>
            </a:pPr>
            <a:r>
              <a:rPr lang="en-US" dirty="0"/>
              <a:t>Improve website navigation for better usability.</a:t>
            </a:r>
          </a:p>
          <a:p>
            <a:pPr marL="285750" indent="-285750">
              <a:buFont typeface="Arial" panose="020B0604020202020204" pitchFamily="34" charset="0"/>
              <a:buChar char="•"/>
            </a:pPr>
            <a:r>
              <a:rPr lang="en-US" dirty="0"/>
              <a:t> Optimize page load times for faster access.</a:t>
            </a:r>
          </a:p>
          <a:p>
            <a:pPr marL="285750" indent="-285750">
              <a:buFont typeface="Arial" panose="020B0604020202020204" pitchFamily="34" charset="0"/>
              <a:buChar char="•"/>
            </a:pPr>
            <a:r>
              <a:rPr lang="en-US" dirty="0"/>
              <a:t>Make sure the site is fully responsive on mobile devices</a:t>
            </a:r>
            <a:endParaRPr lang="en-IN" dirty="0"/>
          </a:p>
        </p:txBody>
      </p:sp>
      <p:sp>
        <p:nvSpPr>
          <p:cNvPr id="17" name="TextBox 16">
            <a:extLst>
              <a:ext uri="{FF2B5EF4-FFF2-40B4-BE49-F238E27FC236}">
                <a16:creationId xmlns:a16="http://schemas.microsoft.com/office/drawing/2014/main" id="{305CE39C-57DC-4896-A595-2709D10E6EBC}"/>
              </a:ext>
            </a:extLst>
          </p:cNvPr>
          <p:cNvSpPr txBox="1"/>
          <p:nvPr/>
        </p:nvSpPr>
        <p:spPr>
          <a:xfrm>
            <a:off x="7819534" y="5552394"/>
            <a:ext cx="4363040" cy="1200329"/>
          </a:xfrm>
          <a:prstGeom prst="rect">
            <a:avLst/>
          </a:prstGeom>
          <a:noFill/>
        </p:spPr>
        <p:txBody>
          <a:bodyPr wrap="square" rtlCol="0">
            <a:spAutoFit/>
          </a:bodyPr>
          <a:lstStyle/>
          <a:p>
            <a:r>
              <a:rPr lang="en-US" b="1" u="sng" dirty="0"/>
              <a:t>Analytics &amp; Optimization </a:t>
            </a:r>
          </a:p>
          <a:p>
            <a:pPr marL="285750" indent="-285750">
              <a:buFont typeface="Arial" panose="020B0604020202020204" pitchFamily="34" charset="0"/>
              <a:buChar char="•"/>
            </a:pPr>
            <a:r>
              <a:rPr lang="en-US" dirty="0"/>
              <a:t>Monitor and evaluate traffic sources.</a:t>
            </a:r>
          </a:p>
          <a:p>
            <a:pPr marL="285750" indent="-285750">
              <a:buFont typeface="Arial" panose="020B0604020202020204" pitchFamily="34" charset="0"/>
              <a:buChar char="•"/>
            </a:pPr>
            <a:r>
              <a:rPr lang="en-US" dirty="0"/>
              <a:t> Refine user journey to boost conversions </a:t>
            </a:r>
          </a:p>
          <a:p>
            <a:pPr marL="285750" indent="-285750">
              <a:buFont typeface="Arial" panose="020B0604020202020204" pitchFamily="34" charset="0"/>
              <a:buChar char="•"/>
            </a:pPr>
            <a:r>
              <a:rPr lang="en-US" dirty="0"/>
              <a:t>Work on lowering the bounce rate</a:t>
            </a:r>
            <a:endParaRPr lang="en-IN" dirty="0"/>
          </a:p>
        </p:txBody>
      </p:sp>
    </p:spTree>
    <p:extLst>
      <p:ext uri="{BB962C8B-B14F-4D97-AF65-F5344CB8AC3E}">
        <p14:creationId xmlns:p14="http://schemas.microsoft.com/office/powerpoint/2010/main" val="319654984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Content Placeholder 5">
            <a:extLst>
              <a:ext uri="{FF2B5EF4-FFF2-40B4-BE49-F238E27FC236}">
                <a16:creationId xmlns:a16="http://schemas.microsoft.com/office/drawing/2014/main" id="{F276451D-22FC-413A-B46D-D7BE1FD537E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429" y="0"/>
            <a:ext cx="1131216" cy="948153"/>
          </a:xfrm>
          <a:prstGeom prst="rect">
            <a:avLst/>
          </a:prstGeom>
        </p:spPr>
      </p:pic>
      <p:pic>
        <p:nvPicPr>
          <p:cNvPr id="3" name="Picture 2">
            <a:extLst>
              <a:ext uri="{FF2B5EF4-FFF2-40B4-BE49-F238E27FC236}">
                <a16:creationId xmlns:a16="http://schemas.microsoft.com/office/drawing/2014/main" id="{34CAFFD2-4E18-48BD-8CB8-CF8EFA0A014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854082" y="11733"/>
            <a:ext cx="1337918" cy="941168"/>
          </a:xfrm>
          <a:prstGeom prst="rect">
            <a:avLst/>
          </a:prstGeom>
        </p:spPr>
      </p:pic>
      <p:sp>
        <p:nvSpPr>
          <p:cNvPr id="5" name="Rectangle 4">
            <a:extLst>
              <a:ext uri="{FF2B5EF4-FFF2-40B4-BE49-F238E27FC236}">
                <a16:creationId xmlns:a16="http://schemas.microsoft.com/office/drawing/2014/main" id="{45E110F5-A3B7-42B6-8C9D-1F75D7104775}"/>
              </a:ext>
            </a:extLst>
          </p:cNvPr>
          <p:cNvSpPr/>
          <p:nvPr/>
        </p:nvSpPr>
        <p:spPr>
          <a:xfrm>
            <a:off x="4317476" y="207390"/>
            <a:ext cx="4581427" cy="603316"/>
          </a:xfrm>
          <a:prstGeom prst="rect">
            <a:avLst/>
          </a:prstGeom>
          <a:solidFill>
            <a:schemeClr val="accent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600" b="1" dirty="0"/>
              <a:t>TARGET LOCATION </a:t>
            </a:r>
          </a:p>
        </p:txBody>
      </p:sp>
      <p:sp>
        <p:nvSpPr>
          <p:cNvPr id="6" name="Rectangle: Rounded Corners 5">
            <a:extLst>
              <a:ext uri="{FF2B5EF4-FFF2-40B4-BE49-F238E27FC236}">
                <a16:creationId xmlns:a16="http://schemas.microsoft.com/office/drawing/2014/main" id="{F5FBAE1E-67B8-4E81-A265-61FCA2A707F3}"/>
              </a:ext>
            </a:extLst>
          </p:cNvPr>
          <p:cNvSpPr/>
          <p:nvPr/>
        </p:nvSpPr>
        <p:spPr>
          <a:xfrm>
            <a:off x="989813" y="1454464"/>
            <a:ext cx="4741683" cy="603316"/>
          </a:xfrm>
          <a:prstGeom prst="round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TARGET LOCATION STRATEGY</a:t>
            </a:r>
          </a:p>
        </p:txBody>
      </p:sp>
      <p:sp>
        <p:nvSpPr>
          <p:cNvPr id="7" name="TextBox 6">
            <a:extLst>
              <a:ext uri="{FF2B5EF4-FFF2-40B4-BE49-F238E27FC236}">
                <a16:creationId xmlns:a16="http://schemas.microsoft.com/office/drawing/2014/main" id="{CC76E0C5-F709-42A0-AF99-2917743CEE6D}"/>
              </a:ext>
            </a:extLst>
          </p:cNvPr>
          <p:cNvSpPr txBox="1"/>
          <p:nvPr/>
        </p:nvSpPr>
        <p:spPr>
          <a:xfrm>
            <a:off x="989813" y="2498103"/>
            <a:ext cx="6344240" cy="3682226"/>
          </a:xfrm>
          <a:prstGeom prst="rect">
            <a:avLst/>
          </a:prstGeom>
          <a:noFill/>
        </p:spPr>
        <p:txBody>
          <a:bodyPr wrap="square" rtlCol="0">
            <a:spAutoFit/>
          </a:bodyPr>
          <a:lstStyle/>
          <a:p>
            <a:pPr marL="285750" indent="-285750">
              <a:lnSpc>
                <a:spcPct val="200000"/>
              </a:lnSpc>
              <a:buFont typeface="Arial" panose="020B0604020202020204" pitchFamily="34" charset="0"/>
              <a:buChar char="•"/>
            </a:pPr>
            <a:r>
              <a:rPr lang="en-IN" sz="2400" b="1" dirty="0"/>
              <a:t>Tier 1 &amp; Tier 2 cities</a:t>
            </a:r>
          </a:p>
          <a:p>
            <a:pPr marL="285750" indent="-285750">
              <a:lnSpc>
                <a:spcPct val="200000"/>
              </a:lnSpc>
              <a:buFont typeface="Arial" panose="020B0604020202020204" pitchFamily="34" charset="0"/>
              <a:buChar char="•"/>
            </a:pPr>
            <a:r>
              <a:rPr lang="en-IN" sz="2400" b="1" dirty="0"/>
              <a:t>South Indian Diaspora Markets</a:t>
            </a:r>
          </a:p>
          <a:p>
            <a:pPr marL="285750" indent="-285750">
              <a:lnSpc>
                <a:spcPct val="200000"/>
              </a:lnSpc>
              <a:buFont typeface="Arial" panose="020B0604020202020204" pitchFamily="34" charset="0"/>
              <a:buChar char="•"/>
            </a:pPr>
            <a:r>
              <a:rPr lang="en-IN" sz="2400" b="1" dirty="0"/>
              <a:t>High online-order potential areas</a:t>
            </a:r>
          </a:p>
          <a:p>
            <a:pPr marL="285750" indent="-285750">
              <a:lnSpc>
                <a:spcPct val="200000"/>
              </a:lnSpc>
              <a:buFont typeface="Arial" panose="020B0604020202020204" pitchFamily="34" charset="0"/>
              <a:buChar char="•"/>
            </a:pPr>
            <a:r>
              <a:rPr lang="en-IN" sz="2400" b="1" dirty="0"/>
              <a:t>High-income &amp; working-professional Zones</a:t>
            </a:r>
          </a:p>
          <a:p>
            <a:pPr marL="285750" indent="-285750">
              <a:lnSpc>
                <a:spcPct val="200000"/>
              </a:lnSpc>
              <a:buFont typeface="Arial" panose="020B0604020202020204" pitchFamily="34" charset="0"/>
              <a:buChar char="•"/>
            </a:pPr>
            <a:r>
              <a:rPr lang="en-IN" sz="2400" b="1" dirty="0"/>
              <a:t>Tamil Nadu main market</a:t>
            </a:r>
          </a:p>
        </p:txBody>
      </p:sp>
      <p:sp>
        <p:nvSpPr>
          <p:cNvPr id="8" name="Rectangle 7">
            <a:extLst>
              <a:ext uri="{FF2B5EF4-FFF2-40B4-BE49-F238E27FC236}">
                <a16:creationId xmlns:a16="http://schemas.microsoft.com/office/drawing/2014/main" id="{D58F8D94-3A51-42A9-AD17-86EF2BA89832}"/>
              </a:ext>
            </a:extLst>
          </p:cNvPr>
          <p:cNvSpPr/>
          <p:nvPr/>
        </p:nvSpPr>
        <p:spPr>
          <a:xfrm>
            <a:off x="7192653" y="1706252"/>
            <a:ext cx="4901938" cy="3987538"/>
          </a:xfrm>
          <a:prstGeom prst="rect">
            <a:avLst/>
          </a:prstGeom>
          <a:blipFill dpi="0"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a:fillRect/>
            </a:stretch>
          </a:blipFill>
          <a:ln>
            <a:solidFill>
              <a:srgbClr val="00B050"/>
            </a:solidFill>
          </a:ln>
        </p:spPr>
        <p:style>
          <a:lnRef idx="3">
            <a:schemeClr val="lt1"/>
          </a:lnRef>
          <a:fillRef idx="1">
            <a:schemeClr val="accent2"/>
          </a:fillRef>
          <a:effectRef idx="1">
            <a:schemeClr val="accent2"/>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36961840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107C6A9-95B7-4668-9AAC-7033908CD471}"/>
              </a:ext>
            </a:extLst>
          </p:cNvPr>
          <p:cNvSpPr/>
          <p:nvPr/>
        </p:nvSpPr>
        <p:spPr>
          <a:xfrm>
            <a:off x="6353665" y="1564849"/>
            <a:ext cx="5108639" cy="5222450"/>
          </a:xfrm>
          <a:prstGeom prst="rect">
            <a:avLst/>
          </a:prstGeom>
          <a:solidFill>
            <a:schemeClr val="accent6">
              <a:lumMod val="75000"/>
            </a:schemeClr>
          </a:solidFill>
        </p:spPr>
        <p:style>
          <a:lnRef idx="2">
            <a:schemeClr val="accent1"/>
          </a:lnRef>
          <a:fillRef idx="1">
            <a:schemeClr val="lt1"/>
          </a:fillRef>
          <a:effectRef idx="0">
            <a:schemeClr val="accent1"/>
          </a:effectRef>
          <a:fontRef idx="minor">
            <a:schemeClr val="dk1"/>
          </a:fontRef>
        </p:style>
        <p:txBody>
          <a:bodyPr rtlCol="0" anchor="ctr"/>
          <a:lstStyle/>
          <a:p>
            <a:pPr algn="ctr"/>
            <a:endParaRPr lang="en-IN"/>
          </a:p>
        </p:txBody>
      </p:sp>
      <p:sp>
        <p:nvSpPr>
          <p:cNvPr id="7" name="Rectangle 6">
            <a:extLst>
              <a:ext uri="{FF2B5EF4-FFF2-40B4-BE49-F238E27FC236}">
                <a16:creationId xmlns:a16="http://schemas.microsoft.com/office/drawing/2014/main" id="{AE09B667-8E0E-45BF-959C-B2C2D69C1F41}"/>
              </a:ext>
            </a:extLst>
          </p:cNvPr>
          <p:cNvSpPr/>
          <p:nvPr/>
        </p:nvSpPr>
        <p:spPr>
          <a:xfrm>
            <a:off x="768481" y="1564849"/>
            <a:ext cx="5221762" cy="5222450"/>
          </a:xfrm>
          <a:prstGeom prst="rect">
            <a:avLst/>
          </a:prstGeom>
          <a:solidFill>
            <a:schemeClr val="accent6">
              <a:lumMod val="75000"/>
            </a:schemeClr>
          </a:solidFill>
        </p:spPr>
        <p:style>
          <a:lnRef idx="2">
            <a:schemeClr val="accent1"/>
          </a:lnRef>
          <a:fillRef idx="1">
            <a:schemeClr val="lt1"/>
          </a:fillRef>
          <a:effectRef idx="0">
            <a:schemeClr val="accent1"/>
          </a:effectRef>
          <a:fontRef idx="minor">
            <a:schemeClr val="dk1"/>
          </a:fontRef>
        </p:style>
        <p:txBody>
          <a:bodyPr rtlCol="0" anchor="ctr"/>
          <a:lstStyle/>
          <a:p>
            <a:pPr algn="ctr"/>
            <a:endParaRPr lang="en-IN"/>
          </a:p>
        </p:txBody>
      </p:sp>
      <p:pic>
        <p:nvPicPr>
          <p:cNvPr id="2" name="Content Placeholder 5">
            <a:extLst>
              <a:ext uri="{FF2B5EF4-FFF2-40B4-BE49-F238E27FC236}">
                <a16:creationId xmlns:a16="http://schemas.microsoft.com/office/drawing/2014/main" id="{681BEFEE-B95B-4233-BC9F-8008B76D829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429" y="0"/>
            <a:ext cx="1131216" cy="948153"/>
          </a:xfrm>
          <a:prstGeom prst="rect">
            <a:avLst/>
          </a:prstGeom>
        </p:spPr>
      </p:pic>
      <p:pic>
        <p:nvPicPr>
          <p:cNvPr id="3" name="Picture 2">
            <a:extLst>
              <a:ext uri="{FF2B5EF4-FFF2-40B4-BE49-F238E27FC236}">
                <a16:creationId xmlns:a16="http://schemas.microsoft.com/office/drawing/2014/main" id="{80403D1A-4C3E-4C0E-9E84-72EC61119D0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854082" y="11733"/>
            <a:ext cx="1337918" cy="941168"/>
          </a:xfrm>
          <a:prstGeom prst="rect">
            <a:avLst/>
          </a:prstGeom>
        </p:spPr>
      </p:pic>
      <p:sp>
        <p:nvSpPr>
          <p:cNvPr id="4" name="Rectangle 3">
            <a:extLst>
              <a:ext uri="{FF2B5EF4-FFF2-40B4-BE49-F238E27FC236}">
                <a16:creationId xmlns:a16="http://schemas.microsoft.com/office/drawing/2014/main" id="{5D90E288-DA4D-4B8E-BE77-DC4C64EB5B39}"/>
              </a:ext>
            </a:extLst>
          </p:cNvPr>
          <p:cNvSpPr/>
          <p:nvPr/>
        </p:nvSpPr>
        <p:spPr>
          <a:xfrm>
            <a:off x="3073138" y="216816"/>
            <a:ext cx="6561056" cy="731337"/>
          </a:xfrm>
          <a:prstGeom prst="rect">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800" b="1" dirty="0"/>
              <a:t>TARGET LOCATION EXPANSION STRATEGY</a:t>
            </a:r>
          </a:p>
        </p:txBody>
      </p:sp>
      <p:sp>
        <p:nvSpPr>
          <p:cNvPr id="5" name="TextBox 4">
            <a:extLst>
              <a:ext uri="{FF2B5EF4-FFF2-40B4-BE49-F238E27FC236}">
                <a16:creationId xmlns:a16="http://schemas.microsoft.com/office/drawing/2014/main" id="{304D0322-8B64-4176-AF9F-A5CC5C0DA0AF}"/>
              </a:ext>
            </a:extLst>
          </p:cNvPr>
          <p:cNvSpPr txBox="1"/>
          <p:nvPr/>
        </p:nvSpPr>
        <p:spPr>
          <a:xfrm>
            <a:off x="999242" y="2158735"/>
            <a:ext cx="5108640" cy="3650358"/>
          </a:xfrm>
          <a:prstGeom prst="rect">
            <a:avLst/>
          </a:prstGeom>
          <a:noFill/>
        </p:spPr>
        <p:txBody>
          <a:bodyPr wrap="square" rtlCol="0">
            <a:spAutoFit/>
          </a:bodyPr>
          <a:lstStyle/>
          <a:p>
            <a:r>
              <a:rPr lang="en-IN" sz="2000" b="1" dirty="0">
                <a:solidFill>
                  <a:schemeClr val="bg1"/>
                </a:solidFill>
              </a:rPr>
              <a:t>What They’re Doing</a:t>
            </a:r>
          </a:p>
          <a:p>
            <a:pPr marL="285750" indent="-285750">
              <a:lnSpc>
                <a:spcPct val="150000"/>
              </a:lnSpc>
              <a:buFont typeface="Arial" panose="020B0604020202020204" pitchFamily="34" charset="0"/>
              <a:buChar char="•"/>
            </a:pPr>
            <a:r>
              <a:rPr lang="en-US" dirty="0">
                <a:solidFill>
                  <a:schemeClr val="bg1"/>
                </a:solidFill>
              </a:rPr>
              <a:t>Building their presence from Tamil Nadu.</a:t>
            </a:r>
          </a:p>
          <a:p>
            <a:pPr marL="285750" indent="-285750">
              <a:lnSpc>
                <a:spcPct val="150000"/>
              </a:lnSpc>
              <a:buFont typeface="Arial" panose="020B0604020202020204" pitchFamily="34" charset="0"/>
              <a:buChar char="•"/>
            </a:pPr>
            <a:r>
              <a:rPr lang="en-US" dirty="0">
                <a:solidFill>
                  <a:schemeClr val="bg1"/>
                </a:solidFill>
              </a:rPr>
              <a:t>Reaching customers through online channels.</a:t>
            </a:r>
          </a:p>
          <a:p>
            <a:pPr marL="285750" indent="-285750">
              <a:lnSpc>
                <a:spcPct val="150000"/>
              </a:lnSpc>
              <a:buFont typeface="Arial" panose="020B0604020202020204" pitchFamily="34" charset="0"/>
              <a:buChar char="•"/>
            </a:pPr>
            <a:r>
              <a:rPr lang="en-US" dirty="0">
                <a:solidFill>
                  <a:schemeClr val="bg1"/>
                </a:solidFill>
              </a:rPr>
              <a:t>Selling traditional South Indian coffee and food products.</a:t>
            </a:r>
          </a:p>
          <a:p>
            <a:pPr marL="285750" indent="-285750">
              <a:lnSpc>
                <a:spcPct val="150000"/>
              </a:lnSpc>
              <a:buFont typeface="Arial" panose="020B0604020202020204" pitchFamily="34" charset="0"/>
              <a:buChar char="•"/>
            </a:pPr>
            <a:r>
              <a:rPr lang="en-US" dirty="0">
                <a:solidFill>
                  <a:schemeClr val="bg1"/>
                </a:solidFill>
              </a:rPr>
              <a:t>Serving customers beyond their immediate local market.</a:t>
            </a:r>
          </a:p>
          <a:p>
            <a:pPr marL="285750" indent="-285750">
              <a:lnSpc>
                <a:spcPct val="150000"/>
              </a:lnSpc>
              <a:buFont typeface="Arial" panose="020B0604020202020204" pitchFamily="34" charset="0"/>
              <a:buChar char="•"/>
            </a:pPr>
            <a:r>
              <a:rPr lang="en-US" dirty="0">
                <a:solidFill>
                  <a:schemeClr val="bg1"/>
                </a:solidFill>
              </a:rPr>
              <a:t>Building the brand around traditional taste and South Indian identity.</a:t>
            </a:r>
            <a:endParaRPr lang="en-IN" dirty="0">
              <a:solidFill>
                <a:schemeClr val="bg1"/>
              </a:solidFill>
            </a:endParaRPr>
          </a:p>
        </p:txBody>
      </p:sp>
      <p:sp>
        <p:nvSpPr>
          <p:cNvPr id="6" name="TextBox 5">
            <a:extLst>
              <a:ext uri="{FF2B5EF4-FFF2-40B4-BE49-F238E27FC236}">
                <a16:creationId xmlns:a16="http://schemas.microsoft.com/office/drawing/2014/main" id="{304AE679-2EB0-4397-BBC8-9514F4E67856}"/>
              </a:ext>
            </a:extLst>
          </p:cNvPr>
          <p:cNvSpPr txBox="1"/>
          <p:nvPr/>
        </p:nvSpPr>
        <p:spPr>
          <a:xfrm>
            <a:off x="6338643" y="1920415"/>
            <a:ext cx="5108639" cy="4481355"/>
          </a:xfrm>
          <a:prstGeom prst="rect">
            <a:avLst/>
          </a:prstGeom>
          <a:noFill/>
        </p:spPr>
        <p:txBody>
          <a:bodyPr wrap="square" rtlCol="0">
            <a:spAutoFit/>
          </a:bodyPr>
          <a:lstStyle/>
          <a:p>
            <a:r>
              <a:rPr lang="en-IN" sz="2000" b="1" dirty="0">
                <a:solidFill>
                  <a:schemeClr val="bg1"/>
                </a:solidFill>
              </a:rPr>
              <a:t>What can be improved</a:t>
            </a:r>
          </a:p>
          <a:p>
            <a:pPr marL="285750" indent="-285750">
              <a:lnSpc>
                <a:spcPct val="150000"/>
              </a:lnSpc>
              <a:buFont typeface="Arial" panose="020B0604020202020204" pitchFamily="34" charset="0"/>
              <a:buChar char="•"/>
            </a:pPr>
            <a:r>
              <a:rPr lang="en-US" dirty="0">
                <a:solidFill>
                  <a:schemeClr val="bg1"/>
                </a:solidFill>
              </a:rPr>
              <a:t>Expand city-wise: Create a clear plan for Tier-1 and Tier-2 cities.</a:t>
            </a:r>
          </a:p>
          <a:p>
            <a:pPr marL="285750" indent="-285750">
              <a:lnSpc>
                <a:spcPct val="150000"/>
              </a:lnSpc>
              <a:buFont typeface="Arial" panose="020B0604020202020204" pitchFamily="34" charset="0"/>
              <a:buChar char="•"/>
            </a:pPr>
            <a:r>
              <a:rPr lang="en-US" dirty="0">
                <a:solidFill>
                  <a:schemeClr val="bg1"/>
                </a:solidFill>
              </a:rPr>
              <a:t>Stronger local targeting: Run location-based ads for high-potential cities.</a:t>
            </a:r>
          </a:p>
          <a:p>
            <a:pPr marL="285750" indent="-285750">
              <a:lnSpc>
                <a:spcPct val="150000"/>
              </a:lnSpc>
              <a:buFont typeface="Arial" panose="020B0604020202020204" pitchFamily="34" charset="0"/>
              <a:buChar char="•"/>
            </a:pPr>
            <a:r>
              <a:rPr lang="en-US" dirty="0">
                <a:solidFill>
                  <a:schemeClr val="bg1"/>
                </a:solidFill>
              </a:rPr>
              <a:t>Improve online reach: Target customers outside Tamil Nadu through SEO and social media.</a:t>
            </a:r>
          </a:p>
          <a:p>
            <a:pPr marL="285750" indent="-285750">
              <a:lnSpc>
                <a:spcPct val="150000"/>
              </a:lnSpc>
              <a:buFont typeface="Arial" panose="020B0604020202020204" pitchFamily="34" charset="0"/>
              <a:buChar char="•"/>
            </a:pPr>
            <a:r>
              <a:rPr lang="en-US" dirty="0">
                <a:solidFill>
                  <a:schemeClr val="bg1"/>
                </a:solidFill>
              </a:rPr>
              <a:t>Use customer data: Identify which cities generate the most orders and focus there.</a:t>
            </a:r>
          </a:p>
          <a:p>
            <a:pPr marL="285750" indent="-285750">
              <a:lnSpc>
                <a:spcPct val="150000"/>
              </a:lnSpc>
              <a:buFont typeface="Arial" panose="020B0604020202020204" pitchFamily="34" charset="0"/>
              <a:buChar char="•"/>
            </a:pPr>
            <a:r>
              <a:rPr lang="en-US" dirty="0">
                <a:solidFill>
                  <a:schemeClr val="bg1"/>
                </a:solidFill>
              </a:rPr>
              <a:t>Build local awareness: Use regional influencers and local campaigns when entering new markets.</a:t>
            </a:r>
            <a:endParaRPr lang="en-IN" dirty="0">
              <a:solidFill>
                <a:schemeClr val="bg1"/>
              </a:solidFill>
            </a:endParaRPr>
          </a:p>
        </p:txBody>
      </p:sp>
      <p:sp>
        <p:nvSpPr>
          <p:cNvPr id="9" name="Rectangle 8">
            <a:extLst>
              <a:ext uri="{FF2B5EF4-FFF2-40B4-BE49-F238E27FC236}">
                <a16:creationId xmlns:a16="http://schemas.microsoft.com/office/drawing/2014/main" id="{1B3848DB-491D-4C5D-BA68-7CD3F04CDC21}"/>
              </a:ext>
            </a:extLst>
          </p:cNvPr>
          <p:cNvSpPr/>
          <p:nvPr/>
        </p:nvSpPr>
        <p:spPr>
          <a:xfrm>
            <a:off x="5883" y="952110"/>
            <a:ext cx="625713" cy="5896465"/>
          </a:xfrm>
          <a:prstGeom prst="rect">
            <a:avLst/>
          </a:prstGeom>
          <a:solidFill>
            <a:schemeClr val="accent1">
              <a:lumMod val="50000"/>
            </a:schemeClr>
          </a:solidFill>
        </p:spPr>
        <p:style>
          <a:lnRef idx="0">
            <a:schemeClr val="accent1"/>
          </a:lnRef>
          <a:fillRef idx="3">
            <a:schemeClr val="accent1"/>
          </a:fillRef>
          <a:effectRef idx="3">
            <a:schemeClr val="accent1"/>
          </a:effectRef>
          <a:fontRef idx="minor">
            <a:schemeClr val="lt1"/>
          </a:fontRef>
        </p:style>
        <p:txBody>
          <a:bodyPr vert="vert270" rtlCol="0" anchor="ctr"/>
          <a:lstStyle/>
          <a:p>
            <a:pPr algn="ctr"/>
            <a:r>
              <a:rPr lang="en-US" sz="2800" b="1" dirty="0"/>
              <a:t>SWEET KARAM COFFEE</a:t>
            </a:r>
            <a:endParaRPr lang="en-IN" sz="2800" b="1" dirty="0"/>
          </a:p>
        </p:txBody>
      </p:sp>
    </p:spTree>
    <p:extLst>
      <p:ext uri="{BB962C8B-B14F-4D97-AF65-F5344CB8AC3E}">
        <p14:creationId xmlns:p14="http://schemas.microsoft.com/office/powerpoint/2010/main" val="301399583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Content Placeholder 5">
            <a:extLst>
              <a:ext uri="{FF2B5EF4-FFF2-40B4-BE49-F238E27FC236}">
                <a16:creationId xmlns:a16="http://schemas.microsoft.com/office/drawing/2014/main" id="{DD8B8216-3D6D-4F45-884E-94A93B0A4E7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429" y="0"/>
            <a:ext cx="1131216" cy="948153"/>
          </a:xfrm>
          <a:prstGeom prst="rect">
            <a:avLst/>
          </a:prstGeom>
        </p:spPr>
      </p:pic>
      <p:pic>
        <p:nvPicPr>
          <p:cNvPr id="3" name="Picture 2">
            <a:extLst>
              <a:ext uri="{FF2B5EF4-FFF2-40B4-BE49-F238E27FC236}">
                <a16:creationId xmlns:a16="http://schemas.microsoft.com/office/drawing/2014/main" id="{433AC88E-029C-4FA7-A136-191937A470F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854082" y="11733"/>
            <a:ext cx="1337918" cy="941168"/>
          </a:xfrm>
          <a:prstGeom prst="rect">
            <a:avLst/>
          </a:prstGeom>
        </p:spPr>
      </p:pic>
      <p:sp>
        <p:nvSpPr>
          <p:cNvPr id="4" name="Rectangle 3">
            <a:extLst>
              <a:ext uri="{FF2B5EF4-FFF2-40B4-BE49-F238E27FC236}">
                <a16:creationId xmlns:a16="http://schemas.microsoft.com/office/drawing/2014/main" id="{D67DE02D-19A0-4550-A3A0-61CE837EB9DA}"/>
              </a:ext>
            </a:extLst>
          </p:cNvPr>
          <p:cNvSpPr/>
          <p:nvPr/>
        </p:nvSpPr>
        <p:spPr>
          <a:xfrm>
            <a:off x="3780146" y="395926"/>
            <a:ext cx="5118755" cy="552227"/>
          </a:xfrm>
          <a:prstGeom prst="rect">
            <a:avLst/>
          </a:prstGeom>
          <a:solidFill>
            <a:schemeClr val="accent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TARGET AUDIENCE</a:t>
            </a:r>
          </a:p>
        </p:txBody>
      </p:sp>
      <p:sp>
        <p:nvSpPr>
          <p:cNvPr id="5" name="TextBox 4">
            <a:extLst>
              <a:ext uri="{FF2B5EF4-FFF2-40B4-BE49-F238E27FC236}">
                <a16:creationId xmlns:a16="http://schemas.microsoft.com/office/drawing/2014/main" id="{AD404436-6EF3-454B-8575-0787F5F9C5A3}"/>
              </a:ext>
            </a:extLst>
          </p:cNvPr>
          <p:cNvSpPr txBox="1"/>
          <p:nvPr/>
        </p:nvSpPr>
        <p:spPr>
          <a:xfrm>
            <a:off x="1687398" y="1197201"/>
            <a:ext cx="9766169" cy="5632311"/>
          </a:xfrm>
          <a:prstGeom prst="rect">
            <a:avLst/>
          </a:prstGeom>
          <a:noFill/>
        </p:spPr>
        <p:txBody>
          <a:bodyPr wrap="square" rtlCol="0">
            <a:spAutoFit/>
          </a:bodyPr>
          <a:lstStyle/>
          <a:p>
            <a:r>
              <a:rPr lang="en-US" b="1" dirty="0"/>
              <a:t>South Indian Families</a:t>
            </a:r>
          </a:p>
          <a:p>
            <a:pPr marL="285750" indent="-285750">
              <a:buFont typeface="Arial" panose="020B0604020202020204" pitchFamily="34" charset="0"/>
              <a:buChar char="•"/>
            </a:pPr>
            <a:r>
              <a:rPr lang="en-US" dirty="0"/>
              <a:t>Families who enjoy traditional sweets, snacks and coffee.</a:t>
            </a:r>
          </a:p>
          <a:p>
            <a:pPr marL="285750" indent="-285750">
              <a:buFont typeface="Arial" panose="020B0604020202020204" pitchFamily="34" charset="0"/>
              <a:buChar char="•"/>
            </a:pPr>
            <a:r>
              <a:rPr lang="en-US" dirty="0"/>
              <a:t>Buy for everyday use and family occasions.</a:t>
            </a:r>
          </a:p>
          <a:p>
            <a:pPr marL="285750" indent="-285750">
              <a:buFont typeface="Arial" panose="020B0604020202020204" pitchFamily="34" charset="0"/>
              <a:buChar char="•"/>
            </a:pPr>
            <a:r>
              <a:rPr lang="en-US" dirty="0"/>
              <a:t>Prefer familiar and authentic </a:t>
            </a:r>
            <a:r>
              <a:rPr lang="en-US" dirty="0" err="1"/>
              <a:t>flavours</a:t>
            </a:r>
            <a:r>
              <a:rPr lang="en-US" dirty="0"/>
              <a:t>.</a:t>
            </a:r>
          </a:p>
          <a:p>
            <a:pPr marL="285750" indent="-285750">
              <a:buFont typeface="Arial" panose="020B0604020202020204" pitchFamily="34" charset="0"/>
              <a:buChar char="•"/>
            </a:pPr>
            <a:endParaRPr lang="en-US" dirty="0"/>
          </a:p>
          <a:p>
            <a:r>
              <a:rPr lang="en-US" b="1" dirty="0"/>
              <a:t>South Indians Living Away From Home</a:t>
            </a:r>
          </a:p>
          <a:p>
            <a:pPr marL="285750" indent="-285750">
              <a:buFont typeface="Arial" panose="020B0604020202020204" pitchFamily="34" charset="0"/>
              <a:buChar char="•"/>
            </a:pPr>
            <a:r>
              <a:rPr lang="en-US" dirty="0"/>
              <a:t>People who miss traditional South Indian food.</a:t>
            </a:r>
          </a:p>
          <a:p>
            <a:pPr marL="285750" indent="-285750">
              <a:buFont typeface="Arial" panose="020B0604020202020204" pitchFamily="34" charset="0"/>
              <a:buChar char="•"/>
            </a:pPr>
            <a:r>
              <a:rPr lang="en-US" dirty="0"/>
              <a:t> Looking for familiar tastes from home.</a:t>
            </a:r>
          </a:p>
          <a:p>
            <a:pPr marL="285750" indent="-285750">
              <a:buFont typeface="Arial" panose="020B0604020202020204" pitchFamily="34" charset="0"/>
              <a:buChar char="•"/>
            </a:pPr>
            <a:r>
              <a:rPr lang="en-US" dirty="0"/>
              <a:t> Customers living across India and abroad.</a:t>
            </a:r>
          </a:p>
          <a:p>
            <a:pPr marL="285750" indent="-285750">
              <a:buFont typeface="Arial" panose="020B0604020202020204" pitchFamily="34" charset="0"/>
              <a:buChar char="•"/>
            </a:pPr>
            <a:endParaRPr lang="en-US" dirty="0"/>
          </a:p>
          <a:p>
            <a:r>
              <a:rPr lang="en-US" b="1" dirty="0"/>
              <a:t>Young Professionals &amp; Students</a:t>
            </a:r>
          </a:p>
          <a:p>
            <a:pPr marL="285750" indent="-285750">
              <a:buFont typeface="Arial" panose="020B0604020202020204" pitchFamily="34" charset="0"/>
              <a:buChar char="•"/>
            </a:pPr>
            <a:r>
              <a:rPr lang="en-US" dirty="0"/>
              <a:t>Looking for convenient snacks, coffee and ready-to-use products</a:t>
            </a:r>
          </a:p>
          <a:p>
            <a:pPr marL="285750" indent="-285750">
              <a:buFont typeface="Arial" panose="020B0604020202020204" pitchFamily="34" charset="0"/>
              <a:buChar char="•"/>
            </a:pPr>
            <a:r>
              <a:rPr lang="en-US" dirty="0"/>
              <a:t> Regular online shoppers</a:t>
            </a:r>
          </a:p>
          <a:p>
            <a:pPr marL="285750" indent="-285750">
              <a:buFont typeface="Arial" panose="020B0604020202020204" pitchFamily="34" charset="0"/>
              <a:buChar char="•"/>
            </a:pPr>
            <a:r>
              <a:rPr lang="en-US" dirty="0"/>
              <a:t> Prefer easy home delivery</a:t>
            </a:r>
          </a:p>
          <a:p>
            <a:endParaRPr lang="en-US" dirty="0"/>
          </a:p>
          <a:p>
            <a:r>
              <a:rPr lang="en-US" b="1" dirty="0"/>
              <a:t>Festive &amp; Gifting Customers</a:t>
            </a:r>
          </a:p>
          <a:p>
            <a:pPr marL="285750" indent="-285750">
              <a:buFont typeface="Arial" panose="020B0604020202020204" pitchFamily="34" charset="0"/>
              <a:buChar char="•"/>
            </a:pPr>
            <a:r>
              <a:rPr lang="en-US" dirty="0"/>
              <a:t> Buy sweets, snacks and hampers for festivals and celebrations</a:t>
            </a:r>
          </a:p>
          <a:p>
            <a:pPr marL="285750" indent="-285750">
              <a:buFont typeface="Arial" panose="020B0604020202020204" pitchFamily="34" charset="0"/>
              <a:buChar char="•"/>
            </a:pPr>
            <a:r>
              <a:rPr lang="en-US" dirty="0"/>
              <a:t> Looking for traditional gifting options</a:t>
            </a:r>
          </a:p>
          <a:p>
            <a:pPr marL="285750" indent="-285750">
              <a:buFont typeface="Arial" panose="020B0604020202020204" pitchFamily="34" charset="0"/>
              <a:buChar char="•"/>
            </a:pPr>
            <a:r>
              <a:rPr lang="en-US" dirty="0"/>
              <a:t> Includes family, wedding and corporate gifting</a:t>
            </a:r>
          </a:p>
          <a:p>
            <a:endParaRPr lang="en-IN" dirty="0"/>
          </a:p>
        </p:txBody>
      </p:sp>
      <p:sp>
        <p:nvSpPr>
          <p:cNvPr id="9" name="Rectangle 8">
            <a:extLst>
              <a:ext uri="{FF2B5EF4-FFF2-40B4-BE49-F238E27FC236}">
                <a16:creationId xmlns:a16="http://schemas.microsoft.com/office/drawing/2014/main" id="{F628A39E-6E2F-42B3-A449-4006F512FE5D}"/>
              </a:ext>
            </a:extLst>
          </p:cNvPr>
          <p:cNvSpPr/>
          <p:nvPr/>
        </p:nvSpPr>
        <p:spPr>
          <a:xfrm>
            <a:off x="9425" y="980388"/>
            <a:ext cx="443058" cy="5877612"/>
          </a:xfrm>
          <a:prstGeom prst="rect">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IN" sz="2400" b="1" dirty="0"/>
              <a:t>SWEET KARAM COFFEE</a:t>
            </a:r>
          </a:p>
        </p:txBody>
      </p:sp>
    </p:spTree>
    <p:extLst>
      <p:ext uri="{BB962C8B-B14F-4D97-AF65-F5344CB8AC3E}">
        <p14:creationId xmlns:p14="http://schemas.microsoft.com/office/powerpoint/2010/main" val="110731206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7BE720E-0EA1-49CC-85CD-A83F89853C6B}"/>
              </a:ext>
            </a:extLst>
          </p:cNvPr>
          <p:cNvSpPr/>
          <p:nvPr/>
        </p:nvSpPr>
        <p:spPr>
          <a:xfrm>
            <a:off x="3780146" y="395926"/>
            <a:ext cx="5118755" cy="552227"/>
          </a:xfrm>
          <a:prstGeom prst="rect">
            <a:avLst/>
          </a:prstGeom>
          <a:solidFill>
            <a:schemeClr val="accent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TARGET AUDIENCE</a:t>
            </a:r>
          </a:p>
        </p:txBody>
      </p:sp>
      <p:pic>
        <p:nvPicPr>
          <p:cNvPr id="3" name="Content Placeholder 5">
            <a:extLst>
              <a:ext uri="{FF2B5EF4-FFF2-40B4-BE49-F238E27FC236}">
                <a16:creationId xmlns:a16="http://schemas.microsoft.com/office/drawing/2014/main" id="{4EC46A7D-C2A1-481D-9F0B-00095019C2A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429" y="0"/>
            <a:ext cx="1131216" cy="948153"/>
          </a:xfrm>
          <a:prstGeom prst="rect">
            <a:avLst/>
          </a:prstGeom>
        </p:spPr>
      </p:pic>
      <p:pic>
        <p:nvPicPr>
          <p:cNvPr id="4" name="Picture 3">
            <a:extLst>
              <a:ext uri="{FF2B5EF4-FFF2-40B4-BE49-F238E27FC236}">
                <a16:creationId xmlns:a16="http://schemas.microsoft.com/office/drawing/2014/main" id="{6AC418CB-4831-4D6C-93BD-98C8AF81C50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854082" y="11733"/>
            <a:ext cx="1337918" cy="941168"/>
          </a:xfrm>
          <a:prstGeom prst="rect">
            <a:avLst/>
          </a:prstGeom>
        </p:spPr>
      </p:pic>
      <p:sp>
        <p:nvSpPr>
          <p:cNvPr id="5" name="Rectangle 4">
            <a:extLst>
              <a:ext uri="{FF2B5EF4-FFF2-40B4-BE49-F238E27FC236}">
                <a16:creationId xmlns:a16="http://schemas.microsoft.com/office/drawing/2014/main" id="{147E1F35-59D6-40D0-AF9C-E71A39F3A904}"/>
              </a:ext>
            </a:extLst>
          </p:cNvPr>
          <p:cNvSpPr/>
          <p:nvPr/>
        </p:nvSpPr>
        <p:spPr>
          <a:xfrm>
            <a:off x="9425" y="980388"/>
            <a:ext cx="443058" cy="5877612"/>
          </a:xfrm>
          <a:prstGeom prst="rect">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IN" sz="2400" b="1" dirty="0"/>
              <a:t>SWEET KARAM COFFEE</a:t>
            </a:r>
          </a:p>
        </p:txBody>
      </p:sp>
      <p:sp>
        <p:nvSpPr>
          <p:cNvPr id="6" name="TextBox 5">
            <a:extLst>
              <a:ext uri="{FF2B5EF4-FFF2-40B4-BE49-F238E27FC236}">
                <a16:creationId xmlns:a16="http://schemas.microsoft.com/office/drawing/2014/main" id="{8F059D9B-72A3-4DEE-8727-577A6B5F2014}"/>
              </a:ext>
            </a:extLst>
          </p:cNvPr>
          <p:cNvSpPr txBox="1"/>
          <p:nvPr/>
        </p:nvSpPr>
        <p:spPr>
          <a:xfrm>
            <a:off x="2733773" y="1555423"/>
            <a:ext cx="7654566" cy="4247317"/>
          </a:xfrm>
          <a:prstGeom prst="rect">
            <a:avLst/>
          </a:prstGeom>
          <a:noFill/>
        </p:spPr>
        <p:txBody>
          <a:bodyPr wrap="square" rtlCol="0">
            <a:spAutoFit/>
          </a:bodyPr>
          <a:lstStyle/>
          <a:p>
            <a:r>
              <a:rPr lang="en-US" b="1" dirty="0"/>
              <a:t>Traditional Food Lovers</a:t>
            </a:r>
          </a:p>
          <a:p>
            <a:pPr marL="285750" indent="-285750">
              <a:buFont typeface="Arial" panose="020B0604020202020204" pitchFamily="34" charset="0"/>
              <a:buChar char="•"/>
            </a:pPr>
            <a:r>
              <a:rPr lang="en-US" dirty="0"/>
              <a:t>Enjoy authentic South Indian sweets, snacks </a:t>
            </a:r>
            <a:r>
              <a:rPr lang="en-US"/>
              <a:t>and beverages</a:t>
            </a:r>
            <a:endParaRPr lang="en-US" dirty="0"/>
          </a:p>
          <a:p>
            <a:pPr marL="285750" indent="-285750">
              <a:buFont typeface="Arial" panose="020B0604020202020204" pitchFamily="34" charset="0"/>
              <a:buChar char="•"/>
            </a:pPr>
            <a:r>
              <a:rPr lang="en-US" dirty="0"/>
              <a:t>Interested in trying different regional products</a:t>
            </a:r>
          </a:p>
          <a:p>
            <a:pPr marL="285750" indent="-285750">
              <a:buFont typeface="Arial" panose="020B0604020202020204" pitchFamily="34" charset="0"/>
              <a:buChar char="•"/>
            </a:pPr>
            <a:r>
              <a:rPr lang="en-US" dirty="0"/>
              <a:t>Can buy across multiple product categories</a:t>
            </a:r>
          </a:p>
          <a:p>
            <a:endParaRPr lang="en-US" b="1" dirty="0"/>
          </a:p>
          <a:p>
            <a:r>
              <a:rPr lang="en-US" b="1" dirty="0"/>
              <a:t>Health &amp; Quality Conscious Customers</a:t>
            </a:r>
          </a:p>
          <a:p>
            <a:pPr marL="285750" indent="-285750">
              <a:buFont typeface="Arial" panose="020B0604020202020204" pitchFamily="34" charset="0"/>
              <a:buChar char="•"/>
            </a:pPr>
            <a:r>
              <a:rPr lang="en-US" dirty="0"/>
              <a:t>Care about ingredients and product quality</a:t>
            </a:r>
          </a:p>
          <a:p>
            <a:pPr marL="285750" indent="-285750">
              <a:buFont typeface="Arial" panose="020B0604020202020204" pitchFamily="34" charset="0"/>
              <a:buChar char="•"/>
            </a:pPr>
            <a:r>
              <a:rPr lang="en-US" dirty="0"/>
              <a:t>Prefer traditional, homemade-style products</a:t>
            </a:r>
          </a:p>
          <a:p>
            <a:pPr marL="285750" indent="-285750">
              <a:buFont typeface="Arial" panose="020B0604020202020204" pitchFamily="34" charset="0"/>
              <a:buChar char="•"/>
            </a:pPr>
            <a:r>
              <a:rPr lang="en-US" dirty="0"/>
              <a:t>Willing to pay for better-quality food</a:t>
            </a:r>
          </a:p>
          <a:p>
            <a:endParaRPr lang="en-US" dirty="0"/>
          </a:p>
          <a:p>
            <a:r>
              <a:rPr lang="en-US" b="1" dirty="0"/>
              <a:t>Corporate &amp; Bulk Buyers</a:t>
            </a:r>
          </a:p>
          <a:p>
            <a:pPr marL="285750" indent="-285750">
              <a:buFont typeface="Arial" panose="020B0604020202020204" pitchFamily="34" charset="0"/>
              <a:buChar char="•"/>
            </a:pPr>
            <a:r>
              <a:rPr lang="en-US" dirty="0"/>
              <a:t>Companies buying sweets, snacks and gift hampers</a:t>
            </a:r>
          </a:p>
          <a:p>
            <a:pPr marL="285750" indent="-285750">
              <a:buFont typeface="Arial" panose="020B0604020202020204" pitchFamily="34" charset="0"/>
              <a:buChar char="•"/>
            </a:pPr>
            <a:r>
              <a:rPr lang="en-US" dirty="0"/>
              <a:t> Mainly during festivals and special occasions</a:t>
            </a:r>
          </a:p>
          <a:p>
            <a:pPr marL="285750" indent="-285750">
              <a:buFont typeface="Arial" panose="020B0604020202020204" pitchFamily="34" charset="0"/>
              <a:buChar char="•"/>
            </a:pPr>
            <a:r>
              <a:rPr lang="en-US" dirty="0"/>
              <a:t> Opportunity for bulk and repeat orders</a:t>
            </a:r>
          </a:p>
          <a:p>
            <a:endParaRPr lang="en-IN" dirty="0"/>
          </a:p>
        </p:txBody>
      </p:sp>
    </p:spTree>
    <p:extLst>
      <p:ext uri="{BB962C8B-B14F-4D97-AF65-F5344CB8AC3E}">
        <p14:creationId xmlns:p14="http://schemas.microsoft.com/office/powerpoint/2010/main" val="230080810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49494CA-E586-4D9F-BF67-B76AC2403DE7}"/>
              </a:ext>
            </a:extLst>
          </p:cNvPr>
          <p:cNvSpPr/>
          <p:nvPr/>
        </p:nvSpPr>
        <p:spPr>
          <a:xfrm>
            <a:off x="5883" y="952110"/>
            <a:ext cx="625713" cy="5896465"/>
          </a:xfrm>
          <a:prstGeom prst="rect">
            <a:avLst/>
          </a:prstGeom>
          <a:solidFill>
            <a:schemeClr val="accent1">
              <a:lumMod val="50000"/>
            </a:schemeClr>
          </a:solidFill>
        </p:spPr>
        <p:style>
          <a:lnRef idx="0">
            <a:schemeClr val="accent1"/>
          </a:lnRef>
          <a:fillRef idx="3">
            <a:schemeClr val="accent1"/>
          </a:fillRef>
          <a:effectRef idx="3">
            <a:schemeClr val="accent1"/>
          </a:effectRef>
          <a:fontRef idx="minor">
            <a:schemeClr val="lt1"/>
          </a:fontRef>
        </p:style>
        <p:txBody>
          <a:bodyPr vert="vert270" rtlCol="0" anchor="ctr"/>
          <a:lstStyle/>
          <a:p>
            <a:pPr algn="ctr"/>
            <a:r>
              <a:rPr lang="en-US" sz="2800" b="1" dirty="0"/>
              <a:t>SWEET KARAM COFFEE</a:t>
            </a:r>
            <a:endParaRPr lang="en-IN" sz="2800" b="1" dirty="0"/>
          </a:p>
        </p:txBody>
      </p:sp>
      <p:sp>
        <p:nvSpPr>
          <p:cNvPr id="3" name="Rectangle 2">
            <a:extLst>
              <a:ext uri="{FF2B5EF4-FFF2-40B4-BE49-F238E27FC236}">
                <a16:creationId xmlns:a16="http://schemas.microsoft.com/office/drawing/2014/main" id="{872978AA-AC92-4175-8910-723E86AF1055}"/>
              </a:ext>
            </a:extLst>
          </p:cNvPr>
          <p:cNvSpPr/>
          <p:nvPr/>
        </p:nvSpPr>
        <p:spPr>
          <a:xfrm>
            <a:off x="3374795" y="160256"/>
            <a:ext cx="5656082" cy="461913"/>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TOTAL ADDRESSABLE MARKET FUNNEL</a:t>
            </a:r>
          </a:p>
        </p:txBody>
      </p:sp>
      <p:pic>
        <p:nvPicPr>
          <p:cNvPr id="4" name="Content Placeholder 5">
            <a:extLst>
              <a:ext uri="{FF2B5EF4-FFF2-40B4-BE49-F238E27FC236}">
                <a16:creationId xmlns:a16="http://schemas.microsoft.com/office/drawing/2014/main" id="{FA62B588-14CF-4116-B350-538DDB78665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429" y="0"/>
            <a:ext cx="1131216" cy="948153"/>
          </a:xfrm>
          <a:prstGeom prst="rect">
            <a:avLst/>
          </a:prstGeom>
        </p:spPr>
      </p:pic>
      <p:pic>
        <p:nvPicPr>
          <p:cNvPr id="5" name="Picture 4">
            <a:extLst>
              <a:ext uri="{FF2B5EF4-FFF2-40B4-BE49-F238E27FC236}">
                <a16:creationId xmlns:a16="http://schemas.microsoft.com/office/drawing/2014/main" id="{AD2C63D5-02DE-42ED-8A33-1BB34968459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854082" y="11733"/>
            <a:ext cx="1337918" cy="941168"/>
          </a:xfrm>
          <a:prstGeom prst="rect">
            <a:avLst/>
          </a:prstGeom>
        </p:spPr>
      </p:pic>
      <p:sp>
        <p:nvSpPr>
          <p:cNvPr id="6" name="TextBox 5">
            <a:extLst>
              <a:ext uri="{FF2B5EF4-FFF2-40B4-BE49-F238E27FC236}">
                <a16:creationId xmlns:a16="http://schemas.microsoft.com/office/drawing/2014/main" id="{D3ADF230-FCFD-4CC0-B92F-250CAC934036}"/>
              </a:ext>
            </a:extLst>
          </p:cNvPr>
          <p:cNvSpPr txBox="1"/>
          <p:nvPr/>
        </p:nvSpPr>
        <p:spPr>
          <a:xfrm>
            <a:off x="1583703" y="1253765"/>
            <a:ext cx="9964132" cy="4524315"/>
          </a:xfrm>
          <a:prstGeom prst="rect">
            <a:avLst/>
          </a:prstGeom>
          <a:noFill/>
        </p:spPr>
        <p:txBody>
          <a:bodyPr wrap="square" rtlCol="0">
            <a:spAutoFit/>
          </a:bodyPr>
          <a:lstStyle/>
          <a:p>
            <a:r>
              <a:rPr lang="en-US" b="1" dirty="0"/>
              <a:t>TAM (Total Addressable Market)</a:t>
            </a:r>
            <a:r>
              <a:rPr lang="en-US" dirty="0"/>
              <a:t> = The total potential market for packaged snacks and food products in India.</a:t>
            </a:r>
          </a:p>
          <a:p>
            <a:endParaRPr lang="en-US" b="1" dirty="0"/>
          </a:p>
          <a:p>
            <a:r>
              <a:rPr lang="en-US" b="1" dirty="0"/>
              <a:t>SAM (Serviceable Available Market)</a:t>
            </a:r>
            <a:r>
              <a:rPr lang="en-US" dirty="0"/>
              <a:t> = The portion of TAM focused on ethnic snacks, traditional sweets and premium packaged regional foods that Sweet Karam Coffee can realistically serve.</a:t>
            </a:r>
          </a:p>
          <a:p>
            <a:endParaRPr lang="en-US" b="1" dirty="0"/>
          </a:p>
          <a:p>
            <a:r>
              <a:rPr lang="en-US" b="1" dirty="0"/>
              <a:t>SOM (Serviceable Obtainable Market)</a:t>
            </a:r>
            <a:r>
              <a:rPr lang="en-US" dirty="0"/>
              <a:t> = The realistic share of SAM Sweet Karam Coffee can capture within 3–5 years through D2C, retail, digital marketing and geographic expansion.</a:t>
            </a:r>
          </a:p>
          <a:p>
            <a:endParaRPr lang="en-US" b="1" u="sng" dirty="0"/>
          </a:p>
          <a:p>
            <a:endParaRPr lang="en-US" b="1" u="sng" dirty="0"/>
          </a:p>
          <a:p>
            <a:r>
              <a:rPr lang="en-US" b="1" u="sng" dirty="0"/>
              <a:t>MARKET CONTEXT</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India has a large and growing market for packaged snacks and traditional foods.</a:t>
            </a:r>
            <a:br>
              <a:rPr lang="en-US" dirty="0"/>
            </a:br>
            <a:r>
              <a:rPr lang="en-US" dirty="0"/>
              <a:t>Consumers are increasingly buying traditional food products through e-commerce and modern retail.</a:t>
            </a:r>
            <a:br>
              <a:rPr lang="en-US" dirty="0"/>
            </a:br>
            <a:r>
              <a:rPr lang="en-US" dirty="0"/>
              <a:t> Sweet Karam Coffee already has 5 lakh+ customers, giving the brand a strong base to build on.</a:t>
            </a:r>
          </a:p>
          <a:p>
            <a:endParaRPr lang="en-IN" dirty="0"/>
          </a:p>
        </p:txBody>
      </p:sp>
    </p:spTree>
    <p:extLst>
      <p:ext uri="{BB962C8B-B14F-4D97-AF65-F5344CB8AC3E}">
        <p14:creationId xmlns:p14="http://schemas.microsoft.com/office/powerpoint/2010/main" val="181198383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Content Placeholder 5">
            <a:extLst>
              <a:ext uri="{FF2B5EF4-FFF2-40B4-BE49-F238E27FC236}">
                <a16:creationId xmlns:a16="http://schemas.microsoft.com/office/drawing/2014/main" id="{9507334F-4E4A-4E0F-937F-561A0F5A7A6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429" y="0"/>
            <a:ext cx="1131216" cy="948153"/>
          </a:xfrm>
          <a:prstGeom prst="rect">
            <a:avLst/>
          </a:prstGeom>
        </p:spPr>
      </p:pic>
      <p:pic>
        <p:nvPicPr>
          <p:cNvPr id="3" name="Picture 2">
            <a:extLst>
              <a:ext uri="{FF2B5EF4-FFF2-40B4-BE49-F238E27FC236}">
                <a16:creationId xmlns:a16="http://schemas.microsoft.com/office/drawing/2014/main" id="{9ED93013-934A-43C7-BFE4-E9DCFBD7E13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854082" y="11733"/>
            <a:ext cx="1337918" cy="941168"/>
          </a:xfrm>
          <a:prstGeom prst="rect">
            <a:avLst/>
          </a:prstGeom>
        </p:spPr>
      </p:pic>
      <p:sp>
        <p:nvSpPr>
          <p:cNvPr id="4" name="Rectangle 3">
            <a:extLst>
              <a:ext uri="{FF2B5EF4-FFF2-40B4-BE49-F238E27FC236}">
                <a16:creationId xmlns:a16="http://schemas.microsoft.com/office/drawing/2014/main" id="{231D2C79-ADF6-4696-80C3-C6B892861418}"/>
              </a:ext>
            </a:extLst>
          </p:cNvPr>
          <p:cNvSpPr/>
          <p:nvPr/>
        </p:nvSpPr>
        <p:spPr>
          <a:xfrm>
            <a:off x="3374795" y="160256"/>
            <a:ext cx="5656082" cy="461913"/>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TOTAL ADDRESSABLE MARKET FUNNEL</a:t>
            </a:r>
          </a:p>
        </p:txBody>
      </p:sp>
      <p:sp>
        <p:nvSpPr>
          <p:cNvPr id="5" name="TextBox 4">
            <a:extLst>
              <a:ext uri="{FF2B5EF4-FFF2-40B4-BE49-F238E27FC236}">
                <a16:creationId xmlns:a16="http://schemas.microsoft.com/office/drawing/2014/main" id="{E53F95E3-728A-46F0-95DF-2C48FFEBBA46}"/>
              </a:ext>
            </a:extLst>
          </p:cNvPr>
          <p:cNvSpPr txBox="1"/>
          <p:nvPr/>
        </p:nvSpPr>
        <p:spPr>
          <a:xfrm>
            <a:off x="1536569" y="1036948"/>
            <a:ext cx="10388338" cy="5355312"/>
          </a:xfrm>
          <a:prstGeom prst="rect">
            <a:avLst/>
          </a:prstGeom>
          <a:noFill/>
        </p:spPr>
        <p:txBody>
          <a:bodyPr wrap="square" rtlCol="0">
            <a:spAutoFit/>
          </a:bodyPr>
          <a:lstStyle/>
          <a:p>
            <a:r>
              <a:rPr lang="en-US" b="1" u="sng" dirty="0"/>
              <a:t>TOTAL ADDRESSABLE MARKET (TAM)</a:t>
            </a:r>
            <a:br>
              <a:rPr lang="en-US" b="1" u="sng" dirty="0"/>
            </a:br>
            <a:r>
              <a:rPr lang="en-US" dirty="0"/>
              <a:t>₹1,00,000+ crore per year</a:t>
            </a:r>
          </a:p>
          <a:p>
            <a:pPr marL="285750" indent="-285750">
              <a:buFont typeface="Arial" panose="020B0604020202020204" pitchFamily="34" charset="0"/>
              <a:buChar char="•"/>
            </a:pPr>
            <a:r>
              <a:rPr lang="en-US" dirty="0"/>
              <a:t>This is the larger Indian market for traditional sweets, snacks, coffee and other packaged South Indian food products.</a:t>
            </a:r>
          </a:p>
          <a:p>
            <a:pPr marL="285750" indent="-285750">
              <a:buFont typeface="Arial" panose="020B0604020202020204" pitchFamily="34" charset="0"/>
              <a:buChar char="•"/>
            </a:pPr>
            <a:r>
              <a:rPr lang="en-US" dirty="0"/>
              <a:t>It includes customers buying these products for everyday consumption, festivals, gifting and special occasions.</a:t>
            </a:r>
          </a:p>
          <a:p>
            <a:endParaRPr lang="en-US" b="1" u="sng" dirty="0"/>
          </a:p>
          <a:p>
            <a:r>
              <a:rPr lang="en-US" b="1" u="sng" dirty="0"/>
              <a:t>SERVICEABLE AVAILABLE MARKET (SAM)</a:t>
            </a:r>
            <a:br>
              <a:rPr lang="en-US" b="1" u="sng" dirty="0"/>
            </a:br>
            <a:r>
              <a:rPr lang="en-US" dirty="0"/>
              <a:t>₹15,000–25,000 crore per year</a:t>
            </a:r>
          </a:p>
          <a:p>
            <a:pPr marL="285750" indent="-285750">
              <a:buFont typeface="Arial" panose="020B0604020202020204" pitchFamily="34" charset="0"/>
              <a:buChar char="•"/>
            </a:pPr>
            <a:r>
              <a:rPr lang="en-US" dirty="0"/>
              <a:t>This is the part of the market that Sweet Karam Coffee can realistically target with its current range of coffee, sweets, snacks, pickles, masalas and other traditional products.</a:t>
            </a:r>
          </a:p>
          <a:p>
            <a:pPr marL="285750" indent="-285750">
              <a:buFont typeface="Arial" panose="020B0604020202020204" pitchFamily="34" charset="0"/>
              <a:buChar char="•"/>
            </a:pPr>
            <a:r>
              <a:rPr lang="en-US" dirty="0"/>
              <a:t>The opportunity is across India through online sales, retail stores, marketplaces and gifting.</a:t>
            </a:r>
          </a:p>
          <a:p>
            <a:endParaRPr lang="en-US" b="1" u="sng" dirty="0"/>
          </a:p>
          <a:p>
            <a:r>
              <a:rPr lang="en-US" b="1" u="sng" dirty="0"/>
              <a:t>SERVICEABLE OBTAINABLE MARKET (SOM)</a:t>
            </a:r>
            <a:br>
              <a:rPr lang="en-US" b="1" u="sng" dirty="0"/>
            </a:br>
            <a:r>
              <a:rPr lang="en-US" dirty="0"/>
              <a:t>₹150–300 crore in 3–5 years</a:t>
            </a:r>
          </a:p>
          <a:p>
            <a:pPr marL="285750" indent="-285750">
              <a:buFont typeface="Arial" panose="020B0604020202020204" pitchFamily="34" charset="0"/>
              <a:buChar char="•"/>
            </a:pPr>
            <a:r>
              <a:rPr lang="en-US" dirty="0"/>
              <a:t>With stronger marketing, more customers, wider distribution and repeat purchases, Sweet Karam Coffee can aim to capture a small but meaningful share of its target market.</a:t>
            </a:r>
          </a:p>
          <a:p>
            <a:pPr marL="285750" indent="-285750">
              <a:buFont typeface="Arial" panose="020B0604020202020204" pitchFamily="34" charset="0"/>
              <a:buChar char="•"/>
            </a:pPr>
            <a:r>
              <a:rPr lang="en-US" dirty="0"/>
              <a:t>Growth can come from new customers, repeat orders, product expansion and festive/corporate gifting.</a:t>
            </a:r>
          </a:p>
          <a:p>
            <a:endParaRPr lang="en-IN" dirty="0"/>
          </a:p>
        </p:txBody>
      </p:sp>
      <p:sp>
        <p:nvSpPr>
          <p:cNvPr id="6" name="Rectangle 5">
            <a:extLst>
              <a:ext uri="{FF2B5EF4-FFF2-40B4-BE49-F238E27FC236}">
                <a16:creationId xmlns:a16="http://schemas.microsoft.com/office/drawing/2014/main" id="{C30A0678-A293-4742-9A4B-C45059AEA3FE}"/>
              </a:ext>
            </a:extLst>
          </p:cNvPr>
          <p:cNvSpPr/>
          <p:nvPr/>
        </p:nvSpPr>
        <p:spPr>
          <a:xfrm>
            <a:off x="5883" y="952110"/>
            <a:ext cx="625713" cy="5896465"/>
          </a:xfrm>
          <a:prstGeom prst="rect">
            <a:avLst/>
          </a:prstGeom>
          <a:solidFill>
            <a:schemeClr val="accent1">
              <a:lumMod val="50000"/>
            </a:schemeClr>
          </a:solidFill>
        </p:spPr>
        <p:style>
          <a:lnRef idx="0">
            <a:schemeClr val="accent1"/>
          </a:lnRef>
          <a:fillRef idx="3">
            <a:schemeClr val="accent1"/>
          </a:fillRef>
          <a:effectRef idx="3">
            <a:schemeClr val="accent1"/>
          </a:effectRef>
          <a:fontRef idx="minor">
            <a:schemeClr val="lt1"/>
          </a:fontRef>
        </p:style>
        <p:txBody>
          <a:bodyPr vert="vert270" rtlCol="0" anchor="ctr"/>
          <a:lstStyle/>
          <a:p>
            <a:pPr algn="ctr"/>
            <a:r>
              <a:rPr lang="en-US" sz="2800" b="1" dirty="0"/>
              <a:t>SWEET KARAM COFFEE</a:t>
            </a:r>
            <a:endParaRPr lang="en-IN" sz="2800" b="1" dirty="0"/>
          </a:p>
        </p:txBody>
      </p:sp>
    </p:spTree>
    <p:extLst>
      <p:ext uri="{BB962C8B-B14F-4D97-AF65-F5344CB8AC3E}">
        <p14:creationId xmlns:p14="http://schemas.microsoft.com/office/powerpoint/2010/main" val="290190940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1">
            <a:extLst>
              <a:ext uri="{FF2B5EF4-FFF2-40B4-BE49-F238E27FC236}">
                <a16:creationId xmlns:a16="http://schemas.microsoft.com/office/drawing/2014/main" id="{D42D4700-7921-4802-9283-81B31B45DF34}"/>
              </a:ext>
            </a:extLst>
          </p:cNvPr>
          <p:cNvSpPr txBox="1"/>
          <p:nvPr/>
        </p:nvSpPr>
        <p:spPr>
          <a:xfrm>
            <a:off x="1027521" y="5448693"/>
            <a:ext cx="2771481" cy="471340"/>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wrap="square" rtlCol="0">
            <a:spAutoFit/>
          </a:bodyPr>
          <a:lstStyle/>
          <a:p>
            <a:endParaRPr lang="en-IN" dirty="0"/>
          </a:p>
        </p:txBody>
      </p:sp>
      <p:sp>
        <p:nvSpPr>
          <p:cNvPr id="11" name="TextBox 10">
            <a:extLst>
              <a:ext uri="{FF2B5EF4-FFF2-40B4-BE49-F238E27FC236}">
                <a16:creationId xmlns:a16="http://schemas.microsoft.com/office/drawing/2014/main" id="{3C269778-17DD-44FD-94E1-E92CDDCFB909}"/>
              </a:ext>
            </a:extLst>
          </p:cNvPr>
          <p:cNvSpPr txBox="1"/>
          <p:nvPr/>
        </p:nvSpPr>
        <p:spPr>
          <a:xfrm>
            <a:off x="1121791" y="4421173"/>
            <a:ext cx="3280531" cy="509047"/>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wrap="square" rtlCol="0">
            <a:spAutoFit/>
          </a:bodyPr>
          <a:lstStyle/>
          <a:p>
            <a:endParaRPr lang="en-IN" dirty="0"/>
          </a:p>
        </p:txBody>
      </p:sp>
      <p:sp>
        <p:nvSpPr>
          <p:cNvPr id="10" name="TextBox 9">
            <a:extLst>
              <a:ext uri="{FF2B5EF4-FFF2-40B4-BE49-F238E27FC236}">
                <a16:creationId xmlns:a16="http://schemas.microsoft.com/office/drawing/2014/main" id="{F2507AB6-EA20-4C6D-B500-0D4709E5BDE1}"/>
              </a:ext>
            </a:extLst>
          </p:cNvPr>
          <p:cNvSpPr txBox="1"/>
          <p:nvPr/>
        </p:nvSpPr>
        <p:spPr>
          <a:xfrm>
            <a:off x="1084083" y="2139885"/>
            <a:ext cx="2516953" cy="537328"/>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wrap="square" rtlCol="0">
            <a:spAutoFit/>
          </a:bodyPr>
          <a:lstStyle/>
          <a:p>
            <a:endParaRPr lang="en-IN" dirty="0"/>
          </a:p>
        </p:txBody>
      </p:sp>
      <p:sp>
        <p:nvSpPr>
          <p:cNvPr id="9" name="TextBox 8">
            <a:extLst>
              <a:ext uri="{FF2B5EF4-FFF2-40B4-BE49-F238E27FC236}">
                <a16:creationId xmlns:a16="http://schemas.microsoft.com/office/drawing/2014/main" id="{EA326AF9-2BDD-4D2C-90C2-1B0B6E30A39D}"/>
              </a:ext>
            </a:extLst>
          </p:cNvPr>
          <p:cNvSpPr txBox="1"/>
          <p:nvPr/>
        </p:nvSpPr>
        <p:spPr>
          <a:xfrm>
            <a:off x="1046375" y="3376368"/>
            <a:ext cx="3129699" cy="471340"/>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wrap="square" rtlCol="0">
            <a:spAutoFit/>
          </a:bodyPr>
          <a:lstStyle/>
          <a:p>
            <a:endParaRPr lang="en-IN" dirty="0"/>
          </a:p>
        </p:txBody>
      </p:sp>
      <p:sp>
        <p:nvSpPr>
          <p:cNvPr id="2" name="Rectangle 1">
            <a:extLst>
              <a:ext uri="{FF2B5EF4-FFF2-40B4-BE49-F238E27FC236}">
                <a16:creationId xmlns:a16="http://schemas.microsoft.com/office/drawing/2014/main" id="{72CEFA78-BF85-45BD-B8F4-F83DAF4ED5D6}"/>
              </a:ext>
            </a:extLst>
          </p:cNvPr>
          <p:cNvSpPr/>
          <p:nvPr/>
        </p:nvSpPr>
        <p:spPr>
          <a:xfrm>
            <a:off x="3968684" y="386499"/>
            <a:ext cx="4779390" cy="509047"/>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MICRO FUNNEL BREAKDOWN</a:t>
            </a:r>
          </a:p>
        </p:txBody>
      </p:sp>
      <p:pic>
        <p:nvPicPr>
          <p:cNvPr id="3" name="Content Placeholder 5">
            <a:extLst>
              <a:ext uri="{FF2B5EF4-FFF2-40B4-BE49-F238E27FC236}">
                <a16:creationId xmlns:a16="http://schemas.microsoft.com/office/drawing/2014/main" id="{204FDF71-53D2-4577-AE6A-8692D949EFC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429" y="0"/>
            <a:ext cx="1131216" cy="948153"/>
          </a:xfrm>
          <a:prstGeom prst="rect">
            <a:avLst/>
          </a:prstGeom>
        </p:spPr>
      </p:pic>
      <p:pic>
        <p:nvPicPr>
          <p:cNvPr id="4" name="Picture 3">
            <a:extLst>
              <a:ext uri="{FF2B5EF4-FFF2-40B4-BE49-F238E27FC236}">
                <a16:creationId xmlns:a16="http://schemas.microsoft.com/office/drawing/2014/main" id="{84BCD575-3E75-4013-A15A-FA87E64ACF5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854082" y="11733"/>
            <a:ext cx="1337918" cy="941168"/>
          </a:xfrm>
          <a:prstGeom prst="rect">
            <a:avLst/>
          </a:prstGeom>
        </p:spPr>
      </p:pic>
      <p:sp>
        <p:nvSpPr>
          <p:cNvPr id="5" name="Rectangle 4">
            <a:extLst>
              <a:ext uri="{FF2B5EF4-FFF2-40B4-BE49-F238E27FC236}">
                <a16:creationId xmlns:a16="http://schemas.microsoft.com/office/drawing/2014/main" id="{A43E6DA6-13E6-46FA-BD2B-0F6245C7CDFE}"/>
              </a:ext>
            </a:extLst>
          </p:cNvPr>
          <p:cNvSpPr/>
          <p:nvPr/>
        </p:nvSpPr>
        <p:spPr>
          <a:xfrm>
            <a:off x="5883" y="952110"/>
            <a:ext cx="625713" cy="5896465"/>
          </a:xfrm>
          <a:prstGeom prst="rect">
            <a:avLst/>
          </a:prstGeom>
          <a:solidFill>
            <a:schemeClr val="accent1">
              <a:lumMod val="50000"/>
            </a:schemeClr>
          </a:solidFill>
        </p:spPr>
        <p:style>
          <a:lnRef idx="0">
            <a:schemeClr val="accent1"/>
          </a:lnRef>
          <a:fillRef idx="3">
            <a:schemeClr val="accent1"/>
          </a:fillRef>
          <a:effectRef idx="3">
            <a:schemeClr val="accent1"/>
          </a:effectRef>
          <a:fontRef idx="minor">
            <a:schemeClr val="lt1"/>
          </a:fontRef>
        </p:style>
        <p:txBody>
          <a:bodyPr vert="vert270" rtlCol="0" anchor="ctr"/>
          <a:lstStyle/>
          <a:p>
            <a:pPr algn="ctr"/>
            <a:r>
              <a:rPr lang="en-US" sz="2800" b="1" dirty="0"/>
              <a:t>SWEET KARAM COFFEE</a:t>
            </a:r>
            <a:endParaRPr lang="en-IN" sz="2800" b="1" dirty="0"/>
          </a:p>
        </p:txBody>
      </p:sp>
      <p:graphicFrame>
        <p:nvGraphicFramePr>
          <p:cNvPr id="7" name="Table 6">
            <a:extLst>
              <a:ext uri="{FF2B5EF4-FFF2-40B4-BE49-F238E27FC236}">
                <a16:creationId xmlns:a16="http://schemas.microsoft.com/office/drawing/2014/main" id="{9387389F-248F-4E8B-8A97-30596E38D19A}"/>
              </a:ext>
            </a:extLst>
          </p:cNvPr>
          <p:cNvGraphicFramePr>
            <a:graphicFrameLocks noGrp="1"/>
          </p:cNvGraphicFramePr>
          <p:nvPr>
            <p:extLst>
              <p:ext uri="{D42A27DB-BD31-4B8C-83A1-F6EECF244321}">
                <p14:modId xmlns:p14="http://schemas.microsoft.com/office/powerpoint/2010/main" val="1065426636"/>
              </p:ext>
            </p:extLst>
          </p:nvPr>
        </p:nvGraphicFramePr>
        <p:xfrm>
          <a:off x="1140646" y="926757"/>
          <a:ext cx="10793688" cy="5728916"/>
        </p:xfrm>
        <a:graphic>
          <a:graphicData uri="http://schemas.openxmlformats.org/drawingml/2006/table">
            <a:tbl>
              <a:tblPr/>
              <a:tblGrid>
                <a:gridCol w="3421927">
                  <a:extLst>
                    <a:ext uri="{9D8B030D-6E8A-4147-A177-3AD203B41FA5}">
                      <a16:colId xmlns:a16="http://schemas.microsoft.com/office/drawing/2014/main" val="1995206793"/>
                    </a:ext>
                  </a:extLst>
                </a:gridCol>
                <a:gridCol w="3978112">
                  <a:extLst>
                    <a:ext uri="{9D8B030D-6E8A-4147-A177-3AD203B41FA5}">
                      <a16:colId xmlns:a16="http://schemas.microsoft.com/office/drawing/2014/main" val="4142740189"/>
                    </a:ext>
                  </a:extLst>
                </a:gridCol>
                <a:gridCol w="3393649">
                  <a:extLst>
                    <a:ext uri="{9D8B030D-6E8A-4147-A177-3AD203B41FA5}">
                      <a16:colId xmlns:a16="http://schemas.microsoft.com/office/drawing/2014/main" val="2881358085"/>
                    </a:ext>
                  </a:extLst>
                </a:gridCol>
              </a:tblGrid>
              <a:tr h="263717">
                <a:tc>
                  <a:txBody>
                    <a:bodyPr/>
                    <a:lstStyle/>
                    <a:p>
                      <a:endParaRPr lang="en-IN" sz="1800" b="1" dirty="0"/>
                    </a:p>
                    <a:p>
                      <a:endParaRPr lang="en-IN" sz="1800" b="1" dirty="0"/>
                    </a:p>
                    <a:p>
                      <a:pPr algn="ctr"/>
                      <a:r>
                        <a:rPr lang="en-IN" sz="1800" b="1" dirty="0"/>
                        <a:t>Metric</a:t>
                      </a:r>
                      <a:endParaRPr lang="en-IN" sz="1800" dirty="0"/>
                    </a:p>
                  </a:txBody>
                  <a:tcPr marL="65929" marR="65929" marT="32965" marB="32965" anchor="ctr">
                    <a:lnL>
                      <a:noFill/>
                    </a:lnL>
                    <a:lnR>
                      <a:noFill/>
                    </a:lnR>
                    <a:lnT>
                      <a:noFill/>
                    </a:lnT>
                    <a:lnB>
                      <a:noFill/>
                    </a:lnB>
                  </a:tcPr>
                </a:tc>
                <a:tc>
                  <a:txBody>
                    <a:bodyPr/>
                    <a:lstStyle/>
                    <a:p>
                      <a:pPr algn="ctr"/>
                      <a:r>
                        <a:rPr lang="en-IN" sz="1800" b="1" dirty="0"/>
                        <a:t>Example Scenario</a:t>
                      </a:r>
                      <a:endParaRPr lang="en-IN" sz="1800" dirty="0"/>
                    </a:p>
                  </a:txBody>
                  <a:tcPr marL="65929" marR="65929" marT="32965" marB="32965" anchor="ctr">
                    <a:lnL>
                      <a:noFill/>
                    </a:lnL>
                    <a:lnR>
                      <a:noFill/>
                    </a:lnR>
                    <a:lnT>
                      <a:noFill/>
                    </a:lnT>
                    <a:lnB>
                      <a:noFill/>
                    </a:lnB>
                  </a:tcPr>
                </a:tc>
                <a:tc>
                  <a:txBody>
                    <a:bodyPr/>
                    <a:lstStyle/>
                    <a:p>
                      <a:pPr algn="ctr"/>
                      <a:r>
                        <a:rPr lang="en-IN" sz="1800" b="1" dirty="0"/>
                        <a:t>Numbers / Assumptions</a:t>
                      </a:r>
                      <a:endParaRPr lang="en-IN" sz="1800" dirty="0"/>
                    </a:p>
                  </a:txBody>
                  <a:tcPr marL="65929" marR="65929" marT="32965" marB="32965" anchor="ctr">
                    <a:lnL>
                      <a:noFill/>
                    </a:lnL>
                    <a:lnR>
                      <a:noFill/>
                    </a:lnR>
                    <a:lnT>
                      <a:noFill/>
                    </a:lnT>
                    <a:lnB>
                      <a:noFill/>
                    </a:lnB>
                  </a:tcPr>
                </a:tc>
                <a:extLst>
                  <a:ext uri="{0D108BD9-81ED-4DB2-BD59-A6C34878D82A}">
                    <a16:rowId xmlns:a16="http://schemas.microsoft.com/office/drawing/2014/main" val="769861157"/>
                  </a:ext>
                </a:extLst>
              </a:tr>
              <a:tr h="857082">
                <a:tc>
                  <a:txBody>
                    <a:bodyPr/>
                    <a:lstStyle/>
                    <a:p>
                      <a:r>
                        <a:rPr lang="en-IN" sz="1800" b="1" dirty="0"/>
                        <a:t>Existing customer base</a:t>
                      </a:r>
                      <a:endParaRPr lang="en-IN" sz="1800" dirty="0"/>
                    </a:p>
                  </a:txBody>
                  <a:tcPr marL="65929" marR="65929" marT="32965" marB="32965" anchor="ctr">
                    <a:lnL>
                      <a:noFill/>
                    </a:lnL>
                    <a:lnR>
                      <a:noFill/>
                    </a:lnR>
                    <a:lnT>
                      <a:noFill/>
                    </a:lnT>
                    <a:lnB>
                      <a:noFill/>
                    </a:lnB>
                  </a:tcPr>
                </a:tc>
                <a:tc>
                  <a:txBody>
                    <a:bodyPr/>
                    <a:lstStyle/>
                    <a:p>
                      <a:r>
                        <a:rPr lang="en-US" sz="1800" b="0" dirty="0"/>
                        <a:t>Sweet Karam Coffee has already served 5 lakh+ customers across India, giving the brand a strong base to build repeat purchases.</a:t>
                      </a:r>
                    </a:p>
                  </a:txBody>
                  <a:tcPr marL="65929" marR="65929" marT="32965" marB="32965" anchor="ctr">
                    <a:lnL>
                      <a:noFill/>
                    </a:lnL>
                    <a:lnR>
                      <a:noFill/>
                    </a:lnR>
                    <a:lnT>
                      <a:noFill/>
                    </a:lnT>
                    <a:lnB>
                      <a:noFill/>
                    </a:lnB>
                  </a:tcPr>
                </a:tc>
                <a:tc>
                  <a:txBody>
                    <a:bodyPr/>
                    <a:lstStyle/>
                    <a:p>
                      <a:pPr algn="ctr"/>
                      <a:r>
                        <a:rPr lang="en-IN" sz="1800" b="0" dirty="0"/>
                        <a:t>    5 lakh+ customers</a:t>
                      </a:r>
                    </a:p>
                  </a:txBody>
                  <a:tcPr marL="65929" marR="65929" marT="32965" marB="32965" anchor="ctr">
                    <a:lnL>
                      <a:noFill/>
                    </a:lnL>
                    <a:lnR>
                      <a:noFill/>
                    </a:lnR>
                    <a:lnT>
                      <a:noFill/>
                    </a:lnT>
                    <a:lnB>
                      <a:noFill/>
                    </a:lnB>
                  </a:tcPr>
                </a:tc>
                <a:extLst>
                  <a:ext uri="{0D108BD9-81ED-4DB2-BD59-A6C34878D82A}">
                    <a16:rowId xmlns:a16="http://schemas.microsoft.com/office/drawing/2014/main" val="1378704308"/>
                  </a:ext>
                </a:extLst>
              </a:tr>
              <a:tr h="1054870">
                <a:tc>
                  <a:txBody>
                    <a:bodyPr/>
                    <a:lstStyle/>
                    <a:p>
                      <a:r>
                        <a:rPr lang="en-IN" sz="1800" b="1" dirty="0"/>
                        <a:t>Reachable audience via digital</a:t>
                      </a:r>
                      <a:endParaRPr lang="en-IN" sz="1800" dirty="0"/>
                    </a:p>
                  </a:txBody>
                  <a:tcPr marL="65929" marR="65929" marT="32965" marB="32965" anchor="ctr">
                    <a:lnL>
                      <a:noFill/>
                    </a:lnL>
                    <a:lnR>
                      <a:noFill/>
                    </a:lnR>
                    <a:lnT>
                      <a:noFill/>
                    </a:lnT>
                    <a:lnB>
                      <a:noFill/>
                    </a:lnB>
                  </a:tcPr>
                </a:tc>
                <a:tc>
                  <a:txBody>
                    <a:bodyPr/>
                    <a:lstStyle/>
                    <a:p>
                      <a:r>
                        <a:rPr lang="en-US" sz="1800" b="0" dirty="0"/>
                        <a:t>Assume the brand can actively reach around 30% of its existing customers through WhatsApp, email, social media and remarketing.</a:t>
                      </a:r>
                    </a:p>
                  </a:txBody>
                  <a:tcPr marL="65929" marR="65929" marT="32965" marB="32965" anchor="ctr">
                    <a:lnL>
                      <a:noFill/>
                    </a:lnL>
                    <a:lnR>
                      <a:noFill/>
                    </a:lnR>
                    <a:lnT>
                      <a:noFill/>
                    </a:lnT>
                    <a:lnB>
                      <a:noFill/>
                    </a:lnB>
                  </a:tcPr>
                </a:tc>
                <a:tc>
                  <a:txBody>
                    <a:bodyPr/>
                    <a:lstStyle/>
                    <a:p>
                      <a:pPr algn="ctr"/>
                      <a:r>
                        <a:rPr lang="en-IN" sz="1800" b="0" dirty="0"/>
                        <a:t>~1.5 lakh customers</a:t>
                      </a:r>
                    </a:p>
                  </a:txBody>
                  <a:tcPr marL="65929" marR="65929" marT="32965" marB="32965" anchor="ctr">
                    <a:lnL>
                      <a:noFill/>
                    </a:lnL>
                    <a:lnR>
                      <a:noFill/>
                    </a:lnR>
                    <a:lnT>
                      <a:noFill/>
                    </a:lnT>
                    <a:lnB>
                      <a:noFill/>
                    </a:lnB>
                  </a:tcPr>
                </a:tc>
                <a:extLst>
                  <a:ext uri="{0D108BD9-81ED-4DB2-BD59-A6C34878D82A}">
                    <a16:rowId xmlns:a16="http://schemas.microsoft.com/office/drawing/2014/main" val="1084389513"/>
                  </a:ext>
                </a:extLst>
              </a:tr>
              <a:tr h="659294">
                <a:tc>
                  <a:txBody>
                    <a:bodyPr/>
                    <a:lstStyle/>
                    <a:p>
                      <a:r>
                        <a:rPr lang="en-IN" sz="1800" b="1" dirty="0"/>
                        <a:t>Conversion/repeat purchase rate</a:t>
                      </a:r>
                      <a:endParaRPr lang="en-IN" sz="1800" dirty="0"/>
                    </a:p>
                  </a:txBody>
                  <a:tcPr marL="65929" marR="65929" marT="32965" marB="32965" anchor="ctr">
                    <a:lnL>
                      <a:noFill/>
                    </a:lnL>
                    <a:lnR>
                      <a:noFill/>
                    </a:lnR>
                    <a:lnT>
                      <a:noFill/>
                    </a:lnT>
                    <a:lnB>
                      <a:noFill/>
                    </a:lnB>
                  </a:tcPr>
                </a:tc>
                <a:tc>
                  <a:txBody>
                    <a:bodyPr/>
                    <a:lstStyle/>
                    <a:p>
                      <a:r>
                        <a:rPr lang="en-US" sz="1800" b="0"/>
                        <a:t>Suppose 20% of the reachable customers place at least one repeat order during the year.</a:t>
                      </a:r>
                    </a:p>
                  </a:txBody>
                  <a:tcPr marL="65929" marR="65929" marT="32965" marB="32965" anchor="ctr">
                    <a:lnL>
                      <a:noFill/>
                    </a:lnL>
                    <a:lnR>
                      <a:noFill/>
                    </a:lnR>
                    <a:lnT>
                      <a:noFill/>
                    </a:lnT>
                    <a:lnB>
                      <a:noFill/>
                    </a:lnB>
                  </a:tcPr>
                </a:tc>
                <a:tc>
                  <a:txBody>
                    <a:bodyPr/>
                    <a:lstStyle/>
                    <a:p>
                      <a:pPr algn="ctr"/>
                      <a:r>
                        <a:rPr lang="en-IN" sz="1800" b="0" dirty="0"/>
                        <a:t>~30,000 orders</a:t>
                      </a:r>
                    </a:p>
                  </a:txBody>
                  <a:tcPr marL="65929" marR="65929" marT="32965" marB="32965" anchor="ctr">
                    <a:lnL>
                      <a:noFill/>
                    </a:lnL>
                    <a:lnR>
                      <a:noFill/>
                    </a:lnR>
                    <a:lnT>
                      <a:noFill/>
                    </a:lnT>
                    <a:lnB>
                      <a:noFill/>
                    </a:lnB>
                  </a:tcPr>
                </a:tc>
                <a:extLst>
                  <a:ext uri="{0D108BD9-81ED-4DB2-BD59-A6C34878D82A}">
                    <a16:rowId xmlns:a16="http://schemas.microsoft.com/office/drawing/2014/main" val="3353198181"/>
                  </a:ext>
                </a:extLst>
              </a:tr>
              <a:tr h="1054870">
                <a:tc>
                  <a:txBody>
                    <a:bodyPr/>
                    <a:lstStyle/>
                    <a:p>
                      <a:r>
                        <a:rPr lang="en-IN" sz="1800" b="1" dirty="0" err="1"/>
                        <a:t>Avg</a:t>
                      </a:r>
                      <a:r>
                        <a:rPr lang="en-IN" sz="1800" b="1" dirty="0"/>
                        <a:t> order value (AOV)</a:t>
                      </a:r>
                      <a:endParaRPr lang="en-IN" sz="1800" dirty="0"/>
                    </a:p>
                  </a:txBody>
                  <a:tcPr marL="65929" marR="65929" marT="32965" marB="32965" anchor="ctr">
                    <a:lnL>
                      <a:noFill/>
                    </a:lnL>
                    <a:lnR>
                      <a:noFill/>
                    </a:lnR>
                    <a:lnT>
                      <a:noFill/>
                    </a:lnT>
                    <a:lnB>
                      <a:noFill/>
                    </a:lnB>
                  </a:tcPr>
                </a:tc>
                <a:tc>
                  <a:txBody>
                    <a:bodyPr/>
                    <a:lstStyle/>
                    <a:p>
                      <a:r>
                        <a:rPr lang="en-US" sz="1800" b="0"/>
                        <a:t>Assume an average order value of around ₹600–800, based on the current mix of snacks, sweets, coffee and combo products on the website.</a:t>
                      </a:r>
                    </a:p>
                  </a:txBody>
                  <a:tcPr marL="65929" marR="65929" marT="32965" marB="32965" anchor="ctr">
                    <a:lnL>
                      <a:noFill/>
                    </a:lnL>
                    <a:lnR>
                      <a:noFill/>
                    </a:lnR>
                    <a:lnT>
                      <a:noFill/>
                    </a:lnT>
                    <a:lnB>
                      <a:noFill/>
                    </a:lnB>
                  </a:tcPr>
                </a:tc>
                <a:tc>
                  <a:txBody>
                    <a:bodyPr/>
                    <a:lstStyle/>
                    <a:p>
                      <a:pPr algn="ctr"/>
                      <a:r>
                        <a:rPr lang="en-IN" sz="1800" b="0" dirty="0"/>
                        <a:t>₹700 average</a:t>
                      </a:r>
                    </a:p>
                  </a:txBody>
                  <a:tcPr marL="65929" marR="65929" marT="32965" marB="32965" anchor="ctr">
                    <a:lnL>
                      <a:noFill/>
                    </a:lnL>
                    <a:lnR>
                      <a:noFill/>
                    </a:lnR>
                    <a:lnT>
                      <a:noFill/>
                    </a:lnT>
                    <a:lnB>
                      <a:noFill/>
                    </a:lnB>
                  </a:tcPr>
                </a:tc>
                <a:extLst>
                  <a:ext uri="{0D108BD9-81ED-4DB2-BD59-A6C34878D82A}">
                    <a16:rowId xmlns:a16="http://schemas.microsoft.com/office/drawing/2014/main" val="1272911047"/>
                  </a:ext>
                </a:extLst>
              </a:tr>
              <a:tr h="461506">
                <a:tc>
                  <a:txBody>
                    <a:bodyPr/>
                    <a:lstStyle/>
                    <a:p>
                      <a:endParaRPr lang="en-IN" sz="1800" dirty="0"/>
                    </a:p>
                  </a:txBody>
                  <a:tcPr marL="65929" marR="65929" marT="32965" marB="32965" anchor="ctr">
                    <a:lnL>
                      <a:noFill/>
                    </a:lnL>
                    <a:lnR>
                      <a:noFill/>
                    </a:lnR>
                    <a:lnT>
                      <a:noFill/>
                    </a:lnT>
                    <a:lnB>
                      <a:noFill/>
                    </a:lnB>
                  </a:tcPr>
                </a:tc>
                <a:tc>
                  <a:txBody>
                    <a:bodyPr/>
                    <a:lstStyle/>
                    <a:p>
                      <a:endParaRPr lang="en-US" sz="1800" b="0" dirty="0"/>
                    </a:p>
                  </a:txBody>
                  <a:tcPr marL="65929" marR="65929" marT="32965" marB="32965" anchor="ctr">
                    <a:lnL>
                      <a:noFill/>
                    </a:lnL>
                    <a:lnR>
                      <a:noFill/>
                    </a:lnR>
                    <a:lnT>
                      <a:noFill/>
                    </a:lnT>
                    <a:lnB>
                      <a:noFill/>
                    </a:lnB>
                  </a:tcPr>
                </a:tc>
                <a:tc>
                  <a:txBody>
                    <a:bodyPr/>
                    <a:lstStyle/>
                    <a:p>
                      <a:endParaRPr lang="en-IN" sz="1800" b="0" dirty="0"/>
                    </a:p>
                  </a:txBody>
                  <a:tcPr marL="65929" marR="65929" marT="32965" marB="32965" anchor="ctr">
                    <a:lnL>
                      <a:noFill/>
                    </a:lnL>
                    <a:lnR>
                      <a:noFill/>
                    </a:lnR>
                    <a:lnT>
                      <a:noFill/>
                    </a:lnT>
                    <a:lnB>
                      <a:noFill/>
                    </a:lnB>
                  </a:tcPr>
                </a:tc>
                <a:extLst>
                  <a:ext uri="{0D108BD9-81ED-4DB2-BD59-A6C34878D82A}">
                    <a16:rowId xmlns:a16="http://schemas.microsoft.com/office/drawing/2014/main" val="95009734"/>
                  </a:ext>
                </a:extLst>
              </a:tr>
            </a:tbl>
          </a:graphicData>
        </a:graphic>
      </p:graphicFrame>
    </p:spTree>
    <p:extLst>
      <p:ext uri="{BB962C8B-B14F-4D97-AF65-F5344CB8AC3E}">
        <p14:creationId xmlns:p14="http://schemas.microsoft.com/office/powerpoint/2010/main" val="405012938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B34779D-7B24-4E05-A2D4-2F0619024B5E}"/>
              </a:ext>
            </a:extLst>
          </p:cNvPr>
          <p:cNvSpPr/>
          <p:nvPr/>
        </p:nvSpPr>
        <p:spPr>
          <a:xfrm>
            <a:off x="4044097" y="245097"/>
            <a:ext cx="4496586" cy="603315"/>
          </a:xfrm>
          <a:prstGeom prst="rect">
            <a:avLst/>
          </a:prstGeom>
          <a:solidFill>
            <a:schemeClr val="accent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800" b="1" dirty="0"/>
              <a:t>COMPETITOR ANALYSIS</a:t>
            </a:r>
          </a:p>
        </p:txBody>
      </p:sp>
      <p:pic>
        <p:nvPicPr>
          <p:cNvPr id="3" name="Content Placeholder 5">
            <a:extLst>
              <a:ext uri="{FF2B5EF4-FFF2-40B4-BE49-F238E27FC236}">
                <a16:creationId xmlns:a16="http://schemas.microsoft.com/office/drawing/2014/main" id="{865607A9-302E-4162-A3B2-33284AE9A8E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429" y="-28281"/>
            <a:ext cx="1131216" cy="948153"/>
          </a:xfrm>
          <a:prstGeom prst="rect">
            <a:avLst/>
          </a:prstGeom>
        </p:spPr>
      </p:pic>
      <p:pic>
        <p:nvPicPr>
          <p:cNvPr id="4" name="Picture 3">
            <a:extLst>
              <a:ext uri="{FF2B5EF4-FFF2-40B4-BE49-F238E27FC236}">
                <a16:creationId xmlns:a16="http://schemas.microsoft.com/office/drawing/2014/main" id="{C8A77FFF-51A0-4212-B445-13F90C0581D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854082" y="11733"/>
            <a:ext cx="1337918" cy="941168"/>
          </a:xfrm>
          <a:prstGeom prst="rect">
            <a:avLst/>
          </a:prstGeom>
        </p:spPr>
      </p:pic>
      <p:sp>
        <p:nvSpPr>
          <p:cNvPr id="6" name="Arrow: Chevron 5">
            <a:extLst>
              <a:ext uri="{FF2B5EF4-FFF2-40B4-BE49-F238E27FC236}">
                <a16:creationId xmlns:a16="http://schemas.microsoft.com/office/drawing/2014/main" id="{8E061EC6-CC1D-47E5-B11C-7CA54EA43DF2}"/>
              </a:ext>
            </a:extLst>
          </p:cNvPr>
          <p:cNvSpPr/>
          <p:nvPr/>
        </p:nvSpPr>
        <p:spPr>
          <a:xfrm>
            <a:off x="56563" y="2771484"/>
            <a:ext cx="4081806" cy="1345676"/>
          </a:xfrm>
          <a:prstGeom prst="chevron">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3200" b="1" dirty="0"/>
              <a:t>PETTIKADAI</a:t>
            </a:r>
            <a:endParaRPr lang="en-IN" sz="3200" b="1" dirty="0">
              <a:solidFill>
                <a:schemeClr val="tx1"/>
              </a:solidFill>
            </a:endParaRPr>
          </a:p>
        </p:txBody>
      </p:sp>
      <p:sp>
        <p:nvSpPr>
          <p:cNvPr id="7" name="Rectangle 6">
            <a:extLst>
              <a:ext uri="{FF2B5EF4-FFF2-40B4-BE49-F238E27FC236}">
                <a16:creationId xmlns:a16="http://schemas.microsoft.com/office/drawing/2014/main" id="{6DA50E38-054B-44A4-81D7-9DC594D8F122}"/>
              </a:ext>
            </a:extLst>
          </p:cNvPr>
          <p:cNvSpPr/>
          <p:nvPr/>
        </p:nvSpPr>
        <p:spPr>
          <a:xfrm>
            <a:off x="4515437" y="1308366"/>
            <a:ext cx="2828041" cy="735291"/>
          </a:xfrm>
          <a:prstGeom prst="rect">
            <a:avLst/>
          </a:prstGeom>
          <a:solidFill>
            <a:schemeClr val="accent4">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t>MARKET REACH</a:t>
            </a:r>
          </a:p>
        </p:txBody>
      </p:sp>
      <p:sp>
        <p:nvSpPr>
          <p:cNvPr id="8" name="Rectangle 7">
            <a:extLst>
              <a:ext uri="{FF2B5EF4-FFF2-40B4-BE49-F238E27FC236}">
                <a16:creationId xmlns:a16="http://schemas.microsoft.com/office/drawing/2014/main" id="{A871FAA3-BDAE-43B5-A4DD-BB62B252C441}"/>
              </a:ext>
            </a:extLst>
          </p:cNvPr>
          <p:cNvSpPr/>
          <p:nvPr/>
        </p:nvSpPr>
        <p:spPr>
          <a:xfrm>
            <a:off x="4534287" y="2357488"/>
            <a:ext cx="2828041" cy="735291"/>
          </a:xfrm>
          <a:prstGeom prst="rect">
            <a:avLst/>
          </a:prstGeom>
          <a:solidFill>
            <a:schemeClr val="accent4">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t>BRAND PERCEPTION</a:t>
            </a:r>
          </a:p>
        </p:txBody>
      </p:sp>
      <p:sp>
        <p:nvSpPr>
          <p:cNvPr id="10" name="Rectangle 9">
            <a:extLst>
              <a:ext uri="{FF2B5EF4-FFF2-40B4-BE49-F238E27FC236}">
                <a16:creationId xmlns:a16="http://schemas.microsoft.com/office/drawing/2014/main" id="{F18AF532-8227-426C-BCDC-51392D01FCDB}"/>
              </a:ext>
            </a:extLst>
          </p:cNvPr>
          <p:cNvSpPr/>
          <p:nvPr/>
        </p:nvSpPr>
        <p:spPr>
          <a:xfrm>
            <a:off x="4628558" y="3434501"/>
            <a:ext cx="2828041" cy="735291"/>
          </a:xfrm>
          <a:prstGeom prst="rect">
            <a:avLst/>
          </a:prstGeom>
          <a:solidFill>
            <a:schemeClr val="accent4">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t>TARGET KEYWORDS</a:t>
            </a:r>
          </a:p>
        </p:txBody>
      </p:sp>
      <p:sp>
        <p:nvSpPr>
          <p:cNvPr id="11" name="Rectangle 10">
            <a:extLst>
              <a:ext uri="{FF2B5EF4-FFF2-40B4-BE49-F238E27FC236}">
                <a16:creationId xmlns:a16="http://schemas.microsoft.com/office/drawing/2014/main" id="{8EC11EA8-6ADF-46A4-B4BA-5D1AA942F614}"/>
              </a:ext>
            </a:extLst>
          </p:cNvPr>
          <p:cNvSpPr/>
          <p:nvPr/>
        </p:nvSpPr>
        <p:spPr>
          <a:xfrm>
            <a:off x="4678838" y="4429026"/>
            <a:ext cx="2828041" cy="735291"/>
          </a:xfrm>
          <a:prstGeom prst="rect">
            <a:avLst/>
          </a:prstGeom>
          <a:solidFill>
            <a:schemeClr val="accent4">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t>KEY STRENGTH</a:t>
            </a:r>
          </a:p>
        </p:txBody>
      </p:sp>
      <p:sp>
        <p:nvSpPr>
          <p:cNvPr id="12" name="Rectangle 11">
            <a:extLst>
              <a:ext uri="{FF2B5EF4-FFF2-40B4-BE49-F238E27FC236}">
                <a16:creationId xmlns:a16="http://schemas.microsoft.com/office/drawing/2014/main" id="{7F62848B-4A5A-4930-B7E8-BC1F30EF2763}"/>
              </a:ext>
            </a:extLst>
          </p:cNvPr>
          <p:cNvSpPr/>
          <p:nvPr/>
        </p:nvSpPr>
        <p:spPr>
          <a:xfrm>
            <a:off x="4685115" y="5621517"/>
            <a:ext cx="2828041" cy="735291"/>
          </a:xfrm>
          <a:prstGeom prst="rect">
            <a:avLst/>
          </a:prstGeom>
          <a:solidFill>
            <a:schemeClr val="accent4">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t>KEY WEAKNESS</a:t>
            </a:r>
          </a:p>
        </p:txBody>
      </p:sp>
      <p:sp>
        <p:nvSpPr>
          <p:cNvPr id="13" name="TextBox 12">
            <a:extLst>
              <a:ext uri="{FF2B5EF4-FFF2-40B4-BE49-F238E27FC236}">
                <a16:creationId xmlns:a16="http://schemas.microsoft.com/office/drawing/2014/main" id="{4858D7BB-9E3C-4EA7-B026-CB21710D0FFF}"/>
              </a:ext>
            </a:extLst>
          </p:cNvPr>
          <p:cNvSpPr txBox="1"/>
          <p:nvPr/>
        </p:nvSpPr>
        <p:spPr>
          <a:xfrm>
            <a:off x="7635707" y="1178351"/>
            <a:ext cx="4556293" cy="1200329"/>
          </a:xfrm>
          <a:prstGeom prst="rect">
            <a:avLst/>
          </a:prstGeom>
          <a:noFill/>
        </p:spPr>
        <p:txBody>
          <a:bodyPr wrap="square" rtlCol="0">
            <a:spAutoFit/>
          </a:bodyPr>
          <a:lstStyle/>
          <a:p>
            <a:r>
              <a:rPr lang="en-US" dirty="0"/>
              <a:t>Extremely strong online presence focused on traditional Tamil Nadu and South Indian sweets and snacks, with shipping within Tamil Nadu, other states, and internationally.</a:t>
            </a:r>
            <a:endParaRPr lang="en-IN" dirty="0"/>
          </a:p>
        </p:txBody>
      </p:sp>
      <p:sp>
        <p:nvSpPr>
          <p:cNvPr id="14" name="TextBox 13">
            <a:extLst>
              <a:ext uri="{FF2B5EF4-FFF2-40B4-BE49-F238E27FC236}">
                <a16:creationId xmlns:a16="http://schemas.microsoft.com/office/drawing/2014/main" id="{6382D6F9-D864-43A4-BAA5-EFC974E3A494}"/>
              </a:ext>
            </a:extLst>
          </p:cNvPr>
          <p:cNvSpPr txBox="1"/>
          <p:nvPr/>
        </p:nvSpPr>
        <p:spPr>
          <a:xfrm>
            <a:off x="7597995" y="2394879"/>
            <a:ext cx="4430602" cy="923330"/>
          </a:xfrm>
          <a:prstGeom prst="rect">
            <a:avLst/>
          </a:prstGeom>
          <a:noFill/>
        </p:spPr>
        <p:txBody>
          <a:bodyPr wrap="square" rtlCol="0">
            <a:spAutoFit/>
          </a:bodyPr>
          <a:lstStyle/>
          <a:p>
            <a:r>
              <a:rPr lang="en-US" dirty="0"/>
              <a:t>Positioned on authentic Tamil Nadu village snacks, sweets, nostalgia and traditional recipes.</a:t>
            </a:r>
            <a:endParaRPr lang="en-IN" dirty="0"/>
          </a:p>
        </p:txBody>
      </p:sp>
      <p:sp>
        <p:nvSpPr>
          <p:cNvPr id="15" name="TextBox 14">
            <a:extLst>
              <a:ext uri="{FF2B5EF4-FFF2-40B4-BE49-F238E27FC236}">
                <a16:creationId xmlns:a16="http://schemas.microsoft.com/office/drawing/2014/main" id="{D7276D4C-0149-4D57-96EA-D111430C5935}"/>
              </a:ext>
            </a:extLst>
          </p:cNvPr>
          <p:cNvSpPr txBox="1"/>
          <p:nvPr/>
        </p:nvSpPr>
        <p:spPr>
          <a:xfrm>
            <a:off x="7673419" y="3308808"/>
            <a:ext cx="4462018" cy="923330"/>
          </a:xfrm>
          <a:prstGeom prst="rect">
            <a:avLst/>
          </a:prstGeom>
          <a:noFill/>
        </p:spPr>
        <p:txBody>
          <a:bodyPr wrap="square" rtlCol="0">
            <a:spAutoFit/>
          </a:bodyPr>
          <a:lstStyle/>
          <a:p>
            <a:r>
              <a:rPr lang="en-US" dirty="0"/>
              <a:t>Traditional Tamil sweets, Tamil snacks online, South Indian snacks, </a:t>
            </a:r>
            <a:r>
              <a:rPr lang="en-US" dirty="0" err="1"/>
              <a:t>Athirasam</a:t>
            </a:r>
            <a:r>
              <a:rPr lang="en-US" dirty="0"/>
              <a:t>, traditional sweets online.</a:t>
            </a:r>
          </a:p>
        </p:txBody>
      </p:sp>
      <p:sp>
        <p:nvSpPr>
          <p:cNvPr id="16" name="TextBox 15">
            <a:extLst>
              <a:ext uri="{FF2B5EF4-FFF2-40B4-BE49-F238E27FC236}">
                <a16:creationId xmlns:a16="http://schemas.microsoft.com/office/drawing/2014/main" id="{312844D5-72DB-4A5E-8FF6-21B6FFE67FFD}"/>
              </a:ext>
            </a:extLst>
          </p:cNvPr>
          <p:cNvSpPr txBox="1"/>
          <p:nvPr/>
        </p:nvSpPr>
        <p:spPr>
          <a:xfrm>
            <a:off x="7673419" y="4429026"/>
            <a:ext cx="4355178" cy="646331"/>
          </a:xfrm>
          <a:prstGeom prst="rect">
            <a:avLst/>
          </a:prstGeom>
          <a:noFill/>
        </p:spPr>
        <p:txBody>
          <a:bodyPr wrap="square" rtlCol="0">
            <a:spAutoFit/>
          </a:bodyPr>
          <a:lstStyle/>
          <a:p>
            <a:r>
              <a:rPr lang="en-US" dirty="0"/>
              <a:t>Strong niche positioning around native Tamil products with a clear online-shopping focus.</a:t>
            </a:r>
            <a:endParaRPr lang="en-IN" dirty="0"/>
          </a:p>
        </p:txBody>
      </p:sp>
      <p:sp>
        <p:nvSpPr>
          <p:cNvPr id="17" name="TextBox 16">
            <a:extLst>
              <a:ext uri="{FF2B5EF4-FFF2-40B4-BE49-F238E27FC236}">
                <a16:creationId xmlns:a16="http://schemas.microsoft.com/office/drawing/2014/main" id="{56ACF6CE-16C2-4CB3-9CCD-6DADBC99A235}"/>
              </a:ext>
            </a:extLst>
          </p:cNvPr>
          <p:cNvSpPr txBox="1"/>
          <p:nvPr/>
        </p:nvSpPr>
        <p:spPr>
          <a:xfrm>
            <a:off x="7805393" y="5332817"/>
            <a:ext cx="4185496" cy="1200329"/>
          </a:xfrm>
          <a:prstGeom prst="rect">
            <a:avLst/>
          </a:prstGeom>
          <a:noFill/>
        </p:spPr>
        <p:txBody>
          <a:bodyPr wrap="square" rtlCol="0">
            <a:spAutoFit/>
          </a:bodyPr>
          <a:lstStyle/>
          <a:p>
            <a:r>
              <a:rPr lang="en-US" dirty="0"/>
              <a:t>More concentrated on Tamil/South Indian traditional products, allowing Sweet Karam Coffee to build a broader regional and ingredient-led proposition.</a:t>
            </a:r>
            <a:endParaRPr lang="en-IN" dirty="0"/>
          </a:p>
        </p:txBody>
      </p:sp>
    </p:spTree>
    <p:extLst>
      <p:ext uri="{BB962C8B-B14F-4D97-AF65-F5344CB8AC3E}">
        <p14:creationId xmlns:p14="http://schemas.microsoft.com/office/powerpoint/2010/main" val="115677176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EC4A033-70D5-4A29-B7E4-A99E02E589FC}"/>
              </a:ext>
            </a:extLst>
          </p:cNvPr>
          <p:cNvSpPr/>
          <p:nvPr/>
        </p:nvSpPr>
        <p:spPr>
          <a:xfrm>
            <a:off x="4044097" y="245097"/>
            <a:ext cx="4496586" cy="603315"/>
          </a:xfrm>
          <a:prstGeom prst="rect">
            <a:avLst/>
          </a:prstGeom>
          <a:solidFill>
            <a:schemeClr val="accent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800" b="1" dirty="0"/>
              <a:t>COMPETITOR ANALYSIS</a:t>
            </a:r>
          </a:p>
        </p:txBody>
      </p:sp>
      <p:pic>
        <p:nvPicPr>
          <p:cNvPr id="3" name="Content Placeholder 5">
            <a:extLst>
              <a:ext uri="{FF2B5EF4-FFF2-40B4-BE49-F238E27FC236}">
                <a16:creationId xmlns:a16="http://schemas.microsoft.com/office/drawing/2014/main" id="{F6C4AE26-3F60-4FBD-AE21-59EA2859B39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429" y="0"/>
            <a:ext cx="1131216" cy="948153"/>
          </a:xfrm>
          <a:prstGeom prst="rect">
            <a:avLst/>
          </a:prstGeom>
        </p:spPr>
      </p:pic>
      <p:pic>
        <p:nvPicPr>
          <p:cNvPr id="4" name="Picture 3">
            <a:extLst>
              <a:ext uri="{FF2B5EF4-FFF2-40B4-BE49-F238E27FC236}">
                <a16:creationId xmlns:a16="http://schemas.microsoft.com/office/drawing/2014/main" id="{23E6B3AD-F169-477C-A6E7-DF3DE5D62AD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854082" y="11733"/>
            <a:ext cx="1337918" cy="941168"/>
          </a:xfrm>
          <a:prstGeom prst="rect">
            <a:avLst/>
          </a:prstGeom>
        </p:spPr>
      </p:pic>
      <p:sp>
        <p:nvSpPr>
          <p:cNvPr id="5" name="Rectangle 4">
            <a:extLst>
              <a:ext uri="{FF2B5EF4-FFF2-40B4-BE49-F238E27FC236}">
                <a16:creationId xmlns:a16="http://schemas.microsoft.com/office/drawing/2014/main" id="{A2DA6C95-CA2C-4D6C-A7B8-EC602BC18781}"/>
              </a:ext>
            </a:extLst>
          </p:cNvPr>
          <p:cNvSpPr/>
          <p:nvPr/>
        </p:nvSpPr>
        <p:spPr>
          <a:xfrm>
            <a:off x="4515437" y="1308366"/>
            <a:ext cx="2828041" cy="735291"/>
          </a:xfrm>
          <a:prstGeom prst="rect">
            <a:avLst/>
          </a:prstGeom>
          <a:solidFill>
            <a:schemeClr val="accent4">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t>MARKET REACH</a:t>
            </a:r>
          </a:p>
        </p:txBody>
      </p:sp>
      <p:sp>
        <p:nvSpPr>
          <p:cNvPr id="6" name="Rectangle 5">
            <a:extLst>
              <a:ext uri="{FF2B5EF4-FFF2-40B4-BE49-F238E27FC236}">
                <a16:creationId xmlns:a16="http://schemas.microsoft.com/office/drawing/2014/main" id="{1323090A-B471-4797-BCC5-E77A9C879677}"/>
              </a:ext>
            </a:extLst>
          </p:cNvPr>
          <p:cNvSpPr/>
          <p:nvPr/>
        </p:nvSpPr>
        <p:spPr>
          <a:xfrm>
            <a:off x="4534287" y="2357488"/>
            <a:ext cx="2828041" cy="735291"/>
          </a:xfrm>
          <a:prstGeom prst="rect">
            <a:avLst/>
          </a:prstGeom>
          <a:solidFill>
            <a:schemeClr val="accent4">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t>BRAND PERCEPTION</a:t>
            </a:r>
          </a:p>
        </p:txBody>
      </p:sp>
      <p:sp>
        <p:nvSpPr>
          <p:cNvPr id="7" name="Rectangle 6">
            <a:extLst>
              <a:ext uri="{FF2B5EF4-FFF2-40B4-BE49-F238E27FC236}">
                <a16:creationId xmlns:a16="http://schemas.microsoft.com/office/drawing/2014/main" id="{2365BC58-62D1-4D78-AB83-2DE8CFC90916}"/>
              </a:ext>
            </a:extLst>
          </p:cNvPr>
          <p:cNvSpPr/>
          <p:nvPr/>
        </p:nvSpPr>
        <p:spPr>
          <a:xfrm>
            <a:off x="4628558" y="3434501"/>
            <a:ext cx="2828041" cy="735291"/>
          </a:xfrm>
          <a:prstGeom prst="rect">
            <a:avLst/>
          </a:prstGeom>
          <a:solidFill>
            <a:schemeClr val="accent4">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t>TARGET KEYWORDS</a:t>
            </a:r>
          </a:p>
        </p:txBody>
      </p:sp>
      <p:sp>
        <p:nvSpPr>
          <p:cNvPr id="8" name="Rectangle 7">
            <a:extLst>
              <a:ext uri="{FF2B5EF4-FFF2-40B4-BE49-F238E27FC236}">
                <a16:creationId xmlns:a16="http://schemas.microsoft.com/office/drawing/2014/main" id="{4512262C-9283-4300-84A1-D017EA9A7DBC}"/>
              </a:ext>
            </a:extLst>
          </p:cNvPr>
          <p:cNvSpPr/>
          <p:nvPr/>
        </p:nvSpPr>
        <p:spPr>
          <a:xfrm>
            <a:off x="4650555" y="4511514"/>
            <a:ext cx="2828041" cy="735291"/>
          </a:xfrm>
          <a:prstGeom prst="rect">
            <a:avLst/>
          </a:prstGeom>
          <a:solidFill>
            <a:schemeClr val="accent4">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t>KEY STRENGTH</a:t>
            </a:r>
          </a:p>
        </p:txBody>
      </p:sp>
      <p:sp>
        <p:nvSpPr>
          <p:cNvPr id="9" name="Rectangle 8">
            <a:extLst>
              <a:ext uri="{FF2B5EF4-FFF2-40B4-BE49-F238E27FC236}">
                <a16:creationId xmlns:a16="http://schemas.microsoft.com/office/drawing/2014/main" id="{224305EA-896A-43AC-8198-EB746FFCD104}"/>
              </a:ext>
            </a:extLst>
          </p:cNvPr>
          <p:cNvSpPr/>
          <p:nvPr/>
        </p:nvSpPr>
        <p:spPr>
          <a:xfrm>
            <a:off x="4685115" y="5621517"/>
            <a:ext cx="2828041" cy="735291"/>
          </a:xfrm>
          <a:prstGeom prst="rect">
            <a:avLst/>
          </a:prstGeom>
          <a:solidFill>
            <a:schemeClr val="accent4">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t>KEY WEAKNESS</a:t>
            </a:r>
          </a:p>
        </p:txBody>
      </p:sp>
      <p:sp>
        <p:nvSpPr>
          <p:cNvPr id="10" name="Arrow: Chevron 9">
            <a:extLst>
              <a:ext uri="{FF2B5EF4-FFF2-40B4-BE49-F238E27FC236}">
                <a16:creationId xmlns:a16="http://schemas.microsoft.com/office/drawing/2014/main" id="{CC7F4B42-4086-4C92-A589-B2836F531CF1}"/>
              </a:ext>
            </a:extLst>
          </p:cNvPr>
          <p:cNvSpPr/>
          <p:nvPr/>
        </p:nvSpPr>
        <p:spPr>
          <a:xfrm>
            <a:off x="56563" y="2771484"/>
            <a:ext cx="4081806" cy="1345676"/>
          </a:xfrm>
          <a:prstGeom prst="chevron">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3200" b="1" dirty="0"/>
              <a:t>SRI KRISHNA SWEETS</a:t>
            </a:r>
            <a:endParaRPr lang="en-IN" sz="3200" b="1" dirty="0">
              <a:solidFill>
                <a:schemeClr val="tx1"/>
              </a:solidFill>
            </a:endParaRPr>
          </a:p>
        </p:txBody>
      </p:sp>
      <p:sp>
        <p:nvSpPr>
          <p:cNvPr id="11" name="TextBox 10">
            <a:extLst>
              <a:ext uri="{FF2B5EF4-FFF2-40B4-BE49-F238E27FC236}">
                <a16:creationId xmlns:a16="http://schemas.microsoft.com/office/drawing/2014/main" id="{6EF18059-455C-46C7-92A2-458477BB193D}"/>
              </a:ext>
            </a:extLst>
          </p:cNvPr>
          <p:cNvSpPr txBox="1"/>
          <p:nvPr/>
        </p:nvSpPr>
        <p:spPr>
          <a:xfrm>
            <a:off x="7506879" y="1216058"/>
            <a:ext cx="4399175" cy="941168"/>
          </a:xfrm>
          <a:prstGeom prst="rect">
            <a:avLst/>
          </a:prstGeom>
          <a:noFill/>
        </p:spPr>
        <p:txBody>
          <a:bodyPr wrap="square" rtlCol="0">
            <a:spAutoFit/>
          </a:bodyPr>
          <a:lstStyle/>
          <a:p>
            <a:r>
              <a:rPr lang="en-US" dirty="0"/>
              <a:t>Strong South Indian sweets brand with online ordering, pan-India shipping, festive gifting and interstate/bulk orders.</a:t>
            </a:r>
            <a:endParaRPr lang="en-IN" dirty="0"/>
          </a:p>
        </p:txBody>
      </p:sp>
      <p:sp>
        <p:nvSpPr>
          <p:cNvPr id="12" name="TextBox 11">
            <a:extLst>
              <a:ext uri="{FF2B5EF4-FFF2-40B4-BE49-F238E27FC236}">
                <a16:creationId xmlns:a16="http://schemas.microsoft.com/office/drawing/2014/main" id="{B1452B86-0069-4476-BF01-94C6B7C363D3}"/>
              </a:ext>
            </a:extLst>
          </p:cNvPr>
          <p:cNvSpPr txBox="1"/>
          <p:nvPr/>
        </p:nvSpPr>
        <p:spPr>
          <a:xfrm>
            <a:off x="7506879" y="2450968"/>
            <a:ext cx="4685121" cy="669243"/>
          </a:xfrm>
          <a:prstGeom prst="rect">
            <a:avLst/>
          </a:prstGeom>
          <a:noFill/>
        </p:spPr>
        <p:txBody>
          <a:bodyPr wrap="square" rtlCol="0">
            <a:spAutoFit/>
          </a:bodyPr>
          <a:lstStyle/>
          <a:p>
            <a:r>
              <a:rPr lang="en-US"/>
              <a:t>Strongly associated with traditional sweets, especially its signature Mysurpa.</a:t>
            </a:r>
            <a:endParaRPr lang="en-IN" dirty="0"/>
          </a:p>
        </p:txBody>
      </p:sp>
      <p:sp>
        <p:nvSpPr>
          <p:cNvPr id="13" name="TextBox 12">
            <a:extLst>
              <a:ext uri="{FF2B5EF4-FFF2-40B4-BE49-F238E27FC236}">
                <a16:creationId xmlns:a16="http://schemas.microsoft.com/office/drawing/2014/main" id="{F3F66B08-3A24-4E48-A7EF-6FD14A57644D}"/>
              </a:ext>
            </a:extLst>
          </p:cNvPr>
          <p:cNvSpPr txBox="1"/>
          <p:nvPr/>
        </p:nvSpPr>
        <p:spPr>
          <a:xfrm>
            <a:off x="7777113" y="3252248"/>
            <a:ext cx="4289196" cy="923330"/>
          </a:xfrm>
          <a:prstGeom prst="rect">
            <a:avLst/>
          </a:prstGeom>
          <a:noFill/>
        </p:spPr>
        <p:txBody>
          <a:bodyPr wrap="square" rtlCol="0">
            <a:spAutoFit/>
          </a:bodyPr>
          <a:lstStyle/>
          <a:p>
            <a:r>
              <a:rPr lang="en-IN" dirty="0" err="1"/>
              <a:t>Mysurpa</a:t>
            </a:r>
            <a:r>
              <a:rPr lang="en-IN" dirty="0"/>
              <a:t>, Mysore Pak, South Indian sweets, Kai Murukku, traditional sweets, festive sweets.</a:t>
            </a:r>
          </a:p>
        </p:txBody>
      </p:sp>
      <p:sp>
        <p:nvSpPr>
          <p:cNvPr id="14" name="TextBox 13">
            <a:extLst>
              <a:ext uri="{FF2B5EF4-FFF2-40B4-BE49-F238E27FC236}">
                <a16:creationId xmlns:a16="http://schemas.microsoft.com/office/drawing/2014/main" id="{116836F8-4DA4-4658-97F3-AE879F0360E7}"/>
              </a:ext>
            </a:extLst>
          </p:cNvPr>
          <p:cNvSpPr txBox="1"/>
          <p:nvPr/>
        </p:nvSpPr>
        <p:spPr>
          <a:xfrm>
            <a:off x="7909089" y="4270342"/>
            <a:ext cx="4157220" cy="923330"/>
          </a:xfrm>
          <a:prstGeom prst="rect">
            <a:avLst/>
          </a:prstGeom>
          <a:noFill/>
        </p:spPr>
        <p:txBody>
          <a:bodyPr wrap="square" rtlCol="0">
            <a:spAutoFit/>
          </a:bodyPr>
          <a:lstStyle/>
          <a:p>
            <a:r>
              <a:rPr lang="en-US" dirty="0"/>
              <a:t>Strong signature-product positioning around </a:t>
            </a:r>
            <a:r>
              <a:rPr lang="en-US" dirty="0" err="1"/>
              <a:t>Mysurpa</a:t>
            </a:r>
            <a:r>
              <a:rPr lang="en-US" dirty="0"/>
              <a:t> plus a wide range of sweets and </a:t>
            </a:r>
            <a:r>
              <a:rPr lang="en-US" dirty="0" err="1"/>
              <a:t>savouries</a:t>
            </a:r>
            <a:r>
              <a:rPr lang="en-US" dirty="0"/>
              <a:t>. </a:t>
            </a:r>
            <a:endParaRPr lang="en-IN" dirty="0"/>
          </a:p>
        </p:txBody>
      </p:sp>
      <p:sp>
        <p:nvSpPr>
          <p:cNvPr id="15" name="TextBox 14">
            <a:extLst>
              <a:ext uri="{FF2B5EF4-FFF2-40B4-BE49-F238E27FC236}">
                <a16:creationId xmlns:a16="http://schemas.microsoft.com/office/drawing/2014/main" id="{B7C5C570-D996-4095-9E0A-B3828F9913BE}"/>
              </a:ext>
            </a:extLst>
          </p:cNvPr>
          <p:cNvSpPr txBox="1"/>
          <p:nvPr/>
        </p:nvSpPr>
        <p:spPr>
          <a:xfrm>
            <a:off x="7909089" y="5288434"/>
            <a:ext cx="4157220" cy="1754326"/>
          </a:xfrm>
          <a:prstGeom prst="rect">
            <a:avLst/>
          </a:prstGeom>
          <a:noFill/>
        </p:spPr>
        <p:txBody>
          <a:bodyPr wrap="square" rtlCol="0">
            <a:spAutoFit/>
          </a:bodyPr>
          <a:lstStyle/>
          <a:p>
            <a:r>
              <a:rPr lang="en-US" dirty="0"/>
              <a:t>Strong product-led positioning creates an opportunity for Sweet Karam Coffee to differentiate through broader regional snack storytelling and ingredient-focused USPs.</a:t>
            </a:r>
          </a:p>
          <a:p>
            <a:endParaRPr lang="en-IN" dirty="0"/>
          </a:p>
        </p:txBody>
      </p:sp>
    </p:spTree>
    <p:extLst>
      <p:ext uri="{BB962C8B-B14F-4D97-AF65-F5344CB8AC3E}">
        <p14:creationId xmlns:p14="http://schemas.microsoft.com/office/powerpoint/2010/main" val="417056868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0CAFDD3-FC8E-45FD-945B-6452C73006D7}"/>
              </a:ext>
            </a:extLst>
          </p:cNvPr>
          <p:cNvSpPr/>
          <p:nvPr/>
        </p:nvSpPr>
        <p:spPr>
          <a:xfrm>
            <a:off x="4044097" y="245097"/>
            <a:ext cx="4496586" cy="603315"/>
          </a:xfrm>
          <a:prstGeom prst="rect">
            <a:avLst/>
          </a:prstGeom>
          <a:solidFill>
            <a:schemeClr val="accent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800" b="1" dirty="0"/>
              <a:t>COMPETITOR ANALYSIS</a:t>
            </a:r>
          </a:p>
        </p:txBody>
      </p:sp>
      <p:pic>
        <p:nvPicPr>
          <p:cNvPr id="3" name="Content Placeholder 5">
            <a:extLst>
              <a:ext uri="{FF2B5EF4-FFF2-40B4-BE49-F238E27FC236}">
                <a16:creationId xmlns:a16="http://schemas.microsoft.com/office/drawing/2014/main" id="{85D0FE11-D705-470B-A115-4F7DC48932A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429" y="-28281"/>
            <a:ext cx="1131216" cy="948153"/>
          </a:xfrm>
          <a:prstGeom prst="rect">
            <a:avLst/>
          </a:prstGeom>
        </p:spPr>
      </p:pic>
      <p:pic>
        <p:nvPicPr>
          <p:cNvPr id="4" name="Picture 3">
            <a:extLst>
              <a:ext uri="{FF2B5EF4-FFF2-40B4-BE49-F238E27FC236}">
                <a16:creationId xmlns:a16="http://schemas.microsoft.com/office/drawing/2014/main" id="{0330FA58-E78A-4F52-8E1B-7922E0B6E6D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854082" y="11733"/>
            <a:ext cx="1337918" cy="941168"/>
          </a:xfrm>
          <a:prstGeom prst="rect">
            <a:avLst/>
          </a:prstGeom>
        </p:spPr>
      </p:pic>
      <p:sp>
        <p:nvSpPr>
          <p:cNvPr id="6" name="Arrow: Chevron 5">
            <a:extLst>
              <a:ext uri="{FF2B5EF4-FFF2-40B4-BE49-F238E27FC236}">
                <a16:creationId xmlns:a16="http://schemas.microsoft.com/office/drawing/2014/main" id="{8067DF5F-3580-49DF-9307-DBE92BE9DAAB}"/>
              </a:ext>
            </a:extLst>
          </p:cNvPr>
          <p:cNvSpPr/>
          <p:nvPr/>
        </p:nvSpPr>
        <p:spPr>
          <a:xfrm>
            <a:off x="56563" y="2771484"/>
            <a:ext cx="4081806" cy="1345676"/>
          </a:xfrm>
          <a:prstGeom prst="chevron">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800" b="1" dirty="0">
                <a:solidFill>
                  <a:schemeClr val="bg1"/>
                </a:solidFill>
              </a:rPr>
              <a:t>INDIAN SNACKS HOUSE</a:t>
            </a:r>
          </a:p>
        </p:txBody>
      </p:sp>
      <p:sp>
        <p:nvSpPr>
          <p:cNvPr id="7" name="Rectangle 6">
            <a:extLst>
              <a:ext uri="{FF2B5EF4-FFF2-40B4-BE49-F238E27FC236}">
                <a16:creationId xmlns:a16="http://schemas.microsoft.com/office/drawing/2014/main" id="{780ACCB1-B716-4BF6-9DFC-035C2F83D6FB}"/>
              </a:ext>
            </a:extLst>
          </p:cNvPr>
          <p:cNvSpPr/>
          <p:nvPr/>
        </p:nvSpPr>
        <p:spPr>
          <a:xfrm>
            <a:off x="4515437" y="1308366"/>
            <a:ext cx="2828041" cy="735291"/>
          </a:xfrm>
          <a:prstGeom prst="rect">
            <a:avLst/>
          </a:prstGeom>
          <a:solidFill>
            <a:schemeClr val="accent4">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t>MARKET REACH</a:t>
            </a:r>
          </a:p>
        </p:txBody>
      </p:sp>
      <p:sp>
        <p:nvSpPr>
          <p:cNvPr id="8" name="Rectangle 7">
            <a:extLst>
              <a:ext uri="{FF2B5EF4-FFF2-40B4-BE49-F238E27FC236}">
                <a16:creationId xmlns:a16="http://schemas.microsoft.com/office/drawing/2014/main" id="{ADFE2841-2347-45A2-B3B1-8757ABCBE1BB}"/>
              </a:ext>
            </a:extLst>
          </p:cNvPr>
          <p:cNvSpPr/>
          <p:nvPr/>
        </p:nvSpPr>
        <p:spPr>
          <a:xfrm>
            <a:off x="4534287" y="2357488"/>
            <a:ext cx="2828041" cy="735291"/>
          </a:xfrm>
          <a:prstGeom prst="rect">
            <a:avLst/>
          </a:prstGeom>
          <a:solidFill>
            <a:schemeClr val="accent4">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t>BRAND PERCEPTION</a:t>
            </a:r>
          </a:p>
        </p:txBody>
      </p:sp>
      <p:sp>
        <p:nvSpPr>
          <p:cNvPr id="9" name="Rectangle 8">
            <a:extLst>
              <a:ext uri="{FF2B5EF4-FFF2-40B4-BE49-F238E27FC236}">
                <a16:creationId xmlns:a16="http://schemas.microsoft.com/office/drawing/2014/main" id="{4951C066-FF1E-47DF-801D-9C36D673AA63}"/>
              </a:ext>
            </a:extLst>
          </p:cNvPr>
          <p:cNvSpPr/>
          <p:nvPr/>
        </p:nvSpPr>
        <p:spPr>
          <a:xfrm>
            <a:off x="4628558" y="3434501"/>
            <a:ext cx="2828041" cy="735291"/>
          </a:xfrm>
          <a:prstGeom prst="rect">
            <a:avLst/>
          </a:prstGeom>
          <a:solidFill>
            <a:schemeClr val="accent4">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t>TARGET KEYWORDS</a:t>
            </a:r>
          </a:p>
        </p:txBody>
      </p:sp>
      <p:sp>
        <p:nvSpPr>
          <p:cNvPr id="10" name="Rectangle 9">
            <a:extLst>
              <a:ext uri="{FF2B5EF4-FFF2-40B4-BE49-F238E27FC236}">
                <a16:creationId xmlns:a16="http://schemas.microsoft.com/office/drawing/2014/main" id="{DF2A4144-B5FB-4568-95A0-3D967162D807}"/>
              </a:ext>
            </a:extLst>
          </p:cNvPr>
          <p:cNvSpPr/>
          <p:nvPr/>
        </p:nvSpPr>
        <p:spPr>
          <a:xfrm>
            <a:off x="4650555" y="4511514"/>
            <a:ext cx="2828041" cy="735291"/>
          </a:xfrm>
          <a:prstGeom prst="rect">
            <a:avLst/>
          </a:prstGeom>
          <a:solidFill>
            <a:schemeClr val="accent4">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t>KEY STRENGTH</a:t>
            </a:r>
          </a:p>
        </p:txBody>
      </p:sp>
      <p:sp>
        <p:nvSpPr>
          <p:cNvPr id="11" name="Rectangle 10">
            <a:extLst>
              <a:ext uri="{FF2B5EF4-FFF2-40B4-BE49-F238E27FC236}">
                <a16:creationId xmlns:a16="http://schemas.microsoft.com/office/drawing/2014/main" id="{59E0A2E1-E448-4960-9D66-8C3D7FACAF34}"/>
              </a:ext>
            </a:extLst>
          </p:cNvPr>
          <p:cNvSpPr/>
          <p:nvPr/>
        </p:nvSpPr>
        <p:spPr>
          <a:xfrm>
            <a:off x="4685115" y="5621517"/>
            <a:ext cx="2828041" cy="735291"/>
          </a:xfrm>
          <a:prstGeom prst="rect">
            <a:avLst/>
          </a:prstGeom>
          <a:solidFill>
            <a:schemeClr val="accent4">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t>KEY WEAKNESS</a:t>
            </a:r>
          </a:p>
        </p:txBody>
      </p:sp>
      <p:sp>
        <p:nvSpPr>
          <p:cNvPr id="5" name="TextBox 4">
            <a:extLst>
              <a:ext uri="{FF2B5EF4-FFF2-40B4-BE49-F238E27FC236}">
                <a16:creationId xmlns:a16="http://schemas.microsoft.com/office/drawing/2014/main" id="{0CE6B254-1D5E-4D61-9214-38558EA24B05}"/>
              </a:ext>
            </a:extLst>
          </p:cNvPr>
          <p:cNvSpPr txBox="1"/>
          <p:nvPr/>
        </p:nvSpPr>
        <p:spPr>
          <a:xfrm>
            <a:off x="7513156" y="1197200"/>
            <a:ext cx="4678844" cy="923330"/>
          </a:xfrm>
          <a:prstGeom prst="rect">
            <a:avLst/>
          </a:prstGeom>
          <a:noFill/>
        </p:spPr>
        <p:txBody>
          <a:bodyPr wrap="square" rtlCol="0">
            <a:spAutoFit/>
          </a:bodyPr>
          <a:lstStyle/>
          <a:p>
            <a:r>
              <a:rPr lang="en-US" dirty="0"/>
              <a:t>Indian Snacks House mainly reaches customers through its online store and focuses on traditional Indian snacks and sweets.</a:t>
            </a:r>
            <a:endParaRPr lang="en-IN" dirty="0"/>
          </a:p>
        </p:txBody>
      </p:sp>
      <p:sp>
        <p:nvSpPr>
          <p:cNvPr id="12" name="TextBox 11">
            <a:extLst>
              <a:ext uri="{FF2B5EF4-FFF2-40B4-BE49-F238E27FC236}">
                <a16:creationId xmlns:a16="http://schemas.microsoft.com/office/drawing/2014/main" id="{A5ADB663-C71F-41DB-8700-B1D6A046F92F}"/>
              </a:ext>
            </a:extLst>
          </p:cNvPr>
          <p:cNvSpPr txBox="1"/>
          <p:nvPr/>
        </p:nvSpPr>
        <p:spPr>
          <a:xfrm>
            <a:off x="7607430" y="2337844"/>
            <a:ext cx="4678843" cy="646331"/>
          </a:xfrm>
          <a:prstGeom prst="rect">
            <a:avLst/>
          </a:prstGeom>
          <a:noFill/>
        </p:spPr>
        <p:txBody>
          <a:bodyPr wrap="square" rtlCol="0">
            <a:spAutoFit/>
          </a:bodyPr>
          <a:lstStyle/>
          <a:p>
            <a:r>
              <a:rPr lang="en-US" dirty="0"/>
              <a:t>This brand focuses on traditional tasty Indian snacks.</a:t>
            </a:r>
            <a:endParaRPr lang="en-IN" dirty="0"/>
          </a:p>
        </p:txBody>
      </p:sp>
      <p:sp>
        <p:nvSpPr>
          <p:cNvPr id="13" name="TextBox 12">
            <a:extLst>
              <a:ext uri="{FF2B5EF4-FFF2-40B4-BE49-F238E27FC236}">
                <a16:creationId xmlns:a16="http://schemas.microsoft.com/office/drawing/2014/main" id="{A93F06E6-AB60-4CB1-8463-19FC1EAF91FB}"/>
              </a:ext>
            </a:extLst>
          </p:cNvPr>
          <p:cNvSpPr txBox="1"/>
          <p:nvPr/>
        </p:nvSpPr>
        <p:spPr>
          <a:xfrm>
            <a:off x="7607430" y="3287598"/>
            <a:ext cx="4336331" cy="923330"/>
          </a:xfrm>
          <a:prstGeom prst="rect">
            <a:avLst/>
          </a:prstGeom>
          <a:noFill/>
        </p:spPr>
        <p:txBody>
          <a:bodyPr wrap="square" rtlCol="0">
            <a:spAutoFit/>
          </a:bodyPr>
          <a:lstStyle/>
          <a:p>
            <a:r>
              <a:rPr lang="en-US" dirty="0"/>
              <a:t>Indian snacks online, South Indian snacks, traditional snacks, Indian sweets, banana chips, murukku.</a:t>
            </a:r>
            <a:endParaRPr lang="en-IN" dirty="0"/>
          </a:p>
        </p:txBody>
      </p:sp>
      <p:sp>
        <p:nvSpPr>
          <p:cNvPr id="14" name="TextBox 13">
            <a:extLst>
              <a:ext uri="{FF2B5EF4-FFF2-40B4-BE49-F238E27FC236}">
                <a16:creationId xmlns:a16="http://schemas.microsoft.com/office/drawing/2014/main" id="{77EB9EB0-E224-4F59-82C2-7CB128144E92}"/>
              </a:ext>
            </a:extLst>
          </p:cNvPr>
          <p:cNvSpPr txBox="1"/>
          <p:nvPr/>
        </p:nvSpPr>
        <p:spPr>
          <a:xfrm>
            <a:off x="7720553" y="4492660"/>
            <a:ext cx="4336331" cy="646331"/>
          </a:xfrm>
          <a:prstGeom prst="rect">
            <a:avLst/>
          </a:prstGeom>
          <a:noFill/>
        </p:spPr>
        <p:txBody>
          <a:bodyPr wrap="square" rtlCol="0">
            <a:spAutoFit/>
          </a:bodyPr>
          <a:lstStyle/>
          <a:p>
            <a:r>
              <a:rPr lang="en-US" dirty="0"/>
              <a:t>It has a clear focus on traditional snacks and sweets.</a:t>
            </a:r>
            <a:endParaRPr lang="en-IN" dirty="0"/>
          </a:p>
        </p:txBody>
      </p:sp>
      <p:sp>
        <p:nvSpPr>
          <p:cNvPr id="15" name="TextBox 14">
            <a:extLst>
              <a:ext uri="{FF2B5EF4-FFF2-40B4-BE49-F238E27FC236}">
                <a16:creationId xmlns:a16="http://schemas.microsoft.com/office/drawing/2014/main" id="{525119EB-BF7D-45B3-BAE4-3FE0797B82AB}"/>
              </a:ext>
            </a:extLst>
          </p:cNvPr>
          <p:cNvSpPr txBox="1"/>
          <p:nvPr/>
        </p:nvSpPr>
        <p:spPr>
          <a:xfrm>
            <a:off x="7758258" y="5458119"/>
            <a:ext cx="4364616" cy="1200329"/>
          </a:xfrm>
          <a:prstGeom prst="rect">
            <a:avLst/>
          </a:prstGeom>
          <a:noFill/>
        </p:spPr>
        <p:txBody>
          <a:bodyPr wrap="square" rtlCol="0">
            <a:spAutoFit/>
          </a:bodyPr>
          <a:lstStyle/>
          <a:p>
            <a:r>
              <a:rPr lang="en-US" dirty="0"/>
              <a:t>Its brand identity is less focused on a specific unique benefit, giving Sweet Karam Coffee a chance to highlight its health-conscious products.</a:t>
            </a:r>
            <a:endParaRPr lang="en-IN" dirty="0"/>
          </a:p>
        </p:txBody>
      </p:sp>
    </p:spTree>
    <p:extLst>
      <p:ext uri="{BB962C8B-B14F-4D97-AF65-F5344CB8AC3E}">
        <p14:creationId xmlns:p14="http://schemas.microsoft.com/office/powerpoint/2010/main" val="288599685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8957539-E61C-483D-8990-F7AEF58C8588}"/>
              </a:ext>
            </a:extLst>
          </p:cNvPr>
          <p:cNvSpPr/>
          <p:nvPr/>
        </p:nvSpPr>
        <p:spPr>
          <a:xfrm>
            <a:off x="4044097" y="245097"/>
            <a:ext cx="4496586" cy="603315"/>
          </a:xfrm>
          <a:prstGeom prst="rect">
            <a:avLst/>
          </a:prstGeom>
          <a:solidFill>
            <a:schemeClr val="accent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800" b="1" dirty="0"/>
              <a:t>COMPETITOR ANALYSIS</a:t>
            </a:r>
          </a:p>
        </p:txBody>
      </p:sp>
      <p:pic>
        <p:nvPicPr>
          <p:cNvPr id="3" name="Content Placeholder 5">
            <a:extLst>
              <a:ext uri="{FF2B5EF4-FFF2-40B4-BE49-F238E27FC236}">
                <a16:creationId xmlns:a16="http://schemas.microsoft.com/office/drawing/2014/main" id="{B68E4FF2-9741-41EE-870D-BAE453381F4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429" y="-28281"/>
            <a:ext cx="1131216" cy="948153"/>
          </a:xfrm>
          <a:prstGeom prst="rect">
            <a:avLst/>
          </a:prstGeom>
        </p:spPr>
      </p:pic>
      <p:pic>
        <p:nvPicPr>
          <p:cNvPr id="4" name="Picture 3">
            <a:extLst>
              <a:ext uri="{FF2B5EF4-FFF2-40B4-BE49-F238E27FC236}">
                <a16:creationId xmlns:a16="http://schemas.microsoft.com/office/drawing/2014/main" id="{EF80A09A-9879-4B1E-A41A-5F5CD6E41BD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854082" y="11733"/>
            <a:ext cx="1337918" cy="941168"/>
          </a:xfrm>
          <a:prstGeom prst="rect">
            <a:avLst/>
          </a:prstGeom>
        </p:spPr>
      </p:pic>
      <p:sp>
        <p:nvSpPr>
          <p:cNvPr id="5" name="Arrow: Chevron 4">
            <a:extLst>
              <a:ext uri="{FF2B5EF4-FFF2-40B4-BE49-F238E27FC236}">
                <a16:creationId xmlns:a16="http://schemas.microsoft.com/office/drawing/2014/main" id="{EF6124C6-BF93-4E56-886C-447620417AE4}"/>
              </a:ext>
            </a:extLst>
          </p:cNvPr>
          <p:cNvSpPr/>
          <p:nvPr/>
        </p:nvSpPr>
        <p:spPr>
          <a:xfrm>
            <a:off x="56563" y="2771484"/>
            <a:ext cx="4081806" cy="1345676"/>
          </a:xfrm>
          <a:prstGeom prst="chevron">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3200" b="1" dirty="0">
                <a:solidFill>
                  <a:schemeClr val="bg1"/>
                </a:solidFill>
              </a:rPr>
              <a:t>WORLD OF MYSOREPAK</a:t>
            </a:r>
          </a:p>
        </p:txBody>
      </p:sp>
      <p:sp>
        <p:nvSpPr>
          <p:cNvPr id="6" name="Rectangle 5">
            <a:extLst>
              <a:ext uri="{FF2B5EF4-FFF2-40B4-BE49-F238E27FC236}">
                <a16:creationId xmlns:a16="http://schemas.microsoft.com/office/drawing/2014/main" id="{6F87A407-FAEC-4D78-A53E-17D0E5678EAF}"/>
              </a:ext>
            </a:extLst>
          </p:cNvPr>
          <p:cNvSpPr/>
          <p:nvPr/>
        </p:nvSpPr>
        <p:spPr>
          <a:xfrm>
            <a:off x="4515437" y="1308366"/>
            <a:ext cx="2828041" cy="735291"/>
          </a:xfrm>
          <a:prstGeom prst="rect">
            <a:avLst/>
          </a:prstGeom>
          <a:solidFill>
            <a:schemeClr val="accent4">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t>MARKET REACH</a:t>
            </a:r>
          </a:p>
        </p:txBody>
      </p:sp>
      <p:sp>
        <p:nvSpPr>
          <p:cNvPr id="7" name="Rectangle 6">
            <a:extLst>
              <a:ext uri="{FF2B5EF4-FFF2-40B4-BE49-F238E27FC236}">
                <a16:creationId xmlns:a16="http://schemas.microsoft.com/office/drawing/2014/main" id="{9B49F0E1-7D34-4843-B9D2-D2705837A12C}"/>
              </a:ext>
            </a:extLst>
          </p:cNvPr>
          <p:cNvSpPr/>
          <p:nvPr/>
        </p:nvSpPr>
        <p:spPr>
          <a:xfrm>
            <a:off x="4534287" y="2357488"/>
            <a:ext cx="2828041" cy="735291"/>
          </a:xfrm>
          <a:prstGeom prst="rect">
            <a:avLst/>
          </a:prstGeom>
          <a:solidFill>
            <a:schemeClr val="accent4">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t>BRAND PERCEPTION</a:t>
            </a:r>
          </a:p>
        </p:txBody>
      </p:sp>
      <p:sp>
        <p:nvSpPr>
          <p:cNvPr id="8" name="Rectangle 7">
            <a:extLst>
              <a:ext uri="{FF2B5EF4-FFF2-40B4-BE49-F238E27FC236}">
                <a16:creationId xmlns:a16="http://schemas.microsoft.com/office/drawing/2014/main" id="{1EA079D8-0607-4964-A62D-36C789A1C8C6}"/>
              </a:ext>
            </a:extLst>
          </p:cNvPr>
          <p:cNvSpPr/>
          <p:nvPr/>
        </p:nvSpPr>
        <p:spPr>
          <a:xfrm>
            <a:off x="4628558" y="3434501"/>
            <a:ext cx="2828041" cy="735291"/>
          </a:xfrm>
          <a:prstGeom prst="rect">
            <a:avLst/>
          </a:prstGeom>
          <a:solidFill>
            <a:schemeClr val="accent4">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t>TARGET KEYWORDS</a:t>
            </a:r>
          </a:p>
        </p:txBody>
      </p:sp>
      <p:sp>
        <p:nvSpPr>
          <p:cNvPr id="9" name="Rectangle 8">
            <a:extLst>
              <a:ext uri="{FF2B5EF4-FFF2-40B4-BE49-F238E27FC236}">
                <a16:creationId xmlns:a16="http://schemas.microsoft.com/office/drawing/2014/main" id="{858EF840-1099-4660-BEE4-356B103730B8}"/>
              </a:ext>
            </a:extLst>
          </p:cNvPr>
          <p:cNvSpPr/>
          <p:nvPr/>
        </p:nvSpPr>
        <p:spPr>
          <a:xfrm>
            <a:off x="4650555" y="4511514"/>
            <a:ext cx="2828041" cy="735291"/>
          </a:xfrm>
          <a:prstGeom prst="rect">
            <a:avLst/>
          </a:prstGeom>
          <a:solidFill>
            <a:schemeClr val="accent4">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t>KEY STRENGTH</a:t>
            </a:r>
          </a:p>
        </p:txBody>
      </p:sp>
      <p:sp>
        <p:nvSpPr>
          <p:cNvPr id="10" name="Rectangle 9">
            <a:extLst>
              <a:ext uri="{FF2B5EF4-FFF2-40B4-BE49-F238E27FC236}">
                <a16:creationId xmlns:a16="http://schemas.microsoft.com/office/drawing/2014/main" id="{B83E0C19-A1D4-4628-B721-B5F20C1E7C09}"/>
              </a:ext>
            </a:extLst>
          </p:cNvPr>
          <p:cNvSpPr/>
          <p:nvPr/>
        </p:nvSpPr>
        <p:spPr>
          <a:xfrm>
            <a:off x="4685115" y="5621517"/>
            <a:ext cx="2828041" cy="735291"/>
          </a:xfrm>
          <a:prstGeom prst="rect">
            <a:avLst/>
          </a:prstGeom>
          <a:solidFill>
            <a:schemeClr val="accent4">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t>KEY WEAKNESS</a:t>
            </a:r>
          </a:p>
        </p:txBody>
      </p:sp>
      <p:sp>
        <p:nvSpPr>
          <p:cNvPr id="11" name="TextBox 10">
            <a:extLst>
              <a:ext uri="{FF2B5EF4-FFF2-40B4-BE49-F238E27FC236}">
                <a16:creationId xmlns:a16="http://schemas.microsoft.com/office/drawing/2014/main" id="{BCA767AE-750D-4A30-B6D2-887849E0A13E}"/>
              </a:ext>
            </a:extLst>
          </p:cNvPr>
          <p:cNvSpPr txBox="1"/>
          <p:nvPr/>
        </p:nvSpPr>
        <p:spPr>
          <a:xfrm>
            <a:off x="7626285" y="1261231"/>
            <a:ext cx="4496586" cy="923330"/>
          </a:xfrm>
          <a:prstGeom prst="rect">
            <a:avLst/>
          </a:prstGeom>
          <a:noFill/>
        </p:spPr>
        <p:txBody>
          <a:bodyPr wrap="square" rtlCol="0">
            <a:spAutoFit/>
          </a:bodyPr>
          <a:lstStyle/>
          <a:p>
            <a:r>
              <a:rPr lang="en-US" dirty="0"/>
              <a:t>The brand mainly sells Mysore Pak and other traditional sweets online and reaches customers across India.</a:t>
            </a:r>
            <a:endParaRPr lang="en-IN" dirty="0"/>
          </a:p>
        </p:txBody>
      </p:sp>
      <p:sp>
        <p:nvSpPr>
          <p:cNvPr id="12" name="TextBox 11">
            <a:extLst>
              <a:ext uri="{FF2B5EF4-FFF2-40B4-BE49-F238E27FC236}">
                <a16:creationId xmlns:a16="http://schemas.microsoft.com/office/drawing/2014/main" id="{1A10EC6A-C64D-47C5-8B92-1CBB57BD6978}"/>
              </a:ext>
            </a:extLst>
          </p:cNvPr>
          <p:cNvSpPr txBox="1"/>
          <p:nvPr/>
        </p:nvSpPr>
        <p:spPr>
          <a:xfrm>
            <a:off x="7626285" y="2385769"/>
            <a:ext cx="4496586" cy="646331"/>
          </a:xfrm>
          <a:prstGeom prst="rect">
            <a:avLst/>
          </a:prstGeom>
          <a:noFill/>
        </p:spPr>
        <p:txBody>
          <a:bodyPr wrap="square" rtlCol="0">
            <a:spAutoFit/>
          </a:bodyPr>
          <a:lstStyle/>
          <a:p>
            <a:r>
              <a:rPr lang="en-US" dirty="0"/>
              <a:t>It is strongly connected with Mysore Pak and traditional Mysuru sweets.</a:t>
            </a:r>
            <a:endParaRPr lang="en-IN" dirty="0"/>
          </a:p>
        </p:txBody>
      </p:sp>
      <p:sp>
        <p:nvSpPr>
          <p:cNvPr id="13" name="TextBox 12">
            <a:extLst>
              <a:ext uri="{FF2B5EF4-FFF2-40B4-BE49-F238E27FC236}">
                <a16:creationId xmlns:a16="http://schemas.microsoft.com/office/drawing/2014/main" id="{B577254F-36C2-45F7-8758-72D45242EB3A}"/>
              </a:ext>
            </a:extLst>
          </p:cNvPr>
          <p:cNvSpPr txBox="1"/>
          <p:nvPr/>
        </p:nvSpPr>
        <p:spPr>
          <a:xfrm>
            <a:off x="7626285" y="3353584"/>
            <a:ext cx="4496586" cy="923330"/>
          </a:xfrm>
          <a:prstGeom prst="rect">
            <a:avLst/>
          </a:prstGeom>
          <a:noFill/>
        </p:spPr>
        <p:txBody>
          <a:bodyPr wrap="square" rtlCol="0">
            <a:spAutoFit/>
          </a:bodyPr>
          <a:lstStyle/>
          <a:p>
            <a:r>
              <a:rPr lang="en-IN" dirty="0"/>
              <a:t>Mysore Pak online, Mysuru sweets, authentic Mysore Pak, ghee Mysore Pak, traditional sweets.</a:t>
            </a:r>
          </a:p>
        </p:txBody>
      </p:sp>
      <p:sp>
        <p:nvSpPr>
          <p:cNvPr id="14" name="TextBox 13">
            <a:extLst>
              <a:ext uri="{FF2B5EF4-FFF2-40B4-BE49-F238E27FC236}">
                <a16:creationId xmlns:a16="http://schemas.microsoft.com/office/drawing/2014/main" id="{B3A8D5EB-0099-47C2-9EA4-FAE3871F38FC}"/>
              </a:ext>
            </a:extLst>
          </p:cNvPr>
          <p:cNvSpPr txBox="1"/>
          <p:nvPr/>
        </p:nvSpPr>
        <p:spPr>
          <a:xfrm>
            <a:off x="7626285" y="4511514"/>
            <a:ext cx="4496586" cy="646331"/>
          </a:xfrm>
          <a:prstGeom prst="rect">
            <a:avLst/>
          </a:prstGeom>
          <a:noFill/>
        </p:spPr>
        <p:txBody>
          <a:bodyPr wrap="square" rtlCol="0">
            <a:spAutoFit/>
          </a:bodyPr>
          <a:lstStyle/>
          <a:p>
            <a:r>
              <a:rPr lang="en-US" dirty="0"/>
              <a:t>Its biggest strength is its strong focus on Mysore Pak.</a:t>
            </a:r>
            <a:endParaRPr lang="en-IN" dirty="0"/>
          </a:p>
        </p:txBody>
      </p:sp>
      <p:sp>
        <p:nvSpPr>
          <p:cNvPr id="15" name="TextBox 14">
            <a:extLst>
              <a:ext uri="{FF2B5EF4-FFF2-40B4-BE49-F238E27FC236}">
                <a16:creationId xmlns:a16="http://schemas.microsoft.com/office/drawing/2014/main" id="{84AA0774-7E7B-4BBC-9CDD-5F9FD50F9B43}"/>
              </a:ext>
            </a:extLst>
          </p:cNvPr>
          <p:cNvSpPr txBox="1"/>
          <p:nvPr/>
        </p:nvSpPr>
        <p:spPr>
          <a:xfrm>
            <a:off x="7739406" y="5429839"/>
            <a:ext cx="4496586" cy="1200329"/>
          </a:xfrm>
          <a:prstGeom prst="rect">
            <a:avLst/>
          </a:prstGeom>
          <a:noFill/>
        </p:spPr>
        <p:txBody>
          <a:bodyPr wrap="square" rtlCol="0">
            <a:spAutoFit/>
          </a:bodyPr>
          <a:lstStyle/>
          <a:p>
            <a:r>
              <a:rPr lang="en-US" dirty="0"/>
              <a:t>Its product range is more limited compared with Sweet Karam Coffee's wider South Indian range.</a:t>
            </a:r>
          </a:p>
          <a:p>
            <a:endParaRPr lang="en-IN" dirty="0"/>
          </a:p>
        </p:txBody>
      </p:sp>
    </p:spTree>
    <p:extLst>
      <p:ext uri="{BB962C8B-B14F-4D97-AF65-F5344CB8AC3E}">
        <p14:creationId xmlns:p14="http://schemas.microsoft.com/office/powerpoint/2010/main" val="169717132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6754D2B-335A-4AD6-8DE2-FD152E88B49F}"/>
              </a:ext>
            </a:extLst>
          </p:cNvPr>
          <p:cNvSpPr/>
          <p:nvPr/>
        </p:nvSpPr>
        <p:spPr>
          <a:xfrm>
            <a:off x="4044097" y="245097"/>
            <a:ext cx="4496586" cy="603315"/>
          </a:xfrm>
          <a:prstGeom prst="rect">
            <a:avLst/>
          </a:prstGeom>
          <a:solidFill>
            <a:schemeClr val="accent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800" b="1" dirty="0"/>
              <a:t>COMPETITOR ANALYSIS</a:t>
            </a:r>
          </a:p>
        </p:txBody>
      </p:sp>
      <p:pic>
        <p:nvPicPr>
          <p:cNvPr id="3" name="Content Placeholder 5">
            <a:extLst>
              <a:ext uri="{FF2B5EF4-FFF2-40B4-BE49-F238E27FC236}">
                <a16:creationId xmlns:a16="http://schemas.microsoft.com/office/drawing/2014/main" id="{0B24EC13-2839-4B20-BE26-1A64F7A20F9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429" y="-28281"/>
            <a:ext cx="1131216" cy="948153"/>
          </a:xfrm>
          <a:prstGeom prst="rect">
            <a:avLst/>
          </a:prstGeom>
        </p:spPr>
      </p:pic>
      <p:pic>
        <p:nvPicPr>
          <p:cNvPr id="4" name="Picture 3">
            <a:extLst>
              <a:ext uri="{FF2B5EF4-FFF2-40B4-BE49-F238E27FC236}">
                <a16:creationId xmlns:a16="http://schemas.microsoft.com/office/drawing/2014/main" id="{F1E6AAC4-CD11-4C48-AE5B-24F1A7EA8D6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854082" y="11733"/>
            <a:ext cx="1337918" cy="941168"/>
          </a:xfrm>
          <a:prstGeom prst="rect">
            <a:avLst/>
          </a:prstGeom>
        </p:spPr>
      </p:pic>
      <p:sp>
        <p:nvSpPr>
          <p:cNvPr id="5" name="Arrow: Chevron 4">
            <a:extLst>
              <a:ext uri="{FF2B5EF4-FFF2-40B4-BE49-F238E27FC236}">
                <a16:creationId xmlns:a16="http://schemas.microsoft.com/office/drawing/2014/main" id="{65FC1A39-7535-4958-AC2A-026EEE64B24B}"/>
              </a:ext>
            </a:extLst>
          </p:cNvPr>
          <p:cNvSpPr/>
          <p:nvPr/>
        </p:nvSpPr>
        <p:spPr>
          <a:xfrm>
            <a:off x="56563" y="2771484"/>
            <a:ext cx="4081806" cy="1345676"/>
          </a:xfrm>
          <a:prstGeom prst="chevron">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3200" b="1" dirty="0">
                <a:solidFill>
                  <a:schemeClr val="bg1"/>
                </a:solidFill>
              </a:rPr>
              <a:t>DELIGHTS FOOD</a:t>
            </a:r>
          </a:p>
        </p:txBody>
      </p:sp>
      <p:sp>
        <p:nvSpPr>
          <p:cNvPr id="6" name="Rectangle 5">
            <a:extLst>
              <a:ext uri="{FF2B5EF4-FFF2-40B4-BE49-F238E27FC236}">
                <a16:creationId xmlns:a16="http://schemas.microsoft.com/office/drawing/2014/main" id="{A271DF06-64A0-47EA-827A-829D763B7DD4}"/>
              </a:ext>
            </a:extLst>
          </p:cNvPr>
          <p:cNvSpPr/>
          <p:nvPr/>
        </p:nvSpPr>
        <p:spPr>
          <a:xfrm>
            <a:off x="4515437" y="1308366"/>
            <a:ext cx="2828041" cy="735291"/>
          </a:xfrm>
          <a:prstGeom prst="rect">
            <a:avLst/>
          </a:prstGeom>
          <a:solidFill>
            <a:schemeClr val="accent4">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t>MARKET REACH</a:t>
            </a:r>
          </a:p>
        </p:txBody>
      </p:sp>
      <p:sp>
        <p:nvSpPr>
          <p:cNvPr id="7" name="Rectangle 6">
            <a:extLst>
              <a:ext uri="{FF2B5EF4-FFF2-40B4-BE49-F238E27FC236}">
                <a16:creationId xmlns:a16="http://schemas.microsoft.com/office/drawing/2014/main" id="{39489D06-6842-483C-9D94-9180FAB79407}"/>
              </a:ext>
            </a:extLst>
          </p:cNvPr>
          <p:cNvSpPr/>
          <p:nvPr/>
        </p:nvSpPr>
        <p:spPr>
          <a:xfrm>
            <a:off x="4534287" y="2357488"/>
            <a:ext cx="2828041" cy="735291"/>
          </a:xfrm>
          <a:prstGeom prst="rect">
            <a:avLst/>
          </a:prstGeom>
          <a:solidFill>
            <a:schemeClr val="accent4">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t>BRAND PERCEPTION</a:t>
            </a:r>
          </a:p>
        </p:txBody>
      </p:sp>
      <p:sp>
        <p:nvSpPr>
          <p:cNvPr id="8" name="Rectangle 7">
            <a:extLst>
              <a:ext uri="{FF2B5EF4-FFF2-40B4-BE49-F238E27FC236}">
                <a16:creationId xmlns:a16="http://schemas.microsoft.com/office/drawing/2014/main" id="{68D3BEE5-16CD-4006-8C21-2084CD8DB6CB}"/>
              </a:ext>
            </a:extLst>
          </p:cNvPr>
          <p:cNvSpPr/>
          <p:nvPr/>
        </p:nvSpPr>
        <p:spPr>
          <a:xfrm>
            <a:off x="4628558" y="3434501"/>
            <a:ext cx="2828041" cy="735291"/>
          </a:xfrm>
          <a:prstGeom prst="rect">
            <a:avLst/>
          </a:prstGeom>
          <a:solidFill>
            <a:schemeClr val="accent4">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t>TARGET KEYWORDS</a:t>
            </a:r>
          </a:p>
        </p:txBody>
      </p:sp>
      <p:sp>
        <p:nvSpPr>
          <p:cNvPr id="9" name="Rectangle 8">
            <a:extLst>
              <a:ext uri="{FF2B5EF4-FFF2-40B4-BE49-F238E27FC236}">
                <a16:creationId xmlns:a16="http://schemas.microsoft.com/office/drawing/2014/main" id="{6A964CC6-FBEB-4CCB-9C4C-57723ABF8DF3}"/>
              </a:ext>
            </a:extLst>
          </p:cNvPr>
          <p:cNvSpPr/>
          <p:nvPr/>
        </p:nvSpPr>
        <p:spPr>
          <a:xfrm>
            <a:off x="4650555" y="4511514"/>
            <a:ext cx="2828041" cy="735291"/>
          </a:xfrm>
          <a:prstGeom prst="rect">
            <a:avLst/>
          </a:prstGeom>
          <a:solidFill>
            <a:schemeClr val="accent4">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t>KEY STRENGTH</a:t>
            </a:r>
          </a:p>
        </p:txBody>
      </p:sp>
      <p:sp>
        <p:nvSpPr>
          <p:cNvPr id="10" name="Rectangle 9">
            <a:extLst>
              <a:ext uri="{FF2B5EF4-FFF2-40B4-BE49-F238E27FC236}">
                <a16:creationId xmlns:a16="http://schemas.microsoft.com/office/drawing/2014/main" id="{9DABFAE2-8718-4AE8-AFFF-894FF47F25FB}"/>
              </a:ext>
            </a:extLst>
          </p:cNvPr>
          <p:cNvSpPr/>
          <p:nvPr/>
        </p:nvSpPr>
        <p:spPr>
          <a:xfrm>
            <a:off x="4685115" y="5621517"/>
            <a:ext cx="2828041" cy="735291"/>
          </a:xfrm>
          <a:prstGeom prst="rect">
            <a:avLst/>
          </a:prstGeom>
          <a:solidFill>
            <a:schemeClr val="accent4">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t>KEY WEAKNESS</a:t>
            </a:r>
          </a:p>
        </p:txBody>
      </p:sp>
      <p:sp>
        <p:nvSpPr>
          <p:cNvPr id="11" name="TextBox 10">
            <a:extLst>
              <a:ext uri="{FF2B5EF4-FFF2-40B4-BE49-F238E27FC236}">
                <a16:creationId xmlns:a16="http://schemas.microsoft.com/office/drawing/2014/main" id="{183D838D-F3D1-46B4-8EFC-88581F57C36B}"/>
              </a:ext>
            </a:extLst>
          </p:cNvPr>
          <p:cNvSpPr txBox="1"/>
          <p:nvPr/>
        </p:nvSpPr>
        <p:spPr>
          <a:xfrm>
            <a:off x="7616858" y="1261231"/>
            <a:ext cx="4298622" cy="923330"/>
          </a:xfrm>
          <a:prstGeom prst="rect">
            <a:avLst/>
          </a:prstGeom>
          <a:noFill/>
        </p:spPr>
        <p:txBody>
          <a:bodyPr wrap="square" rtlCol="0">
            <a:spAutoFit/>
          </a:bodyPr>
          <a:lstStyle/>
          <a:p>
            <a:r>
              <a:rPr lang="en-US" dirty="0"/>
              <a:t>Delight Foods sells different types of Indian sweets, snacks and regional food products online</a:t>
            </a:r>
            <a:endParaRPr lang="en-IN" dirty="0"/>
          </a:p>
        </p:txBody>
      </p:sp>
      <p:sp>
        <p:nvSpPr>
          <p:cNvPr id="12" name="TextBox 11">
            <a:extLst>
              <a:ext uri="{FF2B5EF4-FFF2-40B4-BE49-F238E27FC236}">
                <a16:creationId xmlns:a16="http://schemas.microsoft.com/office/drawing/2014/main" id="{A9CC3F50-AFCD-4698-AB37-036CF45D55BF}"/>
              </a:ext>
            </a:extLst>
          </p:cNvPr>
          <p:cNvSpPr txBox="1"/>
          <p:nvPr/>
        </p:nvSpPr>
        <p:spPr>
          <a:xfrm>
            <a:off x="7513156" y="2243577"/>
            <a:ext cx="4402324" cy="923330"/>
          </a:xfrm>
          <a:prstGeom prst="rect">
            <a:avLst/>
          </a:prstGeom>
          <a:noFill/>
        </p:spPr>
        <p:txBody>
          <a:bodyPr wrap="square" rtlCol="0">
            <a:spAutoFit/>
          </a:bodyPr>
          <a:lstStyle/>
          <a:p>
            <a:r>
              <a:rPr lang="en-US" dirty="0"/>
              <a:t>It is positioned as a brand for people who want to discover traditional food from different parts of India.</a:t>
            </a:r>
            <a:endParaRPr lang="en-IN" dirty="0"/>
          </a:p>
        </p:txBody>
      </p:sp>
      <p:sp>
        <p:nvSpPr>
          <p:cNvPr id="13" name="TextBox 12">
            <a:extLst>
              <a:ext uri="{FF2B5EF4-FFF2-40B4-BE49-F238E27FC236}">
                <a16:creationId xmlns:a16="http://schemas.microsoft.com/office/drawing/2014/main" id="{B5D0FA5A-99F4-4986-B83B-A1B5614BBA53}"/>
              </a:ext>
            </a:extLst>
          </p:cNvPr>
          <p:cNvSpPr txBox="1"/>
          <p:nvPr/>
        </p:nvSpPr>
        <p:spPr>
          <a:xfrm>
            <a:off x="7513156" y="3306450"/>
            <a:ext cx="4477739" cy="923330"/>
          </a:xfrm>
          <a:prstGeom prst="rect">
            <a:avLst/>
          </a:prstGeom>
          <a:noFill/>
        </p:spPr>
        <p:txBody>
          <a:bodyPr wrap="square" rtlCol="0">
            <a:spAutoFit/>
          </a:bodyPr>
          <a:lstStyle/>
          <a:p>
            <a:r>
              <a:rPr lang="en-US" dirty="0"/>
              <a:t>Indian sweets online, Indian snacks online, traditional Indian food, South Indian snacks, regional Indian food.</a:t>
            </a:r>
            <a:endParaRPr lang="en-IN" dirty="0"/>
          </a:p>
        </p:txBody>
      </p:sp>
      <p:sp>
        <p:nvSpPr>
          <p:cNvPr id="14" name="TextBox 13">
            <a:extLst>
              <a:ext uri="{FF2B5EF4-FFF2-40B4-BE49-F238E27FC236}">
                <a16:creationId xmlns:a16="http://schemas.microsoft.com/office/drawing/2014/main" id="{CCBB45D7-8102-4BA8-ADCC-A1622A914F70}"/>
              </a:ext>
            </a:extLst>
          </p:cNvPr>
          <p:cNvSpPr txBox="1"/>
          <p:nvPr/>
        </p:nvSpPr>
        <p:spPr>
          <a:xfrm>
            <a:off x="7616858" y="4506011"/>
            <a:ext cx="4374037" cy="665378"/>
          </a:xfrm>
          <a:prstGeom prst="rect">
            <a:avLst/>
          </a:prstGeom>
          <a:noFill/>
        </p:spPr>
        <p:txBody>
          <a:bodyPr wrap="square" rtlCol="0">
            <a:spAutoFit/>
          </a:bodyPr>
          <a:lstStyle/>
          <a:p>
            <a:r>
              <a:rPr lang="en-US" dirty="0"/>
              <a:t>It has a wide range of products from different regions.</a:t>
            </a:r>
            <a:endParaRPr lang="en-IN" dirty="0"/>
          </a:p>
        </p:txBody>
      </p:sp>
      <p:sp>
        <p:nvSpPr>
          <p:cNvPr id="15" name="TextBox 14">
            <a:extLst>
              <a:ext uri="{FF2B5EF4-FFF2-40B4-BE49-F238E27FC236}">
                <a16:creationId xmlns:a16="http://schemas.microsoft.com/office/drawing/2014/main" id="{CD3F086B-D7FE-49C8-8AE7-532F0E8C3027}"/>
              </a:ext>
            </a:extLst>
          </p:cNvPr>
          <p:cNvSpPr txBox="1"/>
          <p:nvPr/>
        </p:nvSpPr>
        <p:spPr>
          <a:xfrm>
            <a:off x="7692271" y="5429839"/>
            <a:ext cx="4374037" cy="923330"/>
          </a:xfrm>
          <a:prstGeom prst="rect">
            <a:avLst/>
          </a:prstGeom>
          <a:noFill/>
        </p:spPr>
        <p:txBody>
          <a:bodyPr wrap="square" rtlCol="0">
            <a:spAutoFit/>
          </a:bodyPr>
          <a:lstStyle/>
          <a:p>
            <a:r>
              <a:rPr lang="en-US" dirty="0"/>
              <a:t>It covers many regions, but it has less focus on South Indian food compared with Sweet Karam Coffee.</a:t>
            </a:r>
            <a:endParaRPr lang="en-IN" dirty="0"/>
          </a:p>
        </p:txBody>
      </p:sp>
    </p:spTree>
    <p:extLst>
      <p:ext uri="{BB962C8B-B14F-4D97-AF65-F5344CB8AC3E}">
        <p14:creationId xmlns:p14="http://schemas.microsoft.com/office/powerpoint/2010/main" val="162308821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rrow: Chevron 1">
            <a:extLst>
              <a:ext uri="{FF2B5EF4-FFF2-40B4-BE49-F238E27FC236}">
                <a16:creationId xmlns:a16="http://schemas.microsoft.com/office/drawing/2014/main" id="{655C56B6-2AF7-4EA0-9ED3-6E141C10F90F}"/>
              </a:ext>
            </a:extLst>
          </p:cNvPr>
          <p:cNvSpPr/>
          <p:nvPr/>
        </p:nvSpPr>
        <p:spPr>
          <a:xfrm>
            <a:off x="56563" y="2771484"/>
            <a:ext cx="4081806" cy="1345676"/>
          </a:xfrm>
          <a:prstGeom prst="chevron">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3200" b="1" dirty="0">
                <a:solidFill>
                  <a:schemeClr val="bg1"/>
                </a:solidFill>
              </a:rPr>
              <a:t>NATIVE SPECIAL</a:t>
            </a:r>
          </a:p>
        </p:txBody>
      </p:sp>
      <p:sp>
        <p:nvSpPr>
          <p:cNvPr id="3" name="Rectangle 2">
            <a:extLst>
              <a:ext uri="{FF2B5EF4-FFF2-40B4-BE49-F238E27FC236}">
                <a16:creationId xmlns:a16="http://schemas.microsoft.com/office/drawing/2014/main" id="{6B2F20AC-CDF6-4A57-9588-1D5F50EC3EA9}"/>
              </a:ext>
            </a:extLst>
          </p:cNvPr>
          <p:cNvSpPr/>
          <p:nvPr/>
        </p:nvSpPr>
        <p:spPr>
          <a:xfrm>
            <a:off x="4044097" y="245097"/>
            <a:ext cx="4496586" cy="603315"/>
          </a:xfrm>
          <a:prstGeom prst="rect">
            <a:avLst/>
          </a:prstGeom>
          <a:solidFill>
            <a:schemeClr val="accent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800" b="1" dirty="0"/>
              <a:t>COMPETITOR ANALYSIS</a:t>
            </a:r>
          </a:p>
        </p:txBody>
      </p:sp>
      <p:pic>
        <p:nvPicPr>
          <p:cNvPr id="4" name="Content Placeholder 5">
            <a:extLst>
              <a:ext uri="{FF2B5EF4-FFF2-40B4-BE49-F238E27FC236}">
                <a16:creationId xmlns:a16="http://schemas.microsoft.com/office/drawing/2014/main" id="{99384BD8-9308-4F63-B975-30904D30F8F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429" y="-28281"/>
            <a:ext cx="1131216" cy="948153"/>
          </a:xfrm>
          <a:prstGeom prst="rect">
            <a:avLst/>
          </a:prstGeom>
        </p:spPr>
      </p:pic>
      <p:pic>
        <p:nvPicPr>
          <p:cNvPr id="5" name="Picture 4">
            <a:extLst>
              <a:ext uri="{FF2B5EF4-FFF2-40B4-BE49-F238E27FC236}">
                <a16:creationId xmlns:a16="http://schemas.microsoft.com/office/drawing/2014/main" id="{5AEC01D3-4CA6-403A-9041-53EE3770392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854082" y="11733"/>
            <a:ext cx="1337918" cy="941168"/>
          </a:xfrm>
          <a:prstGeom prst="rect">
            <a:avLst/>
          </a:prstGeom>
        </p:spPr>
      </p:pic>
      <p:sp>
        <p:nvSpPr>
          <p:cNvPr id="6" name="Rectangle 5">
            <a:extLst>
              <a:ext uri="{FF2B5EF4-FFF2-40B4-BE49-F238E27FC236}">
                <a16:creationId xmlns:a16="http://schemas.microsoft.com/office/drawing/2014/main" id="{AEAFFE43-1FED-41D0-95D2-060A66F66578}"/>
              </a:ext>
            </a:extLst>
          </p:cNvPr>
          <p:cNvSpPr/>
          <p:nvPr/>
        </p:nvSpPr>
        <p:spPr>
          <a:xfrm>
            <a:off x="4515437" y="1308366"/>
            <a:ext cx="2828041" cy="735291"/>
          </a:xfrm>
          <a:prstGeom prst="rect">
            <a:avLst/>
          </a:prstGeom>
          <a:solidFill>
            <a:schemeClr val="accent4">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t>MARKET REACH</a:t>
            </a:r>
          </a:p>
        </p:txBody>
      </p:sp>
      <p:sp>
        <p:nvSpPr>
          <p:cNvPr id="7" name="Rectangle 6">
            <a:extLst>
              <a:ext uri="{FF2B5EF4-FFF2-40B4-BE49-F238E27FC236}">
                <a16:creationId xmlns:a16="http://schemas.microsoft.com/office/drawing/2014/main" id="{E984C7E9-41C3-401D-B81F-BCC851062A62}"/>
              </a:ext>
            </a:extLst>
          </p:cNvPr>
          <p:cNvSpPr/>
          <p:nvPr/>
        </p:nvSpPr>
        <p:spPr>
          <a:xfrm>
            <a:off x="4534287" y="2357488"/>
            <a:ext cx="2828041" cy="735291"/>
          </a:xfrm>
          <a:prstGeom prst="rect">
            <a:avLst/>
          </a:prstGeom>
          <a:solidFill>
            <a:schemeClr val="accent4">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t>BRAND PERCEPTION</a:t>
            </a:r>
          </a:p>
        </p:txBody>
      </p:sp>
      <p:sp>
        <p:nvSpPr>
          <p:cNvPr id="8" name="Rectangle 7">
            <a:extLst>
              <a:ext uri="{FF2B5EF4-FFF2-40B4-BE49-F238E27FC236}">
                <a16:creationId xmlns:a16="http://schemas.microsoft.com/office/drawing/2014/main" id="{21DF542B-5D21-4610-8129-831E8569A0DE}"/>
              </a:ext>
            </a:extLst>
          </p:cNvPr>
          <p:cNvSpPr/>
          <p:nvPr/>
        </p:nvSpPr>
        <p:spPr>
          <a:xfrm>
            <a:off x="4628558" y="3434501"/>
            <a:ext cx="2828041" cy="735291"/>
          </a:xfrm>
          <a:prstGeom prst="rect">
            <a:avLst/>
          </a:prstGeom>
          <a:solidFill>
            <a:schemeClr val="accent4">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t>TARGET KEYWORDS</a:t>
            </a:r>
          </a:p>
        </p:txBody>
      </p:sp>
      <p:sp>
        <p:nvSpPr>
          <p:cNvPr id="9" name="Rectangle 8">
            <a:extLst>
              <a:ext uri="{FF2B5EF4-FFF2-40B4-BE49-F238E27FC236}">
                <a16:creationId xmlns:a16="http://schemas.microsoft.com/office/drawing/2014/main" id="{250A0E5A-DA4B-4DF2-9273-B0277841EF5F}"/>
              </a:ext>
            </a:extLst>
          </p:cNvPr>
          <p:cNvSpPr/>
          <p:nvPr/>
        </p:nvSpPr>
        <p:spPr>
          <a:xfrm>
            <a:off x="4650555" y="4511514"/>
            <a:ext cx="2828041" cy="735291"/>
          </a:xfrm>
          <a:prstGeom prst="rect">
            <a:avLst/>
          </a:prstGeom>
          <a:solidFill>
            <a:schemeClr val="accent4">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t>KEY STRENGTH</a:t>
            </a:r>
          </a:p>
        </p:txBody>
      </p:sp>
      <p:sp>
        <p:nvSpPr>
          <p:cNvPr id="10" name="Rectangle 9">
            <a:extLst>
              <a:ext uri="{FF2B5EF4-FFF2-40B4-BE49-F238E27FC236}">
                <a16:creationId xmlns:a16="http://schemas.microsoft.com/office/drawing/2014/main" id="{3B52A6DA-FDB4-4D47-9F58-3CBC86D22DD9}"/>
              </a:ext>
            </a:extLst>
          </p:cNvPr>
          <p:cNvSpPr/>
          <p:nvPr/>
        </p:nvSpPr>
        <p:spPr>
          <a:xfrm>
            <a:off x="4685115" y="5621517"/>
            <a:ext cx="2828041" cy="735291"/>
          </a:xfrm>
          <a:prstGeom prst="rect">
            <a:avLst/>
          </a:prstGeom>
          <a:solidFill>
            <a:schemeClr val="accent4">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t>KEY WEAKNESS</a:t>
            </a:r>
          </a:p>
        </p:txBody>
      </p:sp>
      <p:sp>
        <p:nvSpPr>
          <p:cNvPr id="11" name="TextBox 10">
            <a:extLst>
              <a:ext uri="{FF2B5EF4-FFF2-40B4-BE49-F238E27FC236}">
                <a16:creationId xmlns:a16="http://schemas.microsoft.com/office/drawing/2014/main" id="{B3715887-ED7D-49CD-8D39-07E22C92D9AB}"/>
              </a:ext>
            </a:extLst>
          </p:cNvPr>
          <p:cNvSpPr txBox="1"/>
          <p:nvPr/>
        </p:nvSpPr>
        <p:spPr>
          <a:xfrm>
            <a:off x="7456599" y="1195242"/>
            <a:ext cx="4609710" cy="923330"/>
          </a:xfrm>
          <a:prstGeom prst="rect">
            <a:avLst/>
          </a:prstGeom>
          <a:noFill/>
        </p:spPr>
        <p:txBody>
          <a:bodyPr wrap="square" rtlCol="0">
            <a:spAutoFit/>
          </a:bodyPr>
          <a:lstStyle/>
          <a:p>
            <a:r>
              <a:rPr lang="en-US"/>
              <a:t>Native Special sells traditional sweets, snacks and other South Indian products online. It also serves customers outside India.</a:t>
            </a:r>
            <a:endParaRPr lang="en-IN" dirty="0"/>
          </a:p>
        </p:txBody>
      </p:sp>
      <p:sp>
        <p:nvSpPr>
          <p:cNvPr id="12" name="TextBox 11">
            <a:extLst>
              <a:ext uri="{FF2B5EF4-FFF2-40B4-BE49-F238E27FC236}">
                <a16:creationId xmlns:a16="http://schemas.microsoft.com/office/drawing/2014/main" id="{7F34A35C-1AD0-4EC1-A16B-422F9ACB8D08}"/>
              </a:ext>
            </a:extLst>
          </p:cNvPr>
          <p:cNvSpPr txBox="1"/>
          <p:nvPr/>
        </p:nvSpPr>
        <p:spPr>
          <a:xfrm>
            <a:off x="7579151" y="2291499"/>
            <a:ext cx="4411744" cy="646331"/>
          </a:xfrm>
          <a:prstGeom prst="rect">
            <a:avLst/>
          </a:prstGeom>
          <a:noFill/>
        </p:spPr>
        <p:txBody>
          <a:bodyPr wrap="square" rtlCol="0">
            <a:spAutoFit/>
          </a:bodyPr>
          <a:lstStyle/>
          <a:p>
            <a:r>
              <a:rPr lang="en-US" dirty="0"/>
              <a:t>The brand is known for traditional and regional Tamil food.</a:t>
            </a:r>
            <a:endParaRPr lang="en-IN" dirty="0"/>
          </a:p>
        </p:txBody>
      </p:sp>
      <p:sp>
        <p:nvSpPr>
          <p:cNvPr id="13" name="TextBox 12">
            <a:extLst>
              <a:ext uri="{FF2B5EF4-FFF2-40B4-BE49-F238E27FC236}">
                <a16:creationId xmlns:a16="http://schemas.microsoft.com/office/drawing/2014/main" id="{1A4447A7-8F95-400B-8F7A-600B2FEDA038}"/>
              </a:ext>
            </a:extLst>
          </p:cNvPr>
          <p:cNvSpPr txBox="1"/>
          <p:nvPr/>
        </p:nvSpPr>
        <p:spPr>
          <a:xfrm>
            <a:off x="7654565" y="3280526"/>
            <a:ext cx="4336330" cy="923330"/>
          </a:xfrm>
          <a:prstGeom prst="rect">
            <a:avLst/>
          </a:prstGeom>
          <a:noFill/>
        </p:spPr>
        <p:txBody>
          <a:bodyPr wrap="square" rtlCol="0">
            <a:spAutoFit/>
          </a:bodyPr>
          <a:lstStyle/>
          <a:p>
            <a:r>
              <a:rPr lang="en-IN" dirty="0"/>
              <a:t>Tamil sweets online, South Indian sweets, traditional Tamil snacks, Tirunelveli Halwa, </a:t>
            </a:r>
            <a:r>
              <a:rPr lang="en-IN" dirty="0" err="1"/>
              <a:t>Palkova</a:t>
            </a:r>
            <a:r>
              <a:rPr lang="en-IN" dirty="0"/>
              <a:t>.</a:t>
            </a:r>
          </a:p>
        </p:txBody>
      </p:sp>
      <p:sp>
        <p:nvSpPr>
          <p:cNvPr id="14" name="TextBox 13">
            <a:extLst>
              <a:ext uri="{FF2B5EF4-FFF2-40B4-BE49-F238E27FC236}">
                <a16:creationId xmlns:a16="http://schemas.microsoft.com/office/drawing/2014/main" id="{36D1EA87-F7A9-4475-B932-6CAB1B96906A}"/>
              </a:ext>
            </a:extLst>
          </p:cNvPr>
          <p:cNvSpPr txBox="1"/>
          <p:nvPr/>
        </p:nvSpPr>
        <p:spPr>
          <a:xfrm>
            <a:off x="7767686" y="4515438"/>
            <a:ext cx="4204355" cy="646331"/>
          </a:xfrm>
          <a:prstGeom prst="rect">
            <a:avLst/>
          </a:prstGeom>
          <a:noFill/>
        </p:spPr>
        <p:txBody>
          <a:bodyPr wrap="square" rtlCol="0">
            <a:spAutoFit/>
          </a:bodyPr>
          <a:lstStyle/>
          <a:p>
            <a:r>
              <a:rPr lang="en-US" dirty="0"/>
              <a:t>Its main strengths are its regional products and traditional </a:t>
            </a:r>
            <a:r>
              <a:rPr lang="en-US" dirty="0" err="1"/>
              <a:t>flavours</a:t>
            </a:r>
            <a:r>
              <a:rPr lang="en-US" dirty="0"/>
              <a:t>.</a:t>
            </a:r>
            <a:endParaRPr lang="en-IN" dirty="0"/>
          </a:p>
        </p:txBody>
      </p:sp>
      <p:sp>
        <p:nvSpPr>
          <p:cNvPr id="15" name="TextBox 14">
            <a:extLst>
              <a:ext uri="{FF2B5EF4-FFF2-40B4-BE49-F238E27FC236}">
                <a16:creationId xmlns:a16="http://schemas.microsoft.com/office/drawing/2014/main" id="{DEB45EC0-1B97-4D72-BDC3-AD03C6F8A098}"/>
              </a:ext>
            </a:extLst>
          </p:cNvPr>
          <p:cNvSpPr txBox="1"/>
          <p:nvPr/>
        </p:nvSpPr>
        <p:spPr>
          <a:xfrm>
            <a:off x="7767686" y="5461259"/>
            <a:ext cx="4204355" cy="1200329"/>
          </a:xfrm>
          <a:prstGeom prst="rect">
            <a:avLst/>
          </a:prstGeom>
          <a:noFill/>
        </p:spPr>
        <p:txBody>
          <a:bodyPr wrap="square" rtlCol="0">
            <a:spAutoFit/>
          </a:bodyPr>
          <a:lstStyle/>
          <a:p>
            <a:r>
              <a:rPr lang="en-US" dirty="0"/>
              <a:t>It focuses more on products from Tamil Nadu, while Sweet Karam Coffee offers a broader South Indian product range.</a:t>
            </a:r>
          </a:p>
          <a:p>
            <a:endParaRPr lang="en-IN" dirty="0"/>
          </a:p>
        </p:txBody>
      </p:sp>
    </p:spTree>
    <p:extLst>
      <p:ext uri="{BB962C8B-B14F-4D97-AF65-F5344CB8AC3E}">
        <p14:creationId xmlns:p14="http://schemas.microsoft.com/office/powerpoint/2010/main" val="76555515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D9331BB-6FD4-4E0B-9F08-590A35B833D7}"/>
              </a:ext>
            </a:extLst>
          </p:cNvPr>
          <p:cNvSpPr/>
          <p:nvPr/>
        </p:nvSpPr>
        <p:spPr>
          <a:xfrm>
            <a:off x="2262433" y="2017336"/>
            <a:ext cx="8568965" cy="1951349"/>
          </a:xfrm>
          <a:prstGeom prst="rect">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4000" b="1" dirty="0">
                <a:latin typeface="Georgia" panose="02040502050405020303" pitchFamily="18" charset="0"/>
                <a:cs typeface="Arial" panose="020B0604020202020204" pitchFamily="34" charset="0"/>
              </a:rPr>
              <a:t>KEYWORD RESEARCH, CLUSTERING &amp; MAPPING</a:t>
            </a:r>
          </a:p>
        </p:txBody>
      </p:sp>
      <p:pic>
        <p:nvPicPr>
          <p:cNvPr id="3" name="Content Placeholder 5">
            <a:extLst>
              <a:ext uri="{FF2B5EF4-FFF2-40B4-BE49-F238E27FC236}">
                <a16:creationId xmlns:a16="http://schemas.microsoft.com/office/drawing/2014/main" id="{7900F75A-49BF-40B8-A5C7-589EF46635F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429" y="0"/>
            <a:ext cx="1131216" cy="948153"/>
          </a:xfrm>
          <a:prstGeom prst="rect">
            <a:avLst/>
          </a:prstGeom>
        </p:spPr>
      </p:pic>
      <p:pic>
        <p:nvPicPr>
          <p:cNvPr id="4" name="Picture 3">
            <a:extLst>
              <a:ext uri="{FF2B5EF4-FFF2-40B4-BE49-F238E27FC236}">
                <a16:creationId xmlns:a16="http://schemas.microsoft.com/office/drawing/2014/main" id="{129A37CD-B117-4FEB-B89B-880361A9567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854082" y="11733"/>
            <a:ext cx="1337918" cy="941168"/>
          </a:xfrm>
          <a:prstGeom prst="rect">
            <a:avLst/>
          </a:prstGeom>
        </p:spPr>
      </p:pic>
    </p:spTree>
    <p:extLst>
      <p:ext uri="{BB962C8B-B14F-4D97-AF65-F5344CB8AC3E}">
        <p14:creationId xmlns:p14="http://schemas.microsoft.com/office/powerpoint/2010/main" val="353609636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6DFFCB0-A9A5-43A6-A55F-74B8F066E006}"/>
              </a:ext>
            </a:extLst>
          </p:cNvPr>
          <p:cNvSpPr/>
          <p:nvPr/>
        </p:nvSpPr>
        <p:spPr>
          <a:xfrm>
            <a:off x="4062952" y="490194"/>
            <a:ext cx="4383463" cy="933253"/>
          </a:xfrm>
          <a:prstGeom prst="rect">
            <a:avLst/>
          </a:prstGeom>
          <a:solidFill>
            <a:schemeClr val="accent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800" b="1" dirty="0">
                <a:latin typeface="Algerian" panose="04020705040A02060702" pitchFamily="82" charset="0"/>
              </a:rPr>
              <a:t>KEYWORD RESEARCH</a:t>
            </a:r>
          </a:p>
        </p:txBody>
      </p:sp>
      <p:sp>
        <p:nvSpPr>
          <p:cNvPr id="3" name="TextBox 2">
            <a:extLst>
              <a:ext uri="{FF2B5EF4-FFF2-40B4-BE49-F238E27FC236}">
                <a16:creationId xmlns:a16="http://schemas.microsoft.com/office/drawing/2014/main" id="{26886F4D-6D84-4901-A6E2-AAD96262E4A4}"/>
              </a:ext>
            </a:extLst>
          </p:cNvPr>
          <p:cNvSpPr txBox="1"/>
          <p:nvPr/>
        </p:nvSpPr>
        <p:spPr>
          <a:xfrm>
            <a:off x="1329179" y="1649694"/>
            <a:ext cx="9624767" cy="4524315"/>
          </a:xfrm>
          <a:prstGeom prst="rect">
            <a:avLst/>
          </a:prstGeom>
          <a:noFill/>
        </p:spPr>
        <p:txBody>
          <a:bodyPr wrap="square" rtlCol="0">
            <a:spAutoFit/>
          </a:bodyPr>
          <a:lstStyle/>
          <a:p>
            <a:pPr marL="285750" indent="-285750">
              <a:buFont typeface="Arial" panose="020B0604020202020204" pitchFamily="34" charset="0"/>
              <a:buChar char="•"/>
            </a:pPr>
            <a:r>
              <a:rPr lang="en-IN" b="1" i="1" dirty="0"/>
              <a:t>ABC Drink</a:t>
            </a:r>
          </a:p>
          <a:p>
            <a:pPr marL="285750" indent="-285750">
              <a:buFont typeface="Arial" panose="020B0604020202020204" pitchFamily="34" charset="0"/>
              <a:buChar char="•"/>
            </a:pPr>
            <a:r>
              <a:rPr lang="en-IN" b="1" i="1" dirty="0"/>
              <a:t>Kerala banana chips</a:t>
            </a:r>
          </a:p>
          <a:p>
            <a:pPr marL="285750" indent="-285750">
              <a:buFont typeface="Arial" panose="020B0604020202020204" pitchFamily="34" charset="0"/>
              <a:buChar char="•"/>
            </a:pPr>
            <a:r>
              <a:rPr lang="en-IN" b="1" i="1" dirty="0" err="1"/>
              <a:t>Karupatti</a:t>
            </a:r>
            <a:r>
              <a:rPr lang="en-IN" b="1" i="1" dirty="0"/>
              <a:t> in English</a:t>
            </a:r>
          </a:p>
          <a:p>
            <a:pPr marL="285750" indent="-285750">
              <a:buFont typeface="Arial" panose="020B0604020202020204" pitchFamily="34" charset="0"/>
              <a:buChar char="•"/>
            </a:pPr>
            <a:r>
              <a:rPr lang="en-IN" b="1" i="1" dirty="0"/>
              <a:t>Milk mix</a:t>
            </a:r>
          </a:p>
          <a:p>
            <a:pPr marL="285750" indent="-285750">
              <a:buFont typeface="Arial" panose="020B0604020202020204" pitchFamily="34" charset="0"/>
              <a:buChar char="•"/>
            </a:pPr>
            <a:r>
              <a:rPr lang="en-IN" b="1" i="1" dirty="0"/>
              <a:t>South Indian snacks</a:t>
            </a:r>
          </a:p>
          <a:p>
            <a:pPr marL="285750" indent="-285750">
              <a:buFont typeface="Arial" panose="020B0604020202020204" pitchFamily="34" charset="0"/>
              <a:buChar char="•"/>
            </a:pPr>
            <a:r>
              <a:rPr lang="en-IN" b="1" i="1" dirty="0"/>
              <a:t>Sweet </a:t>
            </a:r>
            <a:r>
              <a:rPr lang="en-IN" b="1" i="1" dirty="0" err="1"/>
              <a:t>karam</a:t>
            </a:r>
            <a:r>
              <a:rPr lang="en-IN" b="1" i="1" dirty="0"/>
              <a:t> coffee</a:t>
            </a:r>
          </a:p>
          <a:p>
            <a:pPr marL="285750" indent="-285750">
              <a:buFont typeface="Arial" panose="020B0604020202020204" pitchFamily="34" charset="0"/>
              <a:buChar char="•"/>
            </a:pPr>
            <a:r>
              <a:rPr lang="en-IN" b="1" i="1" dirty="0"/>
              <a:t>Filter Coffee</a:t>
            </a:r>
          </a:p>
          <a:p>
            <a:pPr marL="285750" indent="-285750">
              <a:buFont typeface="Arial" panose="020B0604020202020204" pitchFamily="34" charset="0"/>
              <a:buChar char="•"/>
            </a:pPr>
            <a:r>
              <a:rPr lang="en-IN" b="1" i="1" dirty="0"/>
              <a:t>Coffee Powder</a:t>
            </a:r>
          </a:p>
          <a:p>
            <a:pPr marL="285750" indent="-285750">
              <a:buFont typeface="Arial" panose="020B0604020202020204" pitchFamily="34" charset="0"/>
              <a:buChar char="•"/>
            </a:pPr>
            <a:r>
              <a:rPr lang="en-IN" b="1" i="1" dirty="0"/>
              <a:t>Indian snacks</a:t>
            </a:r>
          </a:p>
          <a:p>
            <a:pPr marL="285750" indent="-285750">
              <a:buFont typeface="Arial" panose="020B0604020202020204" pitchFamily="34" charset="0"/>
              <a:buChar char="•"/>
            </a:pPr>
            <a:r>
              <a:rPr lang="en-IN" b="1" i="1" dirty="0"/>
              <a:t>Winter Season Food</a:t>
            </a:r>
          </a:p>
          <a:p>
            <a:pPr marL="285750" indent="-285750">
              <a:buFont typeface="Arial" panose="020B0604020202020204" pitchFamily="34" charset="0"/>
              <a:buChar char="•"/>
            </a:pPr>
            <a:r>
              <a:rPr lang="en-IN" b="1" i="1" dirty="0"/>
              <a:t>Sweet </a:t>
            </a:r>
            <a:r>
              <a:rPr lang="en-IN" b="1" i="1" dirty="0" err="1"/>
              <a:t>karam</a:t>
            </a:r>
            <a:r>
              <a:rPr lang="en-IN" b="1" i="1" dirty="0"/>
              <a:t> coffee snacks</a:t>
            </a:r>
          </a:p>
          <a:p>
            <a:pPr marL="285750" indent="-285750">
              <a:buFont typeface="Arial" panose="020B0604020202020204" pitchFamily="34" charset="0"/>
              <a:buChar char="•"/>
            </a:pPr>
            <a:r>
              <a:rPr lang="en-IN" b="1" i="1" dirty="0"/>
              <a:t>South snacks</a:t>
            </a:r>
          </a:p>
          <a:p>
            <a:pPr marL="285750" indent="-285750">
              <a:buFont typeface="Arial" panose="020B0604020202020204" pitchFamily="34" charset="0"/>
              <a:buChar char="•"/>
            </a:pPr>
            <a:r>
              <a:rPr lang="en-IN" b="1" i="1" dirty="0"/>
              <a:t>Chakli</a:t>
            </a:r>
          </a:p>
          <a:p>
            <a:pPr marL="285750" indent="-285750">
              <a:buFont typeface="Arial" panose="020B0604020202020204" pitchFamily="34" charset="0"/>
              <a:buChar char="•"/>
            </a:pPr>
            <a:r>
              <a:rPr lang="en-IN" b="1" i="1" dirty="0"/>
              <a:t>South Indian Snacks</a:t>
            </a:r>
          </a:p>
          <a:p>
            <a:pPr marL="285750" indent="-285750">
              <a:buFont typeface="Arial" panose="020B0604020202020204" pitchFamily="34" charset="0"/>
              <a:buChar char="•"/>
            </a:pPr>
            <a:endParaRPr lang="en-IN" b="1" i="1" dirty="0"/>
          </a:p>
          <a:p>
            <a:pPr marL="285750" indent="-285750">
              <a:buFont typeface="Arial" panose="020B0604020202020204" pitchFamily="34" charset="0"/>
              <a:buChar char="•"/>
            </a:pPr>
            <a:endParaRPr lang="en-IN" b="1" dirty="0"/>
          </a:p>
        </p:txBody>
      </p:sp>
      <p:sp>
        <p:nvSpPr>
          <p:cNvPr id="4" name="Rectangle 3">
            <a:extLst>
              <a:ext uri="{FF2B5EF4-FFF2-40B4-BE49-F238E27FC236}">
                <a16:creationId xmlns:a16="http://schemas.microsoft.com/office/drawing/2014/main" id="{13AA5148-0FA7-4C68-B04D-3DF51CF20D12}"/>
              </a:ext>
            </a:extLst>
          </p:cNvPr>
          <p:cNvSpPr/>
          <p:nvPr/>
        </p:nvSpPr>
        <p:spPr>
          <a:xfrm>
            <a:off x="5883" y="952110"/>
            <a:ext cx="625713" cy="5896465"/>
          </a:xfrm>
          <a:prstGeom prst="rect">
            <a:avLst/>
          </a:prstGeom>
          <a:solidFill>
            <a:schemeClr val="accent2">
              <a:lumMod val="50000"/>
            </a:schemeClr>
          </a:solidFill>
        </p:spPr>
        <p:style>
          <a:lnRef idx="1">
            <a:schemeClr val="accent2"/>
          </a:lnRef>
          <a:fillRef idx="3">
            <a:schemeClr val="accent2"/>
          </a:fillRef>
          <a:effectRef idx="2">
            <a:schemeClr val="accent2"/>
          </a:effectRef>
          <a:fontRef idx="minor">
            <a:schemeClr val="lt1"/>
          </a:fontRef>
        </p:style>
        <p:txBody>
          <a:bodyPr vert="vert270" rtlCol="0" anchor="ctr"/>
          <a:lstStyle/>
          <a:p>
            <a:pPr algn="ctr"/>
            <a:r>
              <a:rPr lang="en-US" sz="2800" b="1" dirty="0"/>
              <a:t>SWEET KARAM COFFEE</a:t>
            </a:r>
            <a:endParaRPr lang="en-IN" sz="2800" b="1" dirty="0"/>
          </a:p>
        </p:txBody>
      </p:sp>
      <p:pic>
        <p:nvPicPr>
          <p:cNvPr id="5" name="Content Placeholder 5">
            <a:extLst>
              <a:ext uri="{FF2B5EF4-FFF2-40B4-BE49-F238E27FC236}">
                <a16:creationId xmlns:a16="http://schemas.microsoft.com/office/drawing/2014/main" id="{4738B495-42CB-4828-A4AE-65BDE2F3CC8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429" y="0"/>
            <a:ext cx="1131216" cy="948153"/>
          </a:xfrm>
          <a:prstGeom prst="rect">
            <a:avLst/>
          </a:prstGeom>
        </p:spPr>
      </p:pic>
      <p:pic>
        <p:nvPicPr>
          <p:cNvPr id="6" name="Picture 5">
            <a:extLst>
              <a:ext uri="{FF2B5EF4-FFF2-40B4-BE49-F238E27FC236}">
                <a16:creationId xmlns:a16="http://schemas.microsoft.com/office/drawing/2014/main" id="{20F48224-AE04-459D-B5E7-93FEE426DBB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854082" y="11733"/>
            <a:ext cx="1337918" cy="941168"/>
          </a:xfrm>
          <a:prstGeom prst="rect">
            <a:avLst/>
          </a:prstGeom>
        </p:spPr>
      </p:pic>
    </p:spTree>
    <p:extLst>
      <p:ext uri="{BB962C8B-B14F-4D97-AF65-F5344CB8AC3E}">
        <p14:creationId xmlns:p14="http://schemas.microsoft.com/office/powerpoint/2010/main" val="342043965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A6FF2DC-9BB6-4C5D-98C5-EF4F413C77C9}"/>
              </a:ext>
            </a:extLst>
          </p:cNvPr>
          <p:cNvSpPr/>
          <p:nvPr/>
        </p:nvSpPr>
        <p:spPr>
          <a:xfrm>
            <a:off x="3610464" y="254524"/>
            <a:ext cx="5938887" cy="565608"/>
          </a:xfrm>
          <a:prstGeom prst="rect">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KEYWORD RESEARCH- INFORMATIONAL</a:t>
            </a:r>
          </a:p>
        </p:txBody>
      </p:sp>
      <p:graphicFrame>
        <p:nvGraphicFramePr>
          <p:cNvPr id="3" name="Table 2">
            <a:extLst>
              <a:ext uri="{FF2B5EF4-FFF2-40B4-BE49-F238E27FC236}">
                <a16:creationId xmlns:a16="http://schemas.microsoft.com/office/drawing/2014/main" id="{413FBDE1-00F6-4A99-8A0E-0EB340DF571E}"/>
              </a:ext>
            </a:extLst>
          </p:cNvPr>
          <p:cNvGraphicFramePr>
            <a:graphicFrameLocks noGrp="1"/>
          </p:cNvGraphicFramePr>
          <p:nvPr>
            <p:extLst>
              <p:ext uri="{D42A27DB-BD31-4B8C-83A1-F6EECF244321}">
                <p14:modId xmlns:p14="http://schemas.microsoft.com/office/powerpoint/2010/main" val="3315600399"/>
              </p:ext>
            </p:extLst>
          </p:nvPr>
        </p:nvGraphicFramePr>
        <p:xfrm>
          <a:off x="1762818" y="1530371"/>
          <a:ext cx="10322349" cy="4295396"/>
        </p:xfrm>
        <a:graphic>
          <a:graphicData uri="http://schemas.openxmlformats.org/drawingml/2006/table">
            <a:tbl>
              <a:tblPr firstRow="1" bandRow="1">
                <a:tableStyleId>{5C22544A-7EE6-4342-B048-85BDC9FD1C3A}</a:tableStyleId>
              </a:tblPr>
              <a:tblGrid>
                <a:gridCol w="3440783">
                  <a:extLst>
                    <a:ext uri="{9D8B030D-6E8A-4147-A177-3AD203B41FA5}">
                      <a16:colId xmlns:a16="http://schemas.microsoft.com/office/drawing/2014/main" val="1986755360"/>
                    </a:ext>
                  </a:extLst>
                </a:gridCol>
                <a:gridCol w="3440783">
                  <a:extLst>
                    <a:ext uri="{9D8B030D-6E8A-4147-A177-3AD203B41FA5}">
                      <a16:colId xmlns:a16="http://schemas.microsoft.com/office/drawing/2014/main" val="976651141"/>
                    </a:ext>
                  </a:extLst>
                </a:gridCol>
                <a:gridCol w="3440783">
                  <a:extLst>
                    <a:ext uri="{9D8B030D-6E8A-4147-A177-3AD203B41FA5}">
                      <a16:colId xmlns:a16="http://schemas.microsoft.com/office/drawing/2014/main" val="639631867"/>
                    </a:ext>
                  </a:extLst>
                </a:gridCol>
              </a:tblGrid>
              <a:tr h="613628">
                <a:tc>
                  <a:txBody>
                    <a:bodyPr/>
                    <a:lstStyle/>
                    <a:p>
                      <a:pPr algn="ctr"/>
                      <a:r>
                        <a:rPr lang="en-IN" dirty="0"/>
                        <a:t>KEYWORD</a:t>
                      </a:r>
                    </a:p>
                  </a:txBody>
                  <a:tcPr/>
                </a:tc>
                <a:tc>
                  <a:txBody>
                    <a:bodyPr/>
                    <a:lstStyle/>
                    <a:p>
                      <a:pPr algn="ctr"/>
                      <a:r>
                        <a:rPr lang="en-IN" dirty="0"/>
                        <a:t>SEARCH VOLUME</a:t>
                      </a:r>
                    </a:p>
                  </a:txBody>
                  <a:tcPr/>
                </a:tc>
                <a:tc>
                  <a:txBody>
                    <a:bodyPr/>
                    <a:lstStyle/>
                    <a:p>
                      <a:pPr algn="ctr"/>
                      <a:r>
                        <a:rPr lang="en-IN" dirty="0"/>
                        <a:t>COMPITITION</a:t>
                      </a:r>
                    </a:p>
                  </a:txBody>
                  <a:tcPr/>
                </a:tc>
                <a:extLst>
                  <a:ext uri="{0D108BD9-81ED-4DB2-BD59-A6C34878D82A}">
                    <a16:rowId xmlns:a16="http://schemas.microsoft.com/office/drawing/2014/main" val="698152506"/>
                  </a:ext>
                </a:extLst>
              </a:tr>
              <a:tr h="613628">
                <a:tc>
                  <a:txBody>
                    <a:bodyPr/>
                    <a:lstStyle/>
                    <a:p>
                      <a:r>
                        <a:rPr lang="en-IN" dirty="0"/>
                        <a:t>Jaggery Sweets</a:t>
                      </a:r>
                    </a:p>
                  </a:txBody>
                  <a:tcPr/>
                </a:tc>
                <a:tc>
                  <a:txBody>
                    <a:bodyPr/>
                    <a:lstStyle/>
                    <a:p>
                      <a:r>
                        <a:rPr lang="en-IN" dirty="0"/>
                        <a:t>1k-10k</a:t>
                      </a:r>
                    </a:p>
                  </a:txBody>
                  <a:tcPr/>
                </a:tc>
                <a:tc>
                  <a:txBody>
                    <a:bodyPr/>
                    <a:lstStyle/>
                    <a:p>
                      <a:r>
                        <a:rPr lang="en-IN" dirty="0"/>
                        <a:t>High</a:t>
                      </a:r>
                    </a:p>
                  </a:txBody>
                  <a:tcPr/>
                </a:tc>
                <a:extLst>
                  <a:ext uri="{0D108BD9-81ED-4DB2-BD59-A6C34878D82A}">
                    <a16:rowId xmlns:a16="http://schemas.microsoft.com/office/drawing/2014/main" val="1510474184"/>
                  </a:ext>
                </a:extLst>
              </a:tr>
              <a:tr h="613628">
                <a:tc>
                  <a:txBody>
                    <a:bodyPr/>
                    <a:lstStyle/>
                    <a:p>
                      <a:r>
                        <a:rPr lang="en-IN" dirty="0"/>
                        <a:t>Mysore Pak</a:t>
                      </a:r>
                    </a:p>
                  </a:txBody>
                  <a:tcPr/>
                </a:tc>
                <a:tc>
                  <a:txBody>
                    <a:bodyPr/>
                    <a:lstStyle/>
                    <a:p>
                      <a:r>
                        <a:rPr lang="en-IN" dirty="0"/>
                        <a:t>10k-100k</a:t>
                      </a:r>
                    </a:p>
                  </a:txBody>
                  <a:tcPr/>
                </a:tc>
                <a:tc>
                  <a:txBody>
                    <a:bodyPr/>
                    <a:lstStyle/>
                    <a:p>
                      <a:r>
                        <a:rPr lang="en-IN" dirty="0"/>
                        <a:t>Medium</a:t>
                      </a:r>
                    </a:p>
                  </a:txBody>
                  <a:tcPr/>
                </a:tc>
                <a:extLst>
                  <a:ext uri="{0D108BD9-81ED-4DB2-BD59-A6C34878D82A}">
                    <a16:rowId xmlns:a16="http://schemas.microsoft.com/office/drawing/2014/main" val="2510802553"/>
                  </a:ext>
                </a:extLst>
              </a:tr>
              <a:tr h="613628">
                <a:tc>
                  <a:txBody>
                    <a:bodyPr/>
                    <a:lstStyle/>
                    <a:p>
                      <a:r>
                        <a:rPr lang="en-IN" dirty="0"/>
                        <a:t>Kai Murukku</a:t>
                      </a:r>
                    </a:p>
                  </a:txBody>
                  <a:tcPr/>
                </a:tc>
                <a:tc>
                  <a:txBody>
                    <a:bodyPr/>
                    <a:lstStyle/>
                    <a:p>
                      <a:r>
                        <a:rPr lang="en-IN" dirty="0"/>
                        <a:t>1k-10k</a:t>
                      </a:r>
                    </a:p>
                  </a:txBody>
                  <a:tcPr/>
                </a:tc>
                <a:tc>
                  <a:txBody>
                    <a:bodyPr/>
                    <a:lstStyle/>
                    <a:p>
                      <a:r>
                        <a:rPr lang="en-IN" dirty="0"/>
                        <a:t>High</a:t>
                      </a:r>
                    </a:p>
                  </a:txBody>
                  <a:tcPr/>
                </a:tc>
                <a:extLst>
                  <a:ext uri="{0D108BD9-81ED-4DB2-BD59-A6C34878D82A}">
                    <a16:rowId xmlns:a16="http://schemas.microsoft.com/office/drawing/2014/main" val="3564197038"/>
                  </a:ext>
                </a:extLst>
              </a:tr>
              <a:tr h="613628">
                <a:tc>
                  <a:txBody>
                    <a:bodyPr/>
                    <a:lstStyle/>
                    <a:p>
                      <a:r>
                        <a:rPr lang="en-IN" dirty="0"/>
                        <a:t>Traditional South Indian Snacks</a:t>
                      </a:r>
                    </a:p>
                  </a:txBody>
                  <a:tcPr/>
                </a:tc>
                <a:tc>
                  <a:txBody>
                    <a:bodyPr/>
                    <a:lstStyle/>
                    <a:p>
                      <a:r>
                        <a:rPr lang="en-IN" dirty="0"/>
                        <a:t>100-1k</a:t>
                      </a:r>
                    </a:p>
                  </a:txBody>
                  <a:tcPr/>
                </a:tc>
                <a:tc>
                  <a:txBody>
                    <a:bodyPr/>
                    <a:lstStyle/>
                    <a:p>
                      <a:r>
                        <a:rPr lang="en-IN" dirty="0"/>
                        <a:t>Medium</a:t>
                      </a:r>
                    </a:p>
                  </a:txBody>
                  <a:tcPr/>
                </a:tc>
                <a:extLst>
                  <a:ext uri="{0D108BD9-81ED-4DB2-BD59-A6C34878D82A}">
                    <a16:rowId xmlns:a16="http://schemas.microsoft.com/office/drawing/2014/main" val="3242636110"/>
                  </a:ext>
                </a:extLst>
              </a:tr>
              <a:tr h="613628">
                <a:tc>
                  <a:txBody>
                    <a:bodyPr/>
                    <a:lstStyle/>
                    <a:p>
                      <a:r>
                        <a:rPr lang="en-IN" dirty="0"/>
                        <a:t>Types of Murukku</a:t>
                      </a:r>
                    </a:p>
                  </a:txBody>
                  <a:tcPr/>
                </a:tc>
                <a:tc>
                  <a:txBody>
                    <a:bodyPr/>
                    <a:lstStyle/>
                    <a:p>
                      <a:r>
                        <a:rPr lang="en-IN" dirty="0"/>
                        <a:t>100-1k</a:t>
                      </a:r>
                    </a:p>
                  </a:txBody>
                  <a:tcPr/>
                </a:tc>
                <a:tc>
                  <a:txBody>
                    <a:bodyPr/>
                    <a:lstStyle/>
                    <a:p>
                      <a:r>
                        <a:rPr lang="en-IN" dirty="0"/>
                        <a:t>Low</a:t>
                      </a:r>
                    </a:p>
                  </a:txBody>
                  <a:tcPr/>
                </a:tc>
                <a:extLst>
                  <a:ext uri="{0D108BD9-81ED-4DB2-BD59-A6C34878D82A}">
                    <a16:rowId xmlns:a16="http://schemas.microsoft.com/office/drawing/2014/main" val="277948551"/>
                  </a:ext>
                </a:extLst>
              </a:tr>
              <a:tr h="613628">
                <a:tc>
                  <a:txBody>
                    <a:bodyPr/>
                    <a:lstStyle/>
                    <a:p>
                      <a:r>
                        <a:rPr lang="en-IN" dirty="0"/>
                        <a:t>Filter Coffee</a:t>
                      </a:r>
                    </a:p>
                  </a:txBody>
                  <a:tcPr/>
                </a:tc>
                <a:tc>
                  <a:txBody>
                    <a:bodyPr/>
                    <a:lstStyle/>
                    <a:p>
                      <a:r>
                        <a:rPr lang="en-IN" dirty="0"/>
                        <a:t>10k-100k</a:t>
                      </a:r>
                    </a:p>
                  </a:txBody>
                  <a:tcPr/>
                </a:tc>
                <a:tc>
                  <a:txBody>
                    <a:bodyPr/>
                    <a:lstStyle/>
                    <a:p>
                      <a:r>
                        <a:rPr lang="en-IN" dirty="0"/>
                        <a:t>Medium</a:t>
                      </a:r>
                    </a:p>
                  </a:txBody>
                  <a:tcPr/>
                </a:tc>
                <a:extLst>
                  <a:ext uri="{0D108BD9-81ED-4DB2-BD59-A6C34878D82A}">
                    <a16:rowId xmlns:a16="http://schemas.microsoft.com/office/drawing/2014/main" val="1248129870"/>
                  </a:ext>
                </a:extLst>
              </a:tr>
            </a:tbl>
          </a:graphicData>
        </a:graphic>
      </p:graphicFrame>
      <p:sp>
        <p:nvSpPr>
          <p:cNvPr id="4" name="Rectangle 3">
            <a:extLst>
              <a:ext uri="{FF2B5EF4-FFF2-40B4-BE49-F238E27FC236}">
                <a16:creationId xmlns:a16="http://schemas.microsoft.com/office/drawing/2014/main" id="{01283A15-F352-45B0-A689-EFA76395BF91}"/>
              </a:ext>
            </a:extLst>
          </p:cNvPr>
          <p:cNvSpPr/>
          <p:nvPr/>
        </p:nvSpPr>
        <p:spPr>
          <a:xfrm>
            <a:off x="5883" y="952110"/>
            <a:ext cx="625713" cy="5896465"/>
          </a:xfrm>
          <a:prstGeom prst="rect">
            <a:avLst/>
          </a:prstGeom>
          <a:solidFill>
            <a:schemeClr val="accent2">
              <a:lumMod val="50000"/>
            </a:schemeClr>
          </a:solidFill>
        </p:spPr>
        <p:style>
          <a:lnRef idx="1">
            <a:schemeClr val="accent2"/>
          </a:lnRef>
          <a:fillRef idx="3">
            <a:schemeClr val="accent2"/>
          </a:fillRef>
          <a:effectRef idx="2">
            <a:schemeClr val="accent2"/>
          </a:effectRef>
          <a:fontRef idx="minor">
            <a:schemeClr val="lt1"/>
          </a:fontRef>
        </p:style>
        <p:txBody>
          <a:bodyPr vert="vert270" rtlCol="0" anchor="ctr"/>
          <a:lstStyle/>
          <a:p>
            <a:pPr algn="ctr"/>
            <a:r>
              <a:rPr lang="en-US" sz="2800" b="1" dirty="0"/>
              <a:t>SWEET KARAM COFFEE</a:t>
            </a:r>
            <a:endParaRPr lang="en-IN" sz="2800" b="1" dirty="0"/>
          </a:p>
        </p:txBody>
      </p:sp>
      <p:pic>
        <p:nvPicPr>
          <p:cNvPr id="5" name="Content Placeholder 5">
            <a:extLst>
              <a:ext uri="{FF2B5EF4-FFF2-40B4-BE49-F238E27FC236}">
                <a16:creationId xmlns:a16="http://schemas.microsoft.com/office/drawing/2014/main" id="{93D92DAA-9D9F-4119-917B-16E8F46B993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429" y="0"/>
            <a:ext cx="1131216" cy="948153"/>
          </a:xfrm>
          <a:prstGeom prst="rect">
            <a:avLst/>
          </a:prstGeom>
        </p:spPr>
      </p:pic>
      <p:pic>
        <p:nvPicPr>
          <p:cNvPr id="6" name="Picture 5">
            <a:extLst>
              <a:ext uri="{FF2B5EF4-FFF2-40B4-BE49-F238E27FC236}">
                <a16:creationId xmlns:a16="http://schemas.microsoft.com/office/drawing/2014/main" id="{FE798702-A124-4582-8F3E-70D23C346DB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854082" y="11733"/>
            <a:ext cx="1337918" cy="941168"/>
          </a:xfrm>
          <a:prstGeom prst="rect">
            <a:avLst/>
          </a:prstGeom>
        </p:spPr>
      </p:pic>
    </p:spTree>
    <p:extLst>
      <p:ext uri="{BB962C8B-B14F-4D97-AF65-F5344CB8AC3E}">
        <p14:creationId xmlns:p14="http://schemas.microsoft.com/office/powerpoint/2010/main" val="335515237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DE44A3B-7D06-4E93-AD5E-A9E8E60305D5}"/>
              </a:ext>
            </a:extLst>
          </p:cNvPr>
          <p:cNvSpPr/>
          <p:nvPr/>
        </p:nvSpPr>
        <p:spPr>
          <a:xfrm>
            <a:off x="3610464" y="235670"/>
            <a:ext cx="5938887" cy="565608"/>
          </a:xfrm>
          <a:prstGeom prst="rect">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KEYWORD RESEARCH- COMMERCIAL</a:t>
            </a:r>
          </a:p>
        </p:txBody>
      </p:sp>
      <p:graphicFrame>
        <p:nvGraphicFramePr>
          <p:cNvPr id="3" name="Table 2">
            <a:extLst>
              <a:ext uri="{FF2B5EF4-FFF2-40B4-BE49-F238E27FC236}">
                <a16:creationId xmlns:a16="http://schemas.microsoft.com/office/drawing/2014/main" id="{3DDC0E94-DB26-48FB-A82A-CD511A859F97}"/>
              </a:ext>
            </a:extLst>
          </p:cNvPr>
          <p:cNvGraphicFramePr>
            <a:graphicFrameLocks noGrp="1"/>
          </p:cNvGraphicFramePr>
          <p:nvPr>
            <p:extLst>
              <p:ext uri="{D42A27DB-BD31-4B8C-83A1-F6EECF244321}">
                <p14:modId xmlns:p14="http://schemas.microsoft.com/office/powerpoint/2010/main" val="408195270"/>
              </p:ext>
            </p:extLst>
          </p:nvPr>
        </p:nvGraphicFramePr>
        <p:xfrm>
          <a:off x="1376315" y="1206631"/>
          <a:ext cx="10727703" cy="4383463"/>
        </p:xfrm>
        <a:graphic>
          <a:graphicData uri="http://schemas.openxmlformats.org/drawingml/2006/table">
            <a:tbl>
              <a:tblPr firstRow="1" bandRow="1">
                <a:tableStyleId>{5C22544A-7EE6-4342-B048-85BDC9FD1C3A}</a:tableStyleId>
              </a:tblPr>
              <a:tblGrid>
                <a:gridCol w="3575901">
                  <a:extLst>
                    <a:ext uri="{9D8B030D-6E8A-4147-A177-3AD203B41FA5}">
                      <a16:colId xmlns:a16="http://schemas.microsoft.com/office/drawing/2014/main" val="3423044646"/>
                    </a:ext>
                  </a:extLst>
                </a:gridCol>
                <a:gridCol w="3575901">
                  <a:extLst>
                    <a:ext uri="{9D8B030D-6E8A-4147-A177-3AD203B41FA5}">
                      <a16:colId xmlns:a16="http://schemas.microsoft.com/office/drawing/2014/main" val="2340840742"/>
                    </a:ext>
                  </a:extLst>
                </a:gridCol>
                <a:gridCol w="3575901">
                  <a:extLst>
                    <a:ext uri="{9D8B030D-6E8A-4147-A177-3AD203B41FA5}">
                      <a16:colId xmlns:a16="http://schemas.microsoft.com/office/drawing/2014/main" val="2652183118"/>
                    </a:ext>
                  </a:extLst>
                </a:gridCol>
              </a:tblGrid>
              <a:tr h="626209">
                <a:tc>
                  <a:txBody>
                    <a:bodyPr/>
                    <a:lstStyle/>
                    <a:p>
                      <a:pPr algn="ctr"/>
                      <a:r>
                        <a:rPr lang="en-IN" dirty="0"/>
                        <a:t>KEYWORD</a:t>
                      </a:r>
                    </a:p>
                  </a:txBody>
                  <a:tcPr/>
                </a:tc>
                <a:tc>
                  <a:txBody>
                    <a:bodyPr/>
                    <a:lstStyle/>
                    <a:p>
                      <a:pPr algn="ctr"/>
                      <a:r>
                        <a:rPr lang="en-IN" dirty="0"/>
                        <a:t>SEARCH VOLUME</a:t>
                      </a:r>
                    </a:p>
                  </a:txBody>
                  <a:tcPr/>
                </a:tc>
                <a:tc>
                  <a:txBody>
                    <a:bodyPr/>
                    <a:lstStyle/>
                    <a:p>
                      <a:pPr algn="ctr"/>
                      <a:r>
                        <a:rPr lang="en-IN" dirty="0"/>
                        <a:t>COMPITITION</a:t>
                      </a:r>
                    </a:p>
                  </a:txBody>
                  <a:tcPr/>
                </a:tc>
                <a:extLst>
                  <a:ext uri="{0D108BD9-81ED-4DB2-BD59-A6C34878D82A}">
                    <a16:rowId xmlns:a16="http://schemas.microsoft.com/office/drawing/2014/main" val="2243272225"/>
                  </a:ext>
                </a:extLst>
              </a:tr>
              <a:tr h="626209">
                <a:tc>
                  <a:txBody>
                    <a:bodyPr/>
                    <a:lstStyle/>
                    <a:p>
                      <a:r>
                        <a:rPr lang="en-IN" dirty="0"/>
                        <a:t>Best Snacks</a:t>
                      </a:r>
                    </a:p>
                  </a:txBody>
                  <a:tcPr/>
                </a:tc>
                <a:tc>
                  <a:txBody>
                    <a:bodyPr/>
                    <a:lstStyle/>
                    <a:p>
                      <a:r>
                        <a:rPr lang="en-IN" dirty="0"/>
                        <a:t>1k-10k</a:t>
                      </a:r>
                    </a:p>
                  </a:txBody>
                  <a:tcPr/>
                </a:tc>
                <a:tc>
                  <a:txBody>
                    <a:bodyPr/>
                    <a:lstStyle/>
                    <a:p>
                      <a:r>
                        <a:rPr lang="en-IN" dirty="0"/>
                        <a:t>Medium</a:t>
                      </a:r>
                    </a:p>
                  </a:txBody>
                  <a:tcPr/>
                </a:tc>
                <a:extLst>
                  <a:ext uri="{0D108BD9-81ED-4DB2-BD59-A6C34878D82A}">
                    <a16:rowId xmlns:a16="http://schemas.microsoft.com/office/drawing/2014/main" val="1596027794"/>
                  </a:ext>
                </a:extLst>
              </a:tr>
              <a:tr h="626209">
                <a:tc>
                  <a:txBody>
                    <a:bodyPr/>
                    <a:lstStyle/>
                    <a:p>
                      <a:r>
                        <a:rPr lang="en-IN" dirty="0"/>
                        <a:t>Good Snacks</a:t>
                      </a:r>
                    </a:p>
                  </a:txBody>
                  <a:tcPr/>
                </a:tc>
                <a:tc>
                  <a:txBody>
                    <a:bodyPr/>
                    <a:lstStyle/>
                    <a:p>
                      <a:r>
                        <a:rPr lang="en-IN" dirty="0"/>
                        <a:t>100-1k</a:t>
                      </a:r>
                    </a:p>
                  </a:txBody>
                  <a:tcPr/>
                </a:tc>
                <a:tc>
                  <a:txBody>
                    <a:bodyPr/>
                    <a:lstStyle/>
                    <a:p>
                      <a:r>
                        <a:rPr lang="en-IN" dirty="0"/>
                        <a:t>Low</a:t>
                      </a:r>
                    </a:p>
                  </a:txBody>
                  <a:tcPr/>
                </a:tc>
                <a:extLst>
                  <a:ext uri="{0D108BD9-81ED-4DB2-BD59-A6C34878D82A}">
                    <a16:rowId xmlns:a16="http://schemas.microsoft.com/office/drawing/2014/main" val="1029173142"/>
                  </a:ext>
                </a:extLst>
              </a:tr>
              <a:tr h="626209">
                <a:tc>
                  <a:txBody>
                    <a:bodyPr/>
                    <a:lstStyle/>
                    <a:p>
                      <a:r>
                        <a:rPr lang="en-IN" dirty="0"/>
                        <a:t>Filter Coffee</a:t>
                      </a:r>
                    </a:p>
                  </a:txBody>
                  <a:tcPr/>
                </a:tc>
                <a:tc>
                  <a:txBody>
                    <a:bodyPr/>
                    <a:lstStyle/>
                    <a:p>
                      <a:r>
                        <a:rPr lang="en-IN" dirty="0"/>
                        <a:t>10k-100k</a:t>
                      </a:r>
                    </a:p>
                  </a:txBody>
                  <a:tcPr/>
                </a:tc>
                <a:tc>
                  <a:txBody>
                    <a:bodyPr/>
                    <a:lstStyle/>
                    <a:p>
                      <a:r>
                        <a:rPr lang="en-IN" dirty="0"/>
                        <a:t>Medium</a:t>
                      </a:r>
                    </a:p>
                  </a:txBody>
                  <a:tcPr/>
                </a:tc>
                <a:extLst>
                  <a:ext uri="{0D108BD9-81ED-4DB2-BD59-A6C34878D82A}">
                    <a16:rowId xmlns:a16="http://schemas.microsoft.com/office/drawing/2014/main" val="2958724988"/>
                  </a:ext>
                </a:extLst>
              </a:tr>
              <a:tr h="626209">
                <a:tc>
                  <a:txBody>
                    <a:bodyPr/>
                    <a:lstStyle/>
                    <a:p>
                      <a:r>
                        <a:rPr lang="en-IN" dirty="0"/>
                        <a:t>Jaggery sweets </a:t>
                      </a:r>
                    </a:p>
                  </a:txBody>
                  <a:tcPr/>
                </a:tc>
                <a:tc>
                  <a:txBody>
                    <a:bodyPr/>
                    <a:lstStyle/>
                    <a:p>
                      <a:r>
                        <a:rPr lang="en-IN" dirty="0"/>
                        <a:t>1k-10k</a:t>
                      </a:r>
                    </a:p>
                  </a:txBody>
                  <a:tcPr/>
                </a:tc>
                <a:tc>
                  <a:txBody>
                    <a:bodyPr/>
                    <a:lstStyle/>
                    <a:p>
                      <a:r>
                        <a:rPr lang="en-IN" dirty="0"/>
                        <a:t>High</a:t>
                      </a:r>
                    </a:p>
                  </a:txBody>
                  <a:tcPr/>
                </a:tc>
                <a:extLst>
                  <a:ext uri="{0D108BD9-81ED-4DB2-BD59-A6C34878D82A}">
                    <a16:rowId xmlns:a16="http://schemas.microsoft.com/office/drawing/2014/main" val="2424480280"/>
                  </a:ext>
                </a:extLst>
              </a:tr>
              <a:tr h="626209">
                <a:tc>
                  <a:txBody>
                    <a:bodyPr/>
                    <a:lstStyle/>
                    <a:p>
                      <a:r>
                        <a:rPr lang="en-IN" dirty="0"/>
                        <a:t>South Indian Diwali Sweets</a:t>
                      </a:r>
                    </a:p>
                  </a:txBody>
                  <a:tcPr/>
                </a:tc>
                <a:tc>
                  <a:txBody>
                    <a:bodyPr/>
                    <a:lstStyle/>
                    <a:p>
                      <a:r>
                        <a:rPr lang="en-IN" dirty="0"/>
                        <a:t>100-1k</a:t>
                      </a:r>
                    </a:p>
                  </a:txBody>
                  <a:tcPr/>
                </a:tc>
                <a:tc>
                  <a:txBody>
                    <a:bodyPr/>
                    <a:lstStyle/>
                    <a:p>
                      <a:r>
                        <a:rPr lang="en-IN" dirty="0"/>
                        <a:t>Low</a:t>
                      </a:r>
                    </a:p>
                  </a:txBody>
                  <a:tcPr/>
                </a:tc>
                <a:extLst>
                  <a:ext uri="{0D108BD9-81ED-4DB2-BD59-A6C34878D82A}">
                    <a16:rowId xmlns:a16="http://schemas.microsoft.com/office/drawing/2014/main" val="1727751225"/>
                  </a:ext>
                </a:extLst>
              </a:tr>
              <a:tr h="626209">
                <a:tc>
                  <a:txBody>
                    <a:bodyPr/>
                    <a:lstStyle/>
                    <a:p>
                      <a:r>
                        <a:rPr lang="en-IN" dirty="0"/>
                        <a:t>Healthy Indian Deserts</a:t>
                      </a:r>
                    </a:p>
                  </a:txBody>
                  <a:tcPr/>
                </a:tc>
                <a:tc>
                  <a:txBody>
                    <a:bodyPr/>
                    <a:lstStyle/>
                    <a:p>
                      <a:r>
                        <a:rPr lang="en-IN" dirty="0"/>
                        <a:t>100-1k</a:t>
                      </a:r>
                    </a:p>
                  </a:txBody>
                  <a:tcPr/>
                </a:tc>
                <a:tc>
                  <a:txBody>
                    <a:bodyPr/>
                    <a:lstStyle/>
                    <a:p>
                      <a:r>
                        <a:rPr lang="en-IN" dirty="0"/>
                        <a:t>Low</a:t>
                      </a:r>
                    </a:p>
                  </a:txBody>
                  <a:tcPr/>
                </a:tc>
                <a:extLst>
                  <a:ext uri="{0D108BD9-81ED-4DB2-BD59-A6C34878D82A}">
                    <a16:rowId xmlns:a16="http://schemas.microsoft.com/office/drawing/2014/main" val="4066610883"/>
                  </a:ext>
                </a:extLst>
              </a:tr>
            </a:tbl>
          </a:graphicData>
        </a:graphic>
      </p:graphicFrame>
      <p:sp>
        <p:nvSpPr>
          <p:cNvPr id="4" name="Rectangle 3">
            <a:extLst>
              <a:ext uri="{FF2B5EF4-FFF2-40B4-BE49-F238E27FC236}">
                <a16:creationId xmlns:a16="http://schemas.microsoft.com/office/drawing/2014/main" id="{3D5FFD88-297F-4DAA-AEA2-3EA041611388}"/>
              </a:ext>
            </a:extLst>
          </p:cNvPr>
          <p:cNvSpPr/>
          <p:nvPr/>
        </p:nvSpPr>
        <p:spPr>
          <a:xfrm>
            <a:off x="5883" y="952110"/>
            <a:ext cx="625713" cy="5896465"/>
          </a:xfrm>
          <a:prstGeom prst="rect">
            <a:avLst/>
          </a:prstGeom>
          <a:solidFill>
            <a:schemeClr val="accent2">
              <a:lumMod val="50000"/>
            </a:schemeClr>
          </a:solidFill>
        </p:spPr>
        <p:style>
          <a:lnRef idx="1">
            <a:schemeClr val="accent2"/>
          </a:lnRef>
          <a:fillRef idx="3">
            <a:schemeClr val="accent2"/>
          </a:fillRef>
          <a:effectRef idx="2">
            <a:schemeClr val="accent2"/>
          </a:effectRef>
          <a:fontRef idx="minor">
            <a:schemeClr val="lt1"/>
          </a:fontRef>
        </p:style>
        <p:txBody>
          <a:bodyPr vert="vert270" rtlCol="0" anchor="ctr"/>
          <a:lstStyle/>
          <a:p>
            <a:pPr algn="ctr"/>
            <a:r>
              <a:rPr lang="en-US" sz="2800" b="1" dirty="0"/>
              <a:t>SWEET KARAM COFFEE</a:t>
            </a:r>
            <a:endParaRPr lang="en-IN" sz="2800" b="1" dirty="0"/>
          </a:p>
        </p:txBody>
      </p:sp>
      <p:pic>
        <p:nvPicPr>
          <p:cNvPr id="5" name="Content Placeholder 5">
            <a:extLst>
              <a:ext uri="{FF2B5EF4-FFF2-40B4-BE49-F238E27FC236}">
                <a16:creationId xmlns:a16="http://schemas.microsoft.com/office/drawing/2014/main" id="{5FAB0B56-BA6F-4D61-9C79-C876691EE46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429" y="0"/>
            <a:ext cx="1131216" cy="948153"/>
          </a:xfrm>
          <a:prstGeom prst="rect">
            <a:avLst/>
          </a:prstGeom>
        </p:spPr>
      </p:pic>
      <p:pic>
        <p:nvPicPr>
          <p:cNvPr id="6" name="Picture 5">
            <a:extLst>
              <a:ext uri="{FF2B5EF4-FFF2-40B4-BE49-F238E27FC236}">
                <a16:creationId xmlns:a16="http://schemas.microsoft.com/office/drawing/2014/main" id="{24ED3A55-988D-43B0-BF0A-24D28B63EA2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854082" y="11733"/>
            <a:ext cx="1337918" cy="941168"/>
          </a:xfrm>
          <a:prstGeom prst="rect">
            <a:avLst/>
          </a:prstGeom>
        </p:spPr>
      </p:pic>
    </p:spTree>
    <p:extLst>
      <p:ext uri="{BB962C8B-B14F-4D97-AF65-F5344CB8AC3E}">
        <p14:creationId xmlns:p14="http://schemas.microsoft.com/office/powerpoint/2010/main" val="220458836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467C9A4-DA68-4110-BA6F-A44A5D76AADD}"/>
              </a:ext>
            </a:extLst>
          </p:cNvPr>
          <p:cNvSpPr/>
          <p:nvPr/>
        </p:nvSpPr>
        <p:spPr>
          <a:xfrm>
            <a:off x="3610464" y="235670"/>
            <a:ext cx="5938887" cy="565608"/>
          </a:xfrm>
          <a:prstGeom prst="rect">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KEYWORD RESEARCH- TRANSACTIONAL</a:t>
            </a:r>
          </a:p>
        </p:txBody>
      </p:sp>
      <p:graphicFrame>
        <p:nvGraphicFramePr>
          <p:cNvPr id="3" name="Table 2">
            <a:extLst>
              <a:ext uri="{FF2B5EF4-FFF2-40B4-BE49-F238E27FC236}">
                <a16:creationId xmlns:a16="http://schemas.microsoft.com/office/drawing/2014/main" id="{E9ADE781-FF8D-49F9-A987-EE7403FB34C6}"/>
              </a:ext>
            </a:extLst>
          </p:cNvPr>
          <p:cNvGraphicFramePr>
            <a:graphicFrameLocks noGrp="1"/>
          </p:cNvGraphicFramePr>
          <p:nvPr>
            <p:extLst>
              <p:ext uri="{D42A27DB-BD31-4B8C-83A1-F6EECF244321}">
                <p14:modId xmlns:p14="http://schemas.microsoft.com/office/powerpoint/2010/main" val="3520331112"/>
              </p:ext>
            </p:extLst>
          </p:nvPr>
        </p:nvGraphicFramePr>
        <p:xfrm>
          <a:off x="1715680" y="1351262"/>
          <a:ext cx="10001838" cy="4549916"/>
        </p:xfrm>
        <a:graphic>
          <a:graphicData uri="http://schemas.openxmlformats.org/drawingml/2006/table">
            <a:tbl>
              <a:tblPr firstRow="1" bandRow="1">
                <a:tableStyleId>{5C22544A-7EE6-4342-B048-85BDC9FD1C3A}</a:tableStyleId>
              </a:tblPr>
              <a:tblGrid>
                <a:gridCol w="3333946">
                  <a:extLst>
                    <a:ext uri="{9D8B030D-6E8A-4147-A177-3AD203B41FA5}">
                      <a16:colId xmlns:a16="http://schemas.microsoft.com/office/drawing/2014/main" val="3423044646"/>
                    </a:ext>
                  </a:extLst>
                </a:gridCol>
                <a:gridCol w="3333946">
                  <a:extLst>
                    <a:ext uri="{9D8B030D-6E8A-4147-A177-3AD203B41FA5}">
                      <a16:colId xmlns:a16="http://schemas.microsoft.com/office/drawing/2014/main" val="2340840742"/>
                    </a:ext>
                  </a:extLst>
                </a:gridCol>
                <a:gridCol w="3333946">
                  <a:extLst>
                    <a:ext uri="{9D8B030D-6E8A-4147-A177-3AD203B41FA5}">
                      <a16:colId xmlns:a16="http://schemas.microsoft.com/office/drawing/2014/main" val="2652183118"/>
                    </a:ext>
                  </a:extLst>
                </a:gridCol>
              </a:tblGrid>
              <a:tr h="649988">
                <a:tc>
                  <a:txBody>
                    <a:bodyPr/>
                    <a:lstStyle/>
                    <a:p>
                      <a:pPr algn="ctr"/>
                      <a:r>
                        <a:rPr lang="en-IN" dirty="0"/>
                        <a:t>KEYWORD</a:t>
                      </a:r>
                    </a:p>
                  </a:txBody>
                  <a:tcPr/>
                </a:tc>
                <a:tc>
                  <a:txBody>
                    <a:bodyPr/>
                    <a:lstStyle/>
                    <a:p>
                      <a:pPr algn="ctr"/>
                      <a:r>
                        <a:rPr lang="en-IN" dirty="0"/>
                        <a:t>SEARCH VOLUME</a:t>
                      </a:r>
                    </a:p>
                  </a:txBody>
                  <a:tcPr/>
                </a:tc>
                <a:tc>
                  <a:txBody>
                    <a:bodyPr/>
                    <a:lstStyle/>
                    <a:p>
                      <a:pPr algn="ctr"/>
                      <a:r>
                        <a:rPr lang="en-IN" dirty="0"/>
                        <a:t>COMPITITION</a:t>
                      </a:r>
                    </a:p>
                  </a:txBody>
                  <a:tcPr/>
                </a:tc>
                <a:extLst>
                  <a:ext uri="{0D108BD9-81ED-4DB2-BD59-A6C34878D82A}">
                    <a16:rowId xmlns:a16="http://schemas.microsoft.com/office/drawing/2014/main" val="2243272225"/>
                  </a:ext>
                </a:extLst>
              </a:tr>
              <a:tr h="649988">
                <a:tc>
                  <a:txBody>
                    <a:bodyPr/>
                    <a:lstStyle/>
                    <a:p>
                      <a:r>
                        <a:rPr lang="en-IN" dirty="0"/>
                        <a:t>Banana Chips online</a:t>
                      </a:r>
                    </a:p>
                  </a:txBody>
                  <a:tcPr/>
                </a:tc>
                <a:tc>
                  <a:txBody>
                    <a:bodyPr/>
                    <a:lstStyle/>
                    <a:p>
                      <a:r>
                        <a:rPr lang="en-IN" dirty="0"/>
                        <a:t>100-1k</a:t>
                      </a:r>
                    </a:p>
                  </a:txBody>
                  <a:tcPr/>
                </a:tc>
                <a:tc>
                  <a:txBody>
                    <a:bodyPr/>
                    <a:lstStyle/>
                    <a:p>
                      <a:r>
                        <a:rPr lang="en-IN" dirty="0"/>
                        <a:t>High</a:t>
                      </a:r>
                    </a:p>
                  </a:txBody>
                  <a:tcPr/>
                </a:tc>
                <a:extLst>
                  <a:ext uri="{0D108BD9-81ED-4DB2-BD59-A6C34878D82A}">
                    <a16:rowId xmlns:a16="http://schemas.microsoft.com/office/drawing/2014/main" val="1596027794"/>
                  </a:ext>
                </a:extLst>
              </a:tr>
              <a:tr h="649988">
                <a:tc>
                  <a:txBody>
                    <a:bodyPr/>
                    <a:lstStyle/>
                    <a:p>
                      <a:r>
                        <a:rPr lang="en-IN" dirty="0"/>
                        <a:t>Mysore </a:t>
                      </a:r>
                      <a:r>
                        <a:rPr lang="en-IN" dirty="0" err="1"/>
                        <a:t>pak</a:t>
                      </a:r>
                      <a:r>
                        <a:rPr lang="en-IN" dirty="0"/>
                        <a:t> Online</a:t>
                      </a:r>
                    </a:p>
                  </a:txBody>
                  <a:tcPr/>
                </a:tc>
                <a:tc>
                  <a:txBody>
                    <a:bodyPr/>
                    <a:lstStyle/>
                    <a:p>
                      <a:r>
                        <a:rPr lang="en-IN" dirty="0"/>
                        <a:t>1k-10k</a:t>
                      </a:r>
                    </a:p>
                  </a:txBody>
                  <a:tcPr/>
                </a:tc>
                <a:tc>
                  <a:txBody>
                    <a:bodyPr/>
                    <a:lstStyle/>
                    <a:p>
                      <a:r>
                        <a:rPr lang="en-IN" dirty="0"/>
                        <a:t>High</a:t>
                      </a:r>
                    </a:p>
                  </a:txBody>
                  <a:tcPr/>
                </a:tc>
                <a:extLst>
                  <a:ext uri="{0D108BD9-81ED-4DB2-BD59-A6C34878D82A}">
                    <a16:rowId xmlns:a16="http://schemas.microsoft.com/office/drawing/2014/main" val="1029173142"/>
                  </a:ext>
                </a:extLst>
              </a:tr>
              <a:tr h="649988">
                <a:tc>
                  <a:txBody>
                    <a:bodyPr/>
                    <a:lstStyle/>
                    <a:p>
                      <a:r>
                        <a:rPr lang="en-IN" dirty="0"/>
                        <a:t>Kai murukku online</a:t>
                      </a:r>
                    </a:p>
                  </a:txBody>
                  <a:tcPr/>
                </a:tc>
                <a:tc>
                  <a:txBody>
                    <a:bodyPr/>
                    <a:lstStyle/>
                    <a:p>
                      <a:r>
                        <a:rPr lang="en-IN" dirty="0"/>
                        <a:t>100-1k</a:t>
                      </a:r>
                    </a:p>
                  </a:txBody>
                  <a:tcPr/>
                </a:tc>
                <a:tc>
                  <a:txBody>
                    <a:bodyPr/>
                    <a:lstStyle/>
                    <a:p>
                      <a:r>
                        <a:rPr lang="en-IN" dirty="0"/>
                        <a:t>High</a:t>
                      </a:r>
                    </a:p>
                  </a:txBody>
                  <a:tcPr/>
                </a:tc>
                <a:extLst>
                  <a:ext uri="{0D108BD9-81ED-4DB2-BD59-A6C34878D82A}">
                    <a16:rowId xmlns:a16="http://schemas.microsoft.com/office/drawing/2014/main" val="2958724988"/>
                  </a:ext>
                </a:extLst>
              </a:tr>
              <a:tr h="649988">
                <a:tc>
                  <a:txBody>
                    <a:bodyPr/>
                    <a:lstStyle/>
                    <a:p>
                      <a:r>
                        <a:rPr lang="en-IN" dirty="0"/>
                        <a:t>Mysore </a:t>
                      </a:r>
                      <a:r>
                        <a:rPr lang="en-IN" dirty="0" err="1"/>
                        <a:t>pak</a:t>
                      </a:r>
                      <a:r>
                        <a:rPr lang="en-IN" dirty="0"/>
                        <a:t> sweet price</a:t>
                      </a:r>
                    </a:p>
                  </a:txBody>
                  <a:tcPr/>
                </a:tc>
                <a:tc>
                  <a:txBody>
                    <a:bodyPr/>
                    <a:lstStyle/>
                    <a:p>
                      <a:r>
                        <a:rPr lang="en-IN" dirty="0"/>
                        <a:t>100-1k</a:t>
                      </a:r>
                    </a:p>
                  </a:txBody>
                  <a:tcPr/>
                </a:tc>
                <a:tc>
                  <a:txBody>
                    <a:bodyPr/>
                    <a:lstStyle/>
                    <a:p>
                      <a:r>
                        <a:rPr lang="en-IN" dirty="0"/>
                        <a:t>Medium</a:t>
                      </a:r>
                    </a:p>
                  </a:txBody>
                  <a:tcPr/>
                </a:tc>
                <a:extLst>
                  <a:ext uri="{0D108BD9-81ED-4DB2-BD59-A6C34878D82A}">
                    <a16:rowId xmlns:a16="http://schemas.microsoft.com/office/drawing/2014/main" val="2424480280"/>
                  </a:ext>
                </a:extLst>
              </a:tr>
              <a:tr h="649988">
                <a:tc>
                  <a:txBody>
                    <a:bodyPr/>
                    <a:lstStyle/>
                    <a:p>
                      <a:r>
                        <a:rPr lang="en-IN" dirty="0"/>
                        <a:t>Buy Murukku Online</a:t>
                      </a:r>
                    </a:p>
                  </a:txBody>
                  <a:tcPr/>
                </a:tc>
                <a:tc>
                  <a:txBody>
                    <a:bodyPr/>
                    <a:lstStyle/>
                    <a:p>
                      <a:r>
                        <a:rPr lang="en-IN" dirty="0"/>
                        <a:t>100-1k</a:t>
                      </a:r>
                    </a:p>
                  </a:txBody>
                  <a:tcPr/>
                </a:tc>
                <a:tc>
                  <a:txBody>
                    <a:bodyPr/>
                    <a:lstStyle/>
                    <a:p>
                      <a:r>
                        <a:rPr lang="en-IN" dirty="0"/>
                        <a:t>High</a:t>
                      </a:r>
                    </a:p>
                  </a:txBody>
                  <a:tcPr/>
                </a:tc>
                <a:extLst>
                  <a:ext uri="{0D108BD9-81ED-4DB2-BD59-A6C34878D82A}">
                    <a16:rowId xmlns:a16="http://schemas.microsoft.com/office/drawing/2014/main" val="1727751225"/>
                  </a:ext>
                </a:extLst>
              </a:tr>
              <a:tr h="649988">
                <a:tc>
                  <a:txBody>
                    <a:bodyPr/>
                    <a:lstStyle/>
                    <a:p>
                      <a:r>
                        <a:rPr lang="en-US" dirty="0"/>
                        <a:t>South Indian Sweets Home Delivery</a:t>
                      </a:r>
                      <a:endParaRPr lang="en-IN" dirty="0"/>
                    </a:p>
                  </a:txBody>
                  <a:tcPr/>
                </a:tc>
                <a:tc>
                  <a:txBody>
                    <a:bodyPr/>
                    <a:lstStyle/>
                    <a:p>
                      <a:r>
                        <a:rPr lang="en-IN" dirty="0"/>
                        <a:t>100-1k</a:t>
                      </a:r>
                    </a:p>
                  </a:txBody>
                  <a:tcPr/>
                </a:tc>
                <a:tc>
                  <a:txBody>
                    <a:bodyPr/>
                    <a:lstStyle/>
                    <a:p>
                      <a:r>
                        <a:rPr lang="en-IN" dirty="0"/>
                        <a:t>High</a:t>
                      </a:r>
                    </a:p>
                  </a:txBody>
                  <a:tcPr/>
                </a:tc>
                <a:extLst>
                  <a:ext uri="{0D108BD9-81ED-4DB2-BD59-A6C34878D82A}">
                    <a16:rowId xmlns:a16="http://schemas.microsoft.com/office/drawing/2014/main" val="4066610883"/>
                  </a:ext>
                </a:extLst>
              </a:tr>
            </a:tbl>
          </a:graphicData>
        </a:graphic>
      </p:graphicFrame>
      <p:sp>
        <p:nvSpPr>
          <p:cNvPr id="5" name="Rectangle 4">
            <a:extLst>
              <a:ext uri="{FF2B5EF4-FFF2-40B4-BE49-F238E27FC236}">
                <a16:creationId xmlns:a16="http://schemas.microsoft.com/office/drawing/2014/main" id="{5C88AAFA-A1A0-4F69-B646-B337ECCED0F9}"/>
              </a:ext>
            </a:extLst>
          </p:cNvPr>
          <p:cNvSpPr/>
          <p:nvPr/>
        </p:nvSpPr>
        <p:spPr>
          <a:xfrm>
            <a:off x="5883" y="952110"/>
            <a:ext cx="625713" cy="5896465"/>
          </a:xfrm>
          <a:prstGeom prst="rect">
            <a:avLst/>
          </a:prstGeom>
          <a:solidFill>
            <a:schemeClr val="accent2">
              <a:lumMod val="50000"/>
            </a:schemeClr>
          </a:solidFill>
        </p:spPr>
        <p:style>
          <a:lnRef idx="1">
            <a:schemeClr val="accent2"/>
          </a:lnRef>
          <a:fillRef idx="3">
            <a:schemeClr val="accent2"/>
          </a:fillRef>
          <a:effectRef idx="2">
            <a:schemeClr val="accent2"/>
          </a:effectRef>
          <a:fontRef idx="minor">
            <a:schemeClr val="lt1"/>
          </a:fontRef>
        </p:style>
        <p:txBody>
          <a:bodyPr vert="vert270" rtlCol="0" anchor="ctr"/>
          <a:lstStyle/>
          <a:p>
            <a:pPr algn="ctr"/>
            <a:r>
              <a:rPr lang="en-US" sz="2800" b="1" dirty="0"/>
              <a:t>SWEET KARAM COFFEE</a:t>
            </a:r>
            <a:endParaRPr lang="en-IN" sz="2800" b="1" dirty="0"/>
          </a:p>
        </p:txBody>
      </p:sp>
      <p:pic>
        <p:nvPicPr>
          <p:cNvPr id="6" name="Content Placeholder 5">
            <a:extLst>
              <a:ext uri="{FF2B5EF4-FFF2-40B4-BE49-F238E27FC236}">
                <a16:creationId xmlns:a16="http://schemas.microsoft.com/office/drawing/2014/main" id="{75770AB9-87FF-4A8D-9C6F-2972D609844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429" y="0"/>
            <a:ext cx="1131216" cy="948153"/>
          </a:xfrm>
          <a:prstGeom prst="rect">
            <a:avLst/>
          </a:prstGeom>
        </p:spPr>
      </p:pic>
      <p:pic>
        <p:nvPicPr>
          <p:cNvPr id="7" name="Picture 6">
            <a:extLst>
              <a:ext uri="{FF2B5EF4-FFF2-40B4-BE49-F238E27FC236}">
                <a16:creationId xmlns:a16="http://schemas.microsoft.com/office/drawing/2014/main" id="{EC56F73B-7BB3-4B56-AC0D-3BF2EBD37F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854082" y="11733"/>
            <a:ext cx="1337918" cy="941168"/>
          </a:xfrm>
          <a:prstGeom prst="rect">
            <a:avLst/>
          </a:prstGeom>
        </p:spPr>
      </p:pic>
    </p:spTree>
    <p:extLst>
      <p:ext uri="{BB962C8B-B14F-4D97-AF65-F5344CB8AC3E}">
        <p14:creationId xmlns:p14="http://schemas.microsoft.com/office/powerpoint/2010/main" val="232729444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8CAD8A-DF60-45DB-B7BE-8358AABD0E78}"/>
              </a:ext>
            </a:extLst>
          </p:cNvPr>
          <p:cNvSpPr/>
          <p:nvPr/>
        </p:nvSpPr>
        <p:spPr>
          <a:xfrm>
            <a:off x="3846134" y="197963"/>
            <a:ext cx="5524107" cy="650449"/>
          </a:xfrm>
          <a:prstGeom prst="rect">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latin typeface="Georgia" panose="02040502050405020303" pitchFamily="18" charset="0"/>
                <a:cs typeface="Arial" panose="020B0604020202020204" pitchFamily="34" charset="0"/>
              </a:rPr>
              <a:t>KEYWORD MAPPING</a:t>
            </a:r>
          </a:p>
        </p:txBody>
      </p:sp>
      <p:sp>
        <p:nvSpPr>
          <p:cNvPr id="3" name="Rectangle: Rounded Corners 2">
            <a:extLst>
              <a:ext uri="{FF2B5EF4-FFF2-40B4-BE49-F238E27FC236}">
                <a16:creationId xmlns:a16="http://schemas.microsoft.com/office/drawing/2014/main" id="{D00477F9-887E-4A46-968D-1B86B1D98775}"/>
              </a:ext>
            </a:extLst>
          </p:cNvPr>
          <p:cNvSpPr/>
          <p:nvPr/>
        </p:nvSpPr>
        <p:spPr>
          <a:xfrm>
            <a:off x="829559" y="1602557"/>
            <a:ext cx="2790334" cy="820132"/>
          </a:xfrm>
          <a:prstGeom prst="roundRect">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solidFill>
                  <a:schemeClr val="tx1"/>
                </a:solidFill>
              </a:rPr>
              <a:t>HOME PAGE</a:t>
            </a:r>
          </a:p>
        </p:txBody>
      </p:sp>
      <p:sp>
        <p:nvSpPr>
          <p:cNvPr id="4" name="Rectangle: Rounded Corners 3">
            <a:extLst>
              <a:ext uri="{FF2B5EF4-FFF2-40B4-BE49-F238E27FC236}">
                <a16:creationId xmlns:a16="http://schemas.microsoft.com/office/drawing/2014/main" id="{E1AD5224-104B-4639-9D3B-B421BD4C9E18}"/>
              </a:ext>
            </a:extLst>
          </p:cNvPr>
          <p:cNvSpPr/>
          <p:nvPr/>
        </p:nvSpPr>
        <p:spPr>
          <a:xfrm>
            <a:off x="1208202" y="3838281"/>
            <a:ext cx="2790334" cy="820132"/>
          </a:xfrm>
          <a:prstGeom prst="roundRect">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solidFill>
                  <a:schemeClr val="tx1"/>
                </a:solidFill>
              </a:rPr>
              <a:t>PRODUCT PAGE</a:t>
            </a:r>
          </a:p>
        </p:txBody>
      </p:sp>
      <p:pic>
        <p:nvPicPr>
          <p:cNvPr id="5" name="Content Placeholder 5">
            <a:extLst>
              <a:ext uri="{FF2B5EF4-FFF2-40B4-BE49-F238E27FC236}">
                <a16:creationId xmlns:a16="http://schemas.microsoft.com/office/drawing/2014/main" id="{D7CA99B6-1D25-4393-A0EE-F551BCDE8B7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429" y="0"/>
            <a:ext cx="1131216" cy="948153"/>
          </a:xfrm>
          <a:prstGeom prst="rect">
            <a:avLst/>
          </a:prstGeom>
        </p:spPr>
      </p:pic>
      <p:pic>
        <p:nvPicPr>
          <p:cNvPr id="6" name="Picture 5">
            <a:extLst>
              <a:ext uri="{FF2B5EF4-FFF2-40B4-BE49-F238E27FC236}">
                <a16:creationId xmlns:a16="http://schemas.microsoft.com/office/drawing/2014/main" id="{06CF841F-3DEE-4001-A9BE-3ABCF1F87A3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854082" y="11733"/>
            <a:ext cx="1337918" cy="941168"/>
          </a:xfrm>
          <a:prstGeom prst="rect">
            <a:avLst/>
          </a:prstGeom>
        </p:spPr>
      </p:pic>
      <p:sp>
        <p:nvSpPr>
          <p:cNvPr id="7" name="TextBox 6">
            <a:extLst>
              <a:ext uri="{FF2B5EF4-FFF2-40B4-BE49-F238E27FC236}">
                <a16:creationId xmlns:a16="http://schemas.microsoft.com/office/drawing/2014/main" id="{4E9D7148-8593-4150-B001-C50A3734F982}"/>
              </a:ext>
            </a:extLst>
          </p:cNvPr>
          <p:cNvSpPr txBox="1"/>
          <p:nvPr/>
        </p:nvSpPr>
        <p:spPr>
          <a:xfrm>
            <a:off x="4317476" y="1602557"/>
            <a:ext cx="5279011" cy="1754326"/>
          </a:xfrm>
          <a:prstGeom prst="rect">
            <a:avLst/>
          </a:prstGeom>
          <a:noFill/>
        </p:spPr>
        <p:txBody>
          <a:bodyPr wrap="square" rtlCol="0">
            <a:spAutoFit/>
          </a:bodyPr>
          <a:lstStyle/>
          <a:p>
            <a:pPr marL="285750" indent="-285750">
              <a:buFont typeface="Arial" panose="020B0604020202020204" pitchFamily="34" charset="0"/>
              <a:buChar char="•"/>
            </a:pPr>
            <a:r>
              <a:rPr lang="en-US" dirty="0"/>
              <a:t>South Indian Sweets Online.</a:t>
            </a:r>
          </a:p>
          <a:p>
            <a:pPr marL="285750" indent="-285750">
              <a:buFont typeface="Arial" panose="020B0604020202020204" pitchFamily="34" charset="0"/>
              <a:buChar char="•"/>
            </a:pPr>
            <a:r>
              <a:rPr lang="en-US" dirty="0"/>
              <a:t>South Indian Snacks Online</a:t>
            </a:r>
          </a:p>
          <a:p>
            <a:pPr marL="285750" indent="-285750">
              <a:buFont typeface="Arial" panose="020B0604020202020204" pitchFamily="34" charset="0"/>
              <a:buChar char="•"/>
            </a:pPr>
            <a:r>
              <a:rPr lang="en-US" dirty="0"/>
              <a:t>Traditional South Indian Food Online</a:t>
            </a:r>
          </a:p>
          <a:p>
            <a:pPr marL="285750" indent="-285750">
              <a:buFont typeface="Arial" panose="020B0604020202020204" pitchFamily="34" charset="0"/>
              <a:buChar char="•"/>
            </a:pPr>
            <a:r>
              <a:rPr lang="en-US" dirty="0"/>
              <a:t> Authentic South Indian Sweets &amp; Snacks</a:t>
            </a:r>
          </a:p>
          <a:p>
            <a:pPr marL="285750" indent="-285750">
              <a:buFont typeface="Arial" panose="020B0604020202020204" pitchFamily="34" charset="0"/>
              <a:buChar char="•"/>
            </a:pPr>
            <a:r>
              <a:rPr lang="en-US" dirty="0"/>
              <a:t> Buy Indian Sweets Online</a:t>
            </a:r>
          </a:p>
          <a:p>
            <a:pPr marL="285750" indent="-285750">
              <a:buFont typeface="Arial" panose="020B0604020202020204" pitchFamily="34" charset="0"/>
              <a:buChar char="•"/>
            </a:pPr>
            <a:r>
              <a:rPr lang="en-US" dirty="0"/>
              <a:t> South Indian Snacks &amp; Sweets Delivery</a:t>
            </a:r>
            <a:endParaRPr lang="en-IN" dirty="0"/>
          </a:p>
        </p:txBody>
      </p:sp>
      <p:sp>
        <p:nvSpPr>
          <p:cNvPr id="8" name="TextBox 7">
            <a:extLst>
              <a:ext uri="{FF2B5EF4-FFF2-40B4-BE49-F238E27FC236}">
                <a16:creationId xmlns:a16="http://schemas.microsoft.com/office/drawing/2014/main" id="{865DB0E8-ECEF-4F1F-A293-947F20233E37}"/>
              </a:ext>
            </a:extLst>
          </p:cNvPr>
          <p:cNvSpPr txBox="1"/>
          <p:nvPr/>
        </p:nvSpPr>
        <p:spPr>
          <a:xfrm>
            <a:off x="4317475" y="3772294"/>
            <a:ext cx="5382705" cy="3693319"/>
          </a:xfrm>
          <a:prstGeom prst="rect">
            <a:avLst/>
          </a:prstGeom>
          <a:noFill/>
        </p:spPr>
        <p:txBody>
          <a:bodyPr wrap="square" rtlCol="0">
            <a:spAutoFit/>
          </a:bodyPr>
          <a:lstStyle/>
          <a:p>
            <a:pPr marL="285750" indent="-285750">
              <a:buFont typeface="Arial" panose="020B0604020202020204" pitchFamily="34" charset="0"/>
              <a:buChar char="•"/>
            </a:pPr>
            <a:r>
              <a:rPr lang="en-IN" dirty="0"/>
              <a:t>Buy Mysore Pak Online</a:t>
            </a:r>
          </a:p>
          <a:p>
            <a:pPr marL="285750" indent="-285750">
              <a:buFont typeface="Arial" panose="020B0604020202020204" pitchFamily="34" charset="0"/>
              <a:buChar char="•"/>
            </a:pPr>
            <a:r>
              <a:rPr lang="en-IN" dirty="0"/>
              <a:t>Buy Kai Murukku Online</a:t>
            </a:r>
          </a:p>
          <a:p>
            <a:pPr marL="285750" indent="-285750">
              <a:buFont typeface="Arial" panose="020B0604020202020204" pitchFamily="34" charset="0"/>
              <a:buChar char="•"/>
            </a:pPr>
            <a:r>
              <a:rPr lang="en-IN" dirty="0"/>
              <a:t>Buy South Indian Snacks Online</a:t>
            </a:r>
          </a:p>
          <a:p>
            <a:pPr marL="285750" indent="-285750">
              <a:buFont typeface="Arial" panose="020B0604020202020204" pitchFamily="34" charset="0"/>
              <a:buChar char="•"/>
            </a:pPr>
            <a:r>
              <a:rPr lang="en-IN" dirty="0"/>
              <a:t>Buy Banana Chips Online</a:t>
            </a:r>
          </a:p>
          <a:p>
            <a:pPr marL="285750" indent="-285750">
              <a:buFont typeface="Arial" panose="020B0604020202020204" pitchFamily="34" charset="0"/>
              <a:buChar char="•"/>
            </a:pPr>
            <a:r>
              <a:rPr lang="en-IN" dirty="0"/>
              <a:t>Buy Jaggery Sweets Online</a:t>
            </a:r>
          </a:p>
          <a:p>
            <a:pPr marL="285750" indent="-285750">
              <a:buFont typeface="Arial" panose="020B0604020202020204" pitchFamily="34" charset="0"/>
              <a:buChar char="•"/>
            </a:pPr>
            <a:r>
              <a:rPr lang="en-IN" dirty="0"/>
              <a:t>Buy Filter Coffee Online</a:t>
            </a:r>
          </a:p>
          <a:p>
            <a:pPr marL="285750" indent="-285750">
              <a:buFont typeface="Arial" panose="020B0604020202020204" pitchFamily="34" charset="0"/>
              <a:buChar char="•"/>
            </a:pPr>
            <a:r>
              <a:rPr lang="en-IN" dirty="0"/>
              <a:t> Buy ABC Milk Mix Online</a:t>
            </a:r>
          </a:p>
          <a:p>
            <a:pPr marL="285750" indent="-285750">
              <a:buFont typeface="Arial" panose="020B0604020202020204" pitchFamily="34" charset="0"/>
              <a:buChar char="•"/>
            </a:pPr>
            <a:r>
              <a:rPr lang="en-IN" dirty="0"/>
              <a:t> Buy South Indian Sweets Online</a:t>
            </a:r>
          </a:p>
          <a:p>
            <a:pPr marL="285750" indent="-285750">
              <a:buFont typeface="Arial" panose="020B0604020202020204" pitchFamily="34" charset="0"/>
              <a:buChar char="•"/>
            </a:pPr>
            <a:r>
              <a:rPr lang="en-IN" dirty="0"/>
              <a:t> Buy Kerala Banana Chips Online</a:t>
            </a:r>
          </a:p>
          <a:p>
            <a:pPr marL="285750" indent="-285750">
              <a:buFont typeface="Arial" panose="020B0604020202020204" pitchFamily="34" charset="0"/>
              <a:buChar char="•"/>
            </a:pPr>
            <a:r>
              <a:rPr lang="en-IN" dirty="0"/>
              <a:t> Buy Traditional South Indian Sweets Online</a:t>
            </a:r>
            <a:br>
              <a:rPr lang="en-IN" dirty="0"/>
            </a:br>
            <a:r>
              <a:rPr lang="en-IN" dirty="0"/>
              <a:t> </a:t>
            </a:r>
          </a:p>
          <a:p>
            <a:br>
              <a:rPr lang="en-IN" dirty="0"/>
            </a:br>
            <a:endParaRPr lang="en-IN" dirty="0"/>
          </a:p>
        </p:txBody>
      </p:sp>
      <p:sp>
        <p:nvSpPr>
          <p:cNvPr id="9" name="Rectangle 8">
            <a:extLst>
              <a:ext uri="{FF2B5EF4-FFF2-40B4-BE49-F238E27FC236}">
                <a16:creationId xmlns:a16="http://schemas.microsoft.com/office/drawing/2014/main" id="{4B7DCFD6-AFDF-4A9B-A034-521BDFA1FA92}"/>
              </a:ext>
            </a:extLst>
          </p:cNvPr>
          <p:cNvSpPr/>
          <p:nvPr/>
        </p:nvSpPr>
        <p:spPr>
          <a:xfrm>
            <a:off x="5883" y="952110"/>
            <a:ext cx="625713" cy="5896465"/>
          </a:xfrm>
          <a:prstGeom prst="rect">
            <a:avLst/>
          </a:prstGeom>
          <a:solidFill>
            <a:schemeClr val="accent1">
              <a:lumMod val="50000"/>
            </a:schemeClr>
          </a:solidFill>
        </p:spPr>
        <p:style>
          <a:lnRef idx="1">
            <a:schemeClr val="accent2"/>
          </a:lnRef>
          <a:fillRef idx="3">
            <a:schemeClr val="accent2"/>
          </a:fillRef>
          <a:effectRef idx="2">
            <a:schemeClr val="accent2"/>
          </a:effectRef>
          <a:fontRef idx="minor">
            <a:schemeClr val="lt1"/>
          </a:fontRef>
        </p:style>
        <p:txBody>
          <a:bodyPr vert="vert270" rtlCol="0" anchor="ctr"/>
          <a:lstStyle/>
          <a:p>
            <a:pPr algn="ctr"/>
            <a:r>
              <a:rPr lang="en-US" sz="2800" b="1" dirty="0"/>
              <a:t>SWEET KARAM COFFEE</a:t>
            </a:r>
            <a:endParaRPr lang="en-IN" sz="2800" b="1" dirty="0"/>
          </a:p>
        </p:txBody>
      </p:sp>
    </p:spTree>
    <p:extLst>
      <p:ext uri="{BB962C8B-B14F-4D97-AF65-F5344CB8AC3E}">
        <p14:creationId xmlns:p14="http://schemas.microsoft.com/office/powerpoint/2010/main" val="68064218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258CE41-F896-431B-9838-AD9C9463D49E}"/>
              </a:ext>
            </a:extLst>
          </p:cNvPr>
          <p:cNvSpPr/>
          <p:nvPr/>
        </p:nvSpPr>
        <p:spPr>
          <a:xfrm>
            <a:off x="1036948" y="5627800"/>
            <a:ext cx="10746557" cy="942681"/>
          </a:xfrm>
          <a:prstGeom prst="rect">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IN" sz="2000" b="1" dirty="0"/>
              <a:t>Home Page → Broad, high-volume keywords (commercial + transactional mix). </a:t>
            </a:r>
          </a:p>
          <a:p>
            <a:pPr marL="285750" indent="-285750">
              <a:buFont typeface="Arial" panose="020B0604020202020204" pitchFamily="34" charset="0"/>
              <a:buChar char="•"/>
            </a:pPr>
            <a:r>
              <a:rPr lang="en-IN" sz="2000" b="1" dirty="0"/>
              <a:t>Product Pages → Transactional keywords (specific products + “price/buy online”). </a:t>
            </a:r>
          </a:p>
          <a:p>
            <a:pPr marL="285750" indent="-285750">
              <a:buFont typeface="Arial" panose="020B0604020202020204" pitchFamily="34" charset="0"/>
              <a:buChar char="•"/>
            </a:pPr>
            <a:r>
              <a:rPr lang="en-IN" sz="2000" b="1" dirty="0"/>
              <a:t>Blog → Informational keywords (guides, comparisons, how-to content).</a:t>
            </a:r>
          </a:p>
        </p:txBody>
      </p:sp>
      <p:sp>
        <p:nvSpPr>
          <p:cNvPr id="3" name="Rectangle 2">
            <a:extLst>
              <a:ext uri="{FF2B5EF4-FFF2-40B4-BE49-F238E27FC236}">
                <a16:creationId xmlns:a16="http://schemas.microsoft.com/office/drawing/2014/main" id="{E2D7B886-BA5B-48C8-B2C0-CD02A584190D}"/>
              </a:ext>
            </a:extLst>
          </p:cNvPr>
          <p:cNvSpPr/>
          <p:nvPr/>
        </p:nvSpPr>
        <p:spPr>
          <a:xfrm>
            <a:off x="3846134" y="197963"/>
            <a:ext cx="5524107" cy="650449"/>
          </a:xfrm>
          <a:prstGeom prst="rect">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latin typeface="Georgia" panose="02040502050405020303" pitchFamily="18" charset="0"/>
                <a:cs typeface="Arial" panose="020B0604020202020204" pitchFamily="34" charset="0"/>
              </a:rPr>
              <a:t>KEYWORD MAPPING</a:t>
            </a:r>
          </a:p>
        </p:txBody>
      </p:sp>
      <p:pic>
        <p:nvPicPr>
          <p:cNvPr id="4" name="Content Placeholder 5">
            <a:extLst>
              <a:ext uri="{FF2B5EF4-FFF2-40B4-BE49-F238E27FC236}">
                <a16:creationId xmlns:a16="http://schemas.microsoft.com/office/drawing/2014/main" id="{0516E113-3422-4CBA-9382-7C94B11996D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429" y="0"/>
            <a:ext cx="1131216" cy="948153"/>
          </a:xfrm>
          <a:prstGeom prst="rect">
            <a:avLst/>
          </a:prstGeom>
        </p:spPr>
      </p:pic>
      <p:pic>
        <p:nvPicPr>
          <p:cNvPr id="5" name="Picture 4">
            <a:extLst>
              <a:ext uri="{FF2B5EF4-FFF2-40B4-BE49-F238E27FC236}">
                <a16:creationId xmlns:a16="http://schemas.microsoft.com/office/drawing/2014/main" id="{FFFCB9DA-9DBE-4F3B-8C82-FCC3731B3CB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854082" y="0"/>
            <a:ext cx="1337918" cy="941168"/>
          </a:xfrm>
          <a:prstGeom prst="rect">
            <a:avLst/>
          </a:prstGeom>
        </p:spPr>
      </p:pic>
      <p:sp>
        <p:nvSpPr>
          <p:cNvPr id="6" name="Rectangle: Rounded Corners 5">
            <a:extLst>
              <a:ext uri="{FF2B5EF4-FFF2-40B4-BE49-F238E27FC236}">
                <a16:creationId xmlns:a16="http://schemas.microsoft.com/office/drawing/2014/main" id="{470F8B4E-3D10-4A2C-83F9-93E3CDF3E2E3}"/>
              </a:ext>
            </a:extLst>
          </p:cNvPr>
          <p:cNvSpPr/>
          <p:nvPr/>
        </p:nvSpPr>
        <p:spPr>
          <a:xfrm>
            <a:off x="661447" y="1905786"/>
            <a:ext cx="2790334" cy="820132"/>
          </a:xfrm>
          <a:prstGeom prst="roundRect">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solidFill>
                  <a:schemeClr val="tx1"/>
                </a:solidFill>
              </a:rPr>
              <a:t>BLOG PAGE</a:t>
            </a:r>
          </a:p>
        </p:txBody>
      </p:sp>
      <p:sp>
        <p:nvSpPr>
          <p:cNvPr id="7" name="TextBox 6">
            <a:extLst>
              <a:ext uri="{FF2B5EF4-FFF2-40B4-BE49-F238E27FC236}">
                <a16:creationId xmlns:a16="http://schemas.microsoft.com/office/drawing/2014/main" id="{03BB2380-E848-479B-91B5-D129BD88798C}"/>
              </a:ext>
            </a:extLst>
          </p:cNvPr>
          <p:cNvSpPr txBox="1"/>
          <p:nvPr/>
        </p:nvSpPr>
        <p:spPr>
          <a:xfrm>
            <a:off x="4666268" y="1188173"/>
            <a:ext cx="5524107" cy="4204356"/>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dirty="0"/>
              <a:t>What is Mysore Pak?</a:t>
            </a:r>
          </a:p>
          <a:p>
            <a:pPr marL="285750" indent="-285750">
              <a:lnSpc>
                <a:spcPct val="150000"/>
              </a:lnSpc>
              <a:buFont typeface="Arial" panose="020B0604020202020204" pitchFamily="34" charset="0"/>
              <a:buChar char="•"/>
            </a:pPr>
            <a:r>
              <a:rPr lang="en-US" dirty="0"/>
              <a:t>What is Kai Murukku?</a:t>
            </a:r>
          </a:p>
          <a:p>
            <a:pPr marL="285750" indent="-285750">
              <a:lnSpc>
                <a:spcPct val="150000"/>
              </a:lnSpc>
              <a:buFont typeface="Arial" panose="020B0604020202020204" pitchFamily="34" charset="0"/>
              <a:buChar char="•"/>
            </a:pPr>
            <a:r>
              <a:rPr lang="en-US" dirty="0"/>
              <a:t> Traditional South Indian Sweets and Their History</a:t>
            </a:r>
          </a:p>
          <a:p>
            <a:pPr marL="285750" indent="-285750">
              <a:lnSpc>
                <a:spcPct val="150000"/>
              </a:lnSpc>
              <a:buFont typeface="Arial" panose="020B0604020202020204" pitchFamily="34" charset="0"/>
              <a:buChar char="•"/>
            </a:pPr>
            <a:r>
              <a:rPr lang="en-US" dirty="0"/>
              <a:t>Types of South Indian Snacks</a:t>
            </a:r>
          </a:p>
          <a:p>
            <a:pPr marL="285750" indent="-285750">
              <a:lnSpc>
                <a:spcPct val="150000"/>
              </a:lnSpc>
              <a:buFont typeface="Arial" panose="020B0604020202020204" pitchFamily="34" charset="0"/>
              <a:buChar char="•"/>
            </a:pPr>
            <a:r>
              <a:rPr lang="en-US" dirty="0"/>
              <a:t>Traditional Jaggery Sweets from South India</a:t>
            </a:r>
          </a:p>
          <a:p>
            <a:pPr marL="285750" indent="-285750">
              <a:lnSpc>
                <a:spcPct val="150000"/>
              </a:lnSpc>
              <a:buFont typeface="Arial" panose="020B0604020202020204" pitchFamily="34" charset="0"/>
              <a:buChar char="•"/>
            </a:pPr>
            <a:r>
              <a:rPr lang="en-US" dirty="0"/>
              <a:t> Best South Indian Snacks for Evening Coffee</a:t>
            </a:r>
          </a:p>
          <a:p>
            <a:pPr marL="285750" indent="-285750">
              <a:lnSpc>
                <a:spcPct val="150000"/>
              </a:lnSpc>
              <a:buFont typeface="Arial" panose="020B0604020202020204" pitchFamily="34" charset="0"/>
              <a:buChar char="•"/>
            </a:pPr>
            <a:r>
              <a:rPr lang="en-US" dirty="0"/>
              <a:t> South Indian Snacks for Tea Time </a:t>
            </a:r>
          </a:p>
          <a:p>
            <a:pPr marL="285750" indent="-285750">
              <a:lnSpc>
                <a:spcPct val="150000"/>
              </a:lnSpc>
              <a:buFont typeface="Arial" panose="020B0604020202020204" pitchFamily="34" charset="0"/>
              <a:buChar char="•"/>
            </a:pPr>
            <a:r>
              <a:rPr lang="en-US" dirty="0"/>
              <a:t>Traditional Sweets for Indian Festivals</a:t>
            </a:r>
          </a:p>
          <a:p>
            <a:pPr marL="285750" indent="-285750">
              <a:lnSpc>
                <a:spcPct val="150000"/>
              </a:lnSpc>
              <a:buFont typeface="Arial" panose="020B0604020202020204" pitchFamily="34" charset="0"/>
              <a:buChar char="•"/>
            </a:pPr>
            <a:r>
              <a:rPr lang="en-US" dirty="0"/>
              <a:t>Difference Between Murukku and Kai Murukku</a:t>
            </a:r>
          </a:p>
          <a:p>
            <a:pPr marL="285750" indent="-285750">
              <a:lnSpc>
                <a:spcPct val="150000"/>
              </a:lnSpc>
              <a:buFont typeface="Arial" panose="020B0604020202020204" pitchFamily="34" charset="0"/>
              <a:buChar char="•"/>
            </a:pPr>
            <a:r>
              <a:rPr lang="en-US" dirty="0"/>
              <a:t>Why Jaggery is Used in Traditional Indian Sweets</a:t>
            </a:r>
            <a:endParaRPr lang="en-IN" dirty="0"/>
          </a:p>
        </p:txBody>
      </p:sp>
      <p:sp>
        <p:nvSpPr>
          <p:cNvPr id="8" name="Rectangle 7">
            <a:extLst>
              <a:ext uri="{FF2B5EF4-FFF2-40B4-BE49-F238E27FC236}">
                <a16:creationId xmlns:a16="http://schemas.microsoft.com/office/drawing/2014/main" id="{A3E7EC67-E229-489A-93F4-38E79003622A}"/>
              </a:ext>
            </a:extLst>
          </p:cNvPr>
          <p:cNvSpPr/>
          <p:nvPr/>
        </p:nvSpPr>
        <p:spPr>
          <a:xfrm>
            <a:off x="5883" y="952110"/>
            <a:ext cx="625713" cy="5896465"/>
          </a:xfrm>
          <a:prstGeom prst="rect">
            <a:avLst/>
          </a:prstGeom>
          <a:solidFill>
            <a:schemeClr val="accent6">
              <a:lumMod val="50000"/>
            </a:schemeClr>
          </a:solidFill>
        </p:spPr>
        <p:style>
          <a:lnRef idx="1">
            <a:schemeClr val="accent2"/>
          </a:lnRef>
          <a:fillRef idx="3">
            <a:schemeClr val="accent2"/>
          </a:fillRef>
          <a:effectRef idx="2">
            <a:schemeClr val="accent2"/>
          </a:effectRef>
          <a:fontRef idx="minor">
            <a:schemeClr val="lt1"/>
          </a:fontRef>
        </p:style>
        <p:txBody>
          <a:bodyPr vert="vert270" rtlCol="0" anchor="ctr"/>
          <a:lstStyle/>
          <a:p>
            <a:pPr algn="ctr"/>
            <a:r>
              <a:rPr lang="en-US" sz="2800" b="1" dirty="0"/>
              <a:t>SWEET KARAM COFFEE</a:t>
            </a:r>
            <a:endParaRPr lang="en-IN" sz="2800" b="1" dirty="0"/>
          </a:p>
        </p:txBody>
      </p:sp>
    </p:spTree>
    <p:extLst>
      <p:ext uri="{BB962C8B-B14F-4D97-AF65-F5344CB8AC3E}">
        <p14:creationId xmlns:p14="http://schemas.microsoft.com/office/powerpoint/2010/main" val="56972943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1A13CB5-17C6-480A-A910-C5451444A654}"/>
              </a:ext>
            </a:extLst>
          </p:cNvPr>
          <p:cNvSpPr/>
          <p:nvPr/>
        </p:nvSpPr>
        <p:spPr>
          <a:xfrm>
            <a:off x="4213781" y="141403"/>
            <a:ext cx="4911365" cy="584462"/>
          </a:xfrm>
          <a:prstGeom prst="rect">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800" b="1" dirty="0"/>
              <a:t>KEYWORD CLUSTER</a:t>
            </a:r>
          </a:p>
        </p:txBody>
      </p:sp>
      <p:graphicFrame>
        <p:nvGraphicFramePr>
          <p:cNvPr id="4" name="Table 3">
            <a:extLst>
              <a:ext uri="{FF2B5EF4-FFF2-40B4-BE49-F238E27FC236}">
                <a16:creationId xmlns:a16="http://schemas.microsoft.com/office/drawing/2014/main" id="{09A7F964-692E-46A6-9B27-8EDF27E1EDAD}"/>
              </a:ext>
            </a:extLst>
          </p:cNvPr>
          <p:cNvGraphicFramePr>
            <a:graphicFrameLocks noGrp="1"/>
          </p:cNvGraphicFramePr>
          <p:nvPr>
            <p:extLst>
              <p:ext uri="{D42A27DB-BD31-4B8C-83A1-F6EECF244321}">
                <p14:modId xmlns:p14="http://schemas.microsoft.com/office/powerpoint/2010/main" val="2216829324"/>
              </p:ext>
            </p:extLst>
          </p:nvPr>
        </p:nvGraphicFramePr>
        <p:xfrm>
          <a:off x="867266" y="993047"/>
          <a:ext cx="11145624" cy="5674360"/>
        </p:xfrm>
        <a:graphic>
          <a:graphicData uri="http://schemas.openxmlformats.org/drawingml/2006/table">
            <a:tbl>
              <a:tblPr firstRow="1" bandRow="1">
                <a:tableStyleId>{5C22544A-7EE6-4342-B048-85BDC9FD1C3A}</a:tableStyleId>
              </a:tblPr>
              <a:tblGrid>
                <a:gridCol w="3715208">
                  <a:extLst>
                    <a:ext uri="{9D8B030D-6E8A-4147-A177-3AD203B41FA5}">
                      <a16:colId xmlns:a16="http://schemas.microsoft.com/office/drawing/2014/main" val="2301968065"/>
                    </a:ext>
                  </a:extLst>
                </a:gridCol>
                <a:gridCol w="3715208">
                  <a:extLst>
                    <a:ext uri="{9D8B030D-6E8A-4147-A177-3AD203B41FA5}">
                      <a16:colId xmlns:a16="http://schemas.microsoft.com/office/drawing/2014/main" val="2642929837"/>
                    </a:ext>
                  </a:extLst>
                </a:gridCol>
                <a:gridCol w="3715208">
                  <a:extLst>
                    <a:ext uri="{9D8B030D-6E8A-4147-A177-3AD203B41FA5}">
                      <a16:colId xmlns:a16="http://schemas.microsoft.com/office/drawing/2014/main" val="1398269160"/>
                    </a:ext>
                  </a:extLst>
                </a:gridCol>
              </a:tblGrid>
              <a:tr h="370840">
                <a:tc>
                  <a:txBody>
                    <a:bodyPr/>
                    <a:lstStyle/>
                    <a:p>
                      <a:pPr algn="ctr"/>
                      <a:r>
                        <a:rPr lang="en-US" dirty="0"/>
                        <a:t>CLUSTER NAME </a:t>
                      </a:r>
                      <a:endParaRPr lang="en-IN" dirty="0"/>
                    </a:p>
                  </a:txBody>
                  <a:tcPr/>
                </a:tc>
                <a:tc>
                  <a:txBody>
                    <a:bodyPr/>
                    <a:lstStyle/>
                    <a:p>
                      <a:pPr algn="ctr"/>
                      <a:r>
                        <a:rPr lang="en-IN" dirty="0"/>
                        <a:t>PRIMARY KEYWORD</a:t>
                      </a:r>
                    </a:p>
                  </a:txBody>
                  <a:tcPr/>
                </a:tc>
                <a:tc>
                  <a:txBody>
                    <a:bodyPr/>
                    <a:lstStyle/>
                    <a:p>
                      <a:pPr algn="ctr"/>
                      <a:r>
                        <a:rPr lang="en-IN" dirty="0"/>
                        <a:t>SECONDARY KEYWORD</a:t>
                      </a:r>
                    </a:p>
                  </a:txBody>
                  <a:tcPr/>
                </a:tc>
                <a:extLst>
                  <a:ext uri="{0D108BD9-81ED-4DB2-BD59-A6C34878D82A}">
                    <a16:rowId xmlns:a16="http://schemas.microsoft.com/office/drawing/2014/main" val="2416800801"/>
                  </a:ext>
                </a:extLst>
              </a:tr>
              <a:tr h="370840">
                <a:tc>
                  <a:txBody>
                    <a:bodyPr/>
                    <a:lstStyle/>
                    <a:p>
                      <a:r>
                        <a:rPr lang="en-IN" dirty="0"/>
                        <a:t>South Indian Sweets</a:t>
                      </a:r>
                    </a:p>
                  </a:txBody>
                  <a:tcPr/>
                </a:tc>
                <a:tc>
                  <a:txBody>
                    <a:bodyPr/>
                    <a:lstStyle/>
                    <a:p>
                      <a:r>
                        <a:rPr lang="en-IN" dirty="0"/>
                        <a:t>South Indian sweets</a:t>
                      </a:r>
                    </a:p>
                  </a:txBody>
                  <a:tcPr/>
                </a:tc>
                <a:tc>
                  <a:txBody>
                    <a:bodyPr/>
                    <a:lstStyle/>
                    <a:p>
                      <a:r>
                        <a:rPr lang="en-US" dirty="0"/>
                        <a:t>Traditional south </a:t>
                      </a:r>
                      <a:r>
                        <a:rPr lang="en-US" dirty="0" err="1"/>
                        <a:t>indian</a:t>
                      </a:r>
                      <a:r>
                        <a:rPr lang="en-US" dirty="0"/>
                        <a:t> sweets, south </a:t>
                      </a:r>
                      <a:r>
                        <a:rPr lang="en-US" dirty="0" err="1"/>
                        <a:t>indian</a:t>
                      </a:r>
                      <a:r>
                        <a:rPr lang="en-US" dirty="0"/>
                        <a:t> sweets online, </a:t>
                      </a:r>
                      <a:r>
                        <a:rPr lang="en-US" dirty="0" err="1"/>
                        <a:t>mysore</a:t>
                      </a:r>
                      <a:r>
                        <a:rPr lang="en-US" dirty="0"/>
                        <a:t> </a:t>
                      </a:r>
                      <a:r>
                        <a:rPr lang="en-US" dirty="0" err="1"/>
                        <a:t>pak</a:t>
                      </a:r>
                      <a:endParaRPr lang="en-IN" dirty="0"/>
                    </a:p>
                  </a:txBody>
                  <a:tcPr/>
                </a:tc>
                <a:extLst>
                  <a:ext uri="{0D108BD9-81ED-4DB2-BD59-A6C34878D82A}">
                    <a16:rowId xmlns:a16="http://schemas.microsoft.com/office/drawing/2014/main" val="2291586550"/>
                  </a:ext>
                </a:extLst>
              </a:tr>
              <a:tr h="370840">
                <a:tc>
                  <a:txBody>
                    <a:bodyPr/>
                    <a:lstStyle/>
                    <a:p>
                      <a:r>
                        <a:rPr lang="en-IN" dirty="0"/>
                        <a:t>South Indian Snacks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South Indian Snacks</a:t>
                      </a:r>
                    </a:p>
                  </a:txBody>
                  <a:tcPr/>
                </a:tc>
                <a:tc>
                  <a:txBody>
                    <a:bodyPr/>
                    <a:lstStyle/>
                    <a:p>
                      <a:r>
                        <a:rPr lang="en-IN" dirty="0"/>
                        <a:t>Traditional South Indian snacks, murukku, kai murukku</a:t>
                      </a:r>
                    </a:p>
                  </a:txBody>
                  <a:tcPr/>
                </a:tc>
                <a:extLst>
                  <a:ext uri="{0D108BD9-81ED-4DB2-BD59-A6C34878D82A}">
                    <a16:rowId xmlns:a16="http://schemas.microsoft.com/office/drawing/2014/main" val="1846154269"/>
                  </a:ext>
                </a:extLst>
              </a:tr>
              <a:tr h="370840">
                <a:tc>
                  <a:txBody>
                    <a:bodyPr/>
                    <a:lstStyle/>
                    <a:p>
                      <a:r>
                        <a:rPr lang="en-IN" dirty="0"/>
                        <a:t>Jaggery Sweets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Jaggery Sweets</a:t>
                      </a:r>
                    </a:p>
                  </a:txBody>
                  <a:tcPr/>
                </a:tc>
                <a:tc>
                  <a:txBody>
                    <a:bodyPr/>
                    <a:lstStyle/>
                    <a:p>
                      <a:r>
                        <a:rPr lang="en-US" dirty="0"/>
                        <a:t>Jaggery-based sweets, sweets without white sugar, traditional jaggery sweets.</a:t>
                      </a:r>
                      <a:endParaRPr lang="en-IN" dirty="0"/>
                    </a:p>
                  </a:txBody>
                  <a:tcPr/>
                </a:tc>
                <a:extLst>
                  <a:ext uri="{0D108BD9-81ED-4DB2-BD59-A6C34878D82A}">
                    <a16:rowId xmlns:a16="http://schemas.microsoft.com/office/drawing/2014/main" val="150984385"/>
                  </a:ext>
                </a:extLst>
              </a:tr>
              <a:tr h="370840">
                <a:tc>
                  <a:txBody>
                    <a:bodyPr/>
                    <a:lstStyle/>
                    <a:p>
                      <a:r>
                        <a:rPr lang="en-IN" dirty="0"/>
                        <a:t>Regional Snacks</a:t>
                      </a:r>
                    </a:p>
                  </a:txBody>
                  <a:tcPr/>
                </a:tc>
                <a:tc>
                  <a:txBody>
                    <a:bodyPr/>
                    <a:lstStyle/>
                    <a:p>
                      <a:r>
                        <a:rPr lang="en-IN" dirty="0"/>
                        <a:t>Traditional Indian snacks</a:t>
                      </a:r>
                    </a:p>
                  </a:txBody>
                  <a:tcPr/>
                </a:tc>
                <a:tc>
                  <a:txBody>
                    <a:bodyPr/>
                    <a:lstStyle/>
                    <a:p>
                      <a:r>
                        <a:rPr lang="en-IN" dirty="0" err="1"/>
                        <a:t>kerala</a:t>
                      </a:r>
                      <a:r>
                        <a:rPr lang="en-IN" dirty="0"/>
                        <a:t> banana chips, </a:t>
                      </a:r>
                      <a:r>
                        <a:rPr lang="en-IN" dirty="0" err="1"/>
                        <a:t>andhra</a:t>
                      </a:r>
                      <a:r>
                        <a:rPr lang="en-IN" dirty="0"/>
                        <a:t> murukku, onion </a:t>
                      </a:r>
                      <a:r>
                        <a:rPr lang="en-IN" dirty="0" err="1"/>
                        <a:t>kodubale</a:t>
                      </a:r>
                      <a:r>
                        <a:rPr lang="en-IN" dirty="0"/>
                        <a:t>, regional snacks</a:t>
                      </a:r>
                    </a:p>
                  </a:txBody>
                  <a:tcPr/>
                </a:tc>
                <a:extLst>
                  <a:ext uri="{0D108BD9-81ED-4DB2-BD59-A6C34878D82A}">
                    <a16:rowId xmlns:a16="http://schemas.microsoft.com/office/drawing/2014/main" val="1457419524"/>
                  </a:ext>
                </a:extLst>
              </a:tr>
              <a:tr h="370840">
                <a:tc>
                  <a:txBody>
                    <a:bodyPr/>
                    <a:lstStyle/>
                    <a:p>
                      <a:r>
                        <a:rPr lang="en-IN" dirty="0"/>
                        <a:t>Product / Transactional</a:t>
                      </a:r>
                    </a:p>
                  </a:txBody>
                  <a:tcPr/>
                </a:tc>
                <a:tc>
                  <a:txBody>
                    <a:bodyPr/>
                    <a:lstStyle/>
                    <a:p>
                      <a:r>
                        <a:rPr lang="en-US" dirty="0"/>
                        <a:t>Buy South Indian sweets online</a:t>
                      </a:r>
                      <a:endParaRPr lang="en-IN" dirty="0"/>
                    </a:p>
                  </a:txBody>
                  <a:tcPr/>
                </a:tc>
                <a:tc>
                  <a:txBody>
                    <a:bodyPr/>
                    <a:lstStyle/>
                    <a:p>
                      <a:r>
                        <a:rPr lang="en-IN" dirty="0"/>
                        <a:t>Buy </a:t>
                      </a:r>
                      <a:r>
                        <a:rPr lang="en-IN" dirty="0" err="1"/>
                        <a:t>mysore</a:t>
                      </a:r>
                      <a:r>
                        <a:rPr lang="en-IN" dirty="0"/>
                        <a:t> </a:t>
                      </a:r>
                      <a:r>
                        <a:rPr lang="en-IN" dirty="0" err="1"/>
                        <a:t>pak</a:t>
                      </a:r>
                      <a:r>
                        <a:rPr lang="en-IN" dirty="0"/>
                        <a:t> online, buy </a:t>
                      </a:r>
                      <a:r>
                        <a:rPr lang="en-IN" dirty="0" err="1"/>
                        <a:t>athirasam</a:t>
                      </a:r>
                      <a:r>
                        <a:rPr lang="en-IN" dirty="0"/>
                        <a:t> online, buy murukku online, buy banana chips online</a:t>
                      </a:r>
                    </a:p>
                  </a:txBody>
                  <a:tcPr/>
                </a:tc>
                <a:extLst>
                  <a:ext uri="{0D108BD9-81ED-4DB2-BD59-A6C34878D82A}">
                    <a16:rowId xmlns:a16="http://schemas.microsoft.com/office/drawing/2014/main" val="1535915146"/>
                  </a:ext>
                </a:extLst>
              </a:tr>
              <a:tr h="370840">
                <a:tc>
                  <a:txBody>
                    <a:bodyPr/>
                    <a:lstStyle/>
                    <a:p>
                      <a:r>
                        <a:rPr lang="en-IN" dirty="0"/>
                        <a:t>Coffee &amp; Milk Mixes</a:t>
                      </a:r>
                    </a:p>
                  </a:txBody>
                  <a:tcPr/>
                </a:tc>
                <a:tc>
                  <a:txBody>
                    <a:bodyPr/>
                    <a:lstStyle/>
                    <a:p>
                      <a:r>
                        <a:rPr lang="en-IN" dirty="0"/>
                        <a:t>Filter coffee</a:t>
                      </a:r>
                    </a:p>
                  </a:txBody>
                  <a:tcPr/>
                </a:tc>
                <a:tc>
                  <a:txBody>
                    <a:bodyPr/>
                    <a:lstStyle/>
                    <a:p>
                      <a:r>
                        <a:rPr lang="en-IN" dirty="0"/>
                        <a:t>South Indian filter coffee, filter coffee powder, instant filter coffee, milk mix</a:t>
                      </a:r>
                    </a:p>
                  </a:txBody>
                  <a:tcPr/>
                </a:tc>
                <a:extLst>
                  <a:ext uri="{0D108BD9-81ED-4DB2-BD59-A6C34878D82A}">
                    <a16:rowId xmlns:a16="http://schemas.microsoft.com/office/drawing/2014/main" val="3140762363"/>
                  </a:ext>
                </a:extLst>
              </a:tr>
              <a:tr h="370840">
                <a:tc>
                  <a:txBody>
                    <a:bodyPr/>
                    <a:lstStyle/>
                    <a:p>
                      <a:r>
                        <a:rPr lang="en-IN" dirty="0"/>
                        <a:t>Health / Ingredients</a:t>
                      </a:r>
                    </a:p>
                  </a:txBody>
                  <a:tcPr/>
                </a:tc>
                <a:tc>
                  <a:txBody>
                    <a:bodyPr/>
                    <a:lstStyle/>
                    <a:p>
                      <a:r>
                        <a:rPr lang="en-IN" dirty="0"/>
                        <a:t>Jaggery based sweets</a:t>
                      </a:r>
                    </a:p>
                  </a:txBody>
                  <a:tcPr/>
                </a:tc>
                <a:tc>
                  <a:txBody>
                    <a:bodyPr/>
                    <a:lstStyle/>
                    <a:p>
                      <a:r>
                        <a:rPr lang="en-US" dirty="0"/>
                        <a:t>No white sugar sweets, no </a:t>
                      </a:r>
                      <a:r>
                        <a:rPr lang="en-US" dirty="0" err="1"/>
                        <a:t>maida</a:t>
                      </a:r>
                      <a:r>
                        <a:rPr lang="en-US" dirty="0"/>
                        <a:t> snacks, no palm oil snacks, preservative free sweets</a:t>
                      </a:r>
                      <a:endParaRPr lang="en-IN" dirty="0"/>
                    </a:p>
                  </a:txBody>
                  <a:tcPr/>
                </a:tc>
                <a:extLst>
                  <a:ext uri="{0D108BD9-81ED-4DB2-BD59-A6C34878D82A}">
                    <a16:rowId xmlns:a16="http://schemas.microsoft.com/office/drawing/2014/main" val="2356730545"/>
                  </a:ext>
                </a:extLst>
              </a:tr>
            </a:tbl>
          </a:graphicData>
        </a:graphic>
      </p:graphicFrame>
      <p:pic>
        <p:nvPicPr>
          <p:cNvPr id="5" name="Content Placeholder 5">
            <a:extLst>
              <a:ext uri="{FF2B5EF4-FFF2-40B4-BE49-F238E27FC236}">
                <a16:creationId xmlns:a16="http://schemas.microsoft.com/office/drawing/2014/main" id="{4D65F78A-34F0-4A32-8633-B87BC9B52D2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429" y="0"/>
            <a:ext cx="1131216" cy="948153"/>
          </a:xfrm>
          <a:prstGeom prst="rect">
            <a:avLst/>
          </a:prstGeom>
        </p:spPr>
      </p:pic>
      <p:pic>
        <p:nvPicPr>
          <p:cNvPr id="6" name="Picture 5">
            <a:extLst>
              <a:ext uri="{FF2B5EF4-FFF2-40B4-BE49-F238E27FC236}">
                <a16:creationId xmlns:a16="http://schemas.microsoft.com/office/drawing/2014/main" id="{8E894CDC-772A-4F41-865A-B96D4655B70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854082" y="0"/>
            <a:ext cx="1337918" cy="941168"/>
          </a:xfrm>
          <a:prstGeom prst="rect">
            <a:avLst/>
          </a:prstGeom>
        </p:spPr>
      </p:pic>
      <p:sp>
        <p:nvSpPr>
          <p:cNvPr id="7" name="Rectangle 6">
            <a:extLst>
              <a:ext uri="{FF2B5EF4-FFF2-40B4-BE49-F238E27FC236}">
                <a16:creationId xmlns:a16="http://schemas.microsoft.com/office/drawing/2014/main" id="{9429F754-5552-4687-B427-D9139A405A3F}"/>
              </a:ext>
            </a:extLst>
          </p:cNvPr>
          <p:cNvSpPr/>
          <p:nvPr/>
        </p:nvSpPr>
        <p:spPr>
          <a:xfrm>
            <a:off x="5883" y="952110"/>
            <a:ext cx="625713" cy="5896465"/>
          </a:xfrm>
          <a:prstGeom prst="rect">
            <a:avLst/>
          </a:prstGeom>
          <a:solidFill>
            <a:schemeClr val="accent2">
              <a:lumMod val="50000"/>
            </a:schemeClr>
          </a:solidFill>
        </p:spPr>
        <p:style>
          <a:lnRef idx="1">
            <a:schemeClr val="accent2"/>
          </a:lnRef>
          <a:fillRef idx="3">
            <a:schemeClr val="accent2"/>
          </a:fillRef>
          <a:effectRef idx="2">
            <a:schemeClr val="accent2"/>
          </a:effectRef>
          <a:fontRef idx="minor">
            <a:schemeClr val="lt1"/>
          </a:fontRef>
        </p:style>
        <p:txBody>
          <a:bodyPr vert="vert270" rtlCol="0" anchor="ctr"/>
          <a:lstStyle/>
          <a:p>
            <a:pPr algn="ctr"/>
            <a:r>
              <a:rPr lang="en-US" sz="2800" b="1" dirty="0"/>
              <a:t>SWEET KARAM COFFEE</a:t>
            </a:r>
            <a:endParaRPr lang="en-IN" sz="2800" b="1" dirty="0"/>
          </a:p>
        </p:txBody>
      </p:sp>
    </p:spTree>
    <p:extLst>
      <p:ext uri="{BB962C8B-B14F-4D97-AF65-F5344CB8AC3E}">
        <p14:creationId xmlns:p14="http://schemas.microsoft.com/office/powerpoint/2010/main" val="21666466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Content Placeholder 5">
            <a:extLst>
              <a:ext uri="{FF2B5EF4-FFF2-40B4-BE49-F238E27FC236}">
                <a16:creationId xmlns:a16="http://schemas.microsoft.com/office/drawing/2014/main" id="{58E1887A-EA4E-4A7C-BCA1-DE0916B0CA0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429" y="0"/>
            <a:ext cx="1131216" cy="948153"/>
          </a:xfrm>
          <a:prstGeom prst="rect">
            <a:avLst/>
          </a:prstGeom>
        </p:spPr>
      </p:pic>
      <p:pic>
        <p:nvPicPr>
          <p:cNvPr id="3" name="Picture 2">
            <a:extLst>
              <a:ext uri="{FF2B5EF4-FFF2-40B4-BE49-F238E27FC236}">
                <a16:creationId xmlns:a16="http://schemas.microsoft.com/office/drawing/2014/main" id="{E2CF8763-B0DC-4D67-B418-996172EA46F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854082" y="11733"/>
            <a:ext cx="1337918" cy="941168"/>
          </a:xfrm>
          <a:prstGeom prst="rect">
            <a:avLst/>
          </a:prstGeom>
        </p:spPr>
      </p:pic>
      <p:sp>
        <p:nvSpPr>
          <p:cNvPr id="4" name="Rectangle 3">
            <a:extLst>
              <a:ext uri="{FF2B5EF4-FFF2-40B4-BE49-F238E27FC236}">
                <a16:creationId xmlns:a16="http://schemas.microsoft.com/office/drawing/2014/main" id="{B203FAD5-08F5-41F7-A38B-5B1A00806F6D}"/>
              </a:ext>
            </a:extLst>
          </p:cNvPr>
          <p:cNvSpPr/>
          <p:nvPr/>
        </p:nvSpPr>
        <p:spPr>
          <a:xfrm>
            <a:off x="3214540" y="320511"/>
            <a:ext cx="5637229" cy="627642"/>
          </a:xfrm>
          <a:prstGeom prst="rect">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t>BLOG CONTENT FOR SEO</a:t>
            </a:r>
            <a:endParaRPr lang="en-IN" sz="2800" b="1" dirty="0"/>
          </a:p>
        </p:txBody>
      </p:sp>
      <p:sp>
        <p:nvSpPr>
          <p:cNvPr id="11" name="TextBox 10">
            <a:extLst>
              <a:ext uri="{FF2B5EF4-FFF2-40B4-BE49-F238E27FC236}">
                <a16:creationId xmlns:a16="http://schemas.microsoft.com/office/drawing/2014/main" id="{97994AF4-73F1-49B9-9137-A0DCD7159C1C}"/>
              </a:ext>
            </a:extLst>
          </p:cNvPr>
          <p:cNvSpPr txBox="1"/>
          <p:nvPr/>
        </p:nvSpPr>
        <p:spPr>
          <a:xfrm>
            <a:off x="1555423" y="1102933"/>
            <a:ext cx="10246936" cy="6636881"/>
          </a:xfrm>
          <a:prstGeom prst="rect">
            <a:avLst/>
          </a:prstGeom>
          <a:noFill/>
        </p:spPr>
        <p:txBody>
          <a:bodyPr wrap="square" rtlCol="0">
            <a:spAutoFit/>
          </a:bodyPr>
          <a:lstStyle/>
          <a:p>
            <a:pPr marL="285750" indent="-285750">
              <a:lnSpc>
                <a:spcPct val="200000"/>
              </a:lnSpc>
              <a:buFont typeface="Arial" panose="020B0604020202020204" pitchFamily="34" charset="0"/>
              <a:buChar char="•"/>
            </a:pPr>
            <a:r>
              <a:rPr lang="en-US" sz="2400" b="1" dirty="0"/>
              <a:t>Use English and regional keywords naturally in blog content.</a:t>
            </a:r>
          </a:p>
          <a:p>
            <a:pPr marL="285750" indent="-285750">
              <a:lnSpc>
                <a:spcPct val="200000"/>
              </a:lnSpc>
              <a:buFont typeface="Arial" panose="020B0604020202020204" pitchFamily="34" charset="0"/>
              <a:buChar char="•"/>
            </a:pPr>
            <a:r>
              <a:rPr lang="en-US" sz="2400" b="1" dirty="0"/>
              <a:t>Create FAQ-based blogs around questions customers commonly search for.</a:t>
            </a:r>
          </a:p>
          <a:p>
            <a:pPr marL="285750" indent="-285750">
              <a:lnSpc>
                <a:spcPct val="200000"/>
              </a:lnSpc>
              <a:buFont typeface="Arial" panose="020B0604020202020204" pitchFamily="34" charset="0"/>
              <a:buChar char="•"/>
            </a:pPr>
            <a:r>
              <a:rPr lang="en-US" sz="2400" b="1" dirty="0"/>
              <a:t>Add internal links from blogs to relevant product pages to encourage purchases.</a:t>
            </a:r>
          </a:p>
          <a:p>
            <a:pPr marL="285750" indent="-285750">
              <a:lnSpc>
                <a:spcPct val="200000"/>
              </a:lnSpc>
              <a:buFont typeface="Arial" panose="020B0604020202020204" pitchFamily="34" charset="0"/>
              <a:buChar char="•"/>
            </a:pPr>
            <a:r>
              <a:rPr lang="en-US" sz="2400" b="1" dirty="0"/>
              <a:t>Focus on long-tail keywords such as “ classic South Indian snacks for tea-time breaks”.</a:t>
            </a:r>
          </a:p>
          <a:p>
            <a:pPr marL="285750" indent="-285750">
              <a:lnSpc>
                <a:spcPct val="200000"/>
              </a:lnSpc>
              <a:buFont typeface="Arial" panose="020B0604020202020204" pitchFamily="34" charset="0"/>
              <a:buChar char="•"/>
            </a:pPr>
            <a:r>
              <a:rPr lang="en-US" sz="2400" b="1" dirty="0"/>
              <a:t>Cover topics based on what customers actually want to know, eat and buy.</a:t>
            </a:r>
          </a:p>
          <a:p>
            <a:pPr marL="285750" indent="-285750">
              <a:lnSpc>
                <a:spcPct val="200000"/>
              </a:lnSpc>
              <a:buFont typeface="Arial" panose="020B0604020202020204" pitchFamily="34" charset="0"/>
              <a:buChar char="•"/>
            </a:pPr>
            <a:endParaRPr lang="en-US" sz="2400" b="1" dirty="0"/>
          </a:p>
          <a:p>
            <a:pPr marL="285750" indent="-285750">
              <a:lnSpc>
                <a:spcPct val="200000"/>
              </a:lnSpc>
              <a:buFont typeface="Arial" panose="020B0604020202020204" pitchFamily="34" charset="0"/>
              <a:buChar char="•"/>
            </a:pPr>
            <a:endParaRPr lang="en-IN" sz="2400" b="1" dirty="0"/>
          </a:p>
        </p:txBody>
      </p:sp>
      <p:sp>
        <p:nvSpPr>
          <p:cNvPr id="12" name="Rectangle 11">
            <a:extLst>
              <a:ext uri="{FF2B5EF4-FFF2-40B4-BE49-F238E27FC236}">
                <a16:creationId xmlns:a16="http://schemas.microsoft.com/office/drawing/2014/main" id="{5CAA2ED4-1D72-452A-BF6E-128F5BE513EC}"/>
              </a:ext>
            </a:extLst>
          </p:cNvPr>
          <p:cNvSpPr/>
          <p:nvPr/>
        </p:nvSpPr>
        <p:spPr>
          <a:xfrm>
            <a:off x="5883" y="952110"/>
            <a:ext cx="625713" cy="5896465"/>
          </a:xfrm>
          <a:prstGeom prst="rect">
            <a:avLst/>
          </a:prstGeom>
          <a:solidFill>
            <a:schemeClr val="accent2">
              <a:lumMod val="50000"/>
            </a:schemeClr>
          </a:solidFill>
        </p:spPr>
        <p:style>
          <a:lnRef idx="1">
            <a:schemeClr val="accent2"/>
          </a:lnRef>
          <a:fillRef idx="3">
            <a:schemeClr val="accent2"/>
          </a:fillRef>
          <a:effectRef idx="2">
            <a:schemeClr val="accent2"/>
          </a:effectRef>
          <a:fontRef idx="minor">
            <a:schemeClr val="lt1"/>
          </a:fontRef>
        </p:style>
        <p:txBody>
          <a:bodyPr vert="vert270" rtlCol="0" anchor="ctr"/>
          <a:lstStyle/>
          <a:p>
            <a:pPr algn="ctr"/>
            <a:r>
              <a:rPr lang="en-US" sz="2800" b="1" dirty="0"/>
              <a:t>SWEET KARAM COFFEE</a:t>
            </a:r>
            <a:endParaRPr lang="en-IN" sz="2800" b="1" dirty="0"/>
          </a:p>
        </p:txBody>
      </p:sp>
    </p:spTree>
    <p:extLst>
      <p:ext uri="{BB962C8B-B14F-4D97-AF65-F5344CB8AC3E}">
        <p14:creationId xmlns:p14="http://schemas.microsoft.com/office/powerpoint/2010/main" val="278949986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Content Placeholder 5">
            <a:extLst>
              <a:ext uri="{FF2B5EF4-FFF2-40B4-BE49-F238E27FC236}">
                <a16:creationId xmlns:a16="http://schemas.microsoft.com/office/drawing/2014/main" id="{83BD5F16-A195-4760-99C0-07A51DCF2F7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429" y="0"/>
            <a:ext cx="1131216" cy="948153"/>
          </a:xfrm>
          <a:prstGeom prst="rect">
            <a:avLst/>
          </a:prstGeom>
        </p:spPr>
      </p:pic>
      <p:pic>
        <p:nvPicPr>
          <p:cNvPr id="3" name="Picture 2">
            <a:extLst>
              <a:ext uri="{FF2B5EF4-FFF2-40B4-BE49-F238E27FC236}">
                <a16:creationId xmlns:a16="http://schemas.microsoft.com/office/drawing/2014/main" id="{5E0E265E-8525-4F39-8E64-29B804CC38B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854082" y="11733"/>
            <a:ext cx="1337918" cy="941168"/>
          </a:xfrm>
          <a:prstGeom prst="rect">
            <a:avLst/>
          </a:prstGeom>
        </p:spPr>
      </p:pic>
      <p:sp>
        <p:nvSpPr>
          <p:cNvPr id="5" name="Rectangle 4">
            <a:extLst>
              <a:ext uri="{FF2B5EF4-FFF2-40B4-BE49-F238E27FC236}">
                <a16:creationId xmlns:a16="http://schemas.microsoft.com/office/drawing/2014/main" id="{3D01C640-368F-440C-8C13-EF16E696C1B5}"/>
              </a:ext>
            </a:extLst>
          </p:cNvPr>
          <p:cNvSpPr/>
          <p:nvPr/>
        </p:nvSpPr>
        <p:spPr>
          <a:xfrm>
            <a:off x="3421930" y="320511"/>
            <a:ext cx="5967167" cy="546755"/>
          </a:xfrm>
          <a:prstGeom prst="rect">
            <a:avLst/>
          </a:prstGeom>
          <a:solidFill>
            <a:schemeClr val="accent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t>SOCIAL MEDIA CALENDAR-SEPTEMBER</a:t>
            </a:r>
            <a:endParaRPr lang="en-IN" sz="2800" b="1" dirty="0"/>
          </a:p>
        </p:txBody>
      </p:sp>
      <p:graphicFrame>
        <p:nvGraphicFramePr>
          <p:cNvPr id="9" name="Table 8">
            <a:extLst>
              <a:ext uri="{FF2B5EF4-FFF2-40B4-BE49-F238E27FC236}">
                <a16:creationId xmlns:a16="http://schemas.microsoft.com/office/drawing/2014/main" id="{2101AC3A-22C3-47A8-85CE-26C6F65FB025}"/>
              </a:ext>
            </a:extLst>
          </p:cNvPr>
          <p:cNvGraphicFramePr>
            <a:graphicFrameLocks noGrp="1"/>
          </p:cNvGraphicFramePr>
          <p:nvPr>
            <p:extLst>
              <p:ext uri="{D42A27DB-BD31-4B8C-83A1-F6EECF244321}">
                <p14:modId xmlns:p14="http://schemas.microsoft.com/office/powerpoint/2010/main" val="579497028"/>
              </p:ext>
            </p:extLst>
          </p:nvPr>
        </p:nvGraphicFramePr>
        <p:xfrm>
          <a:off x="9429" y="1059034"/>
          <a:ext cx="12188858" cy="5798966"/>
        </p:xfrm>
        <a:graphic>
          <a:graphicData uri="http://schemas.openxmlformats.org/drawingml/2006/table">
            <a:tbl>
              <a:tblPr firstRow="1" bandRow="1">
                <a:tableStyleId>{21E4AEA4-8DFA-4A89-87EB-49C32662AFE0}</a:tableStyleId>
              </a:tblPr>
              <a:tblGrid>
                <a:gridCol w="1143604">
                  <a:extLst>
                    <a:ext uri="{9D8B030D-6E8A-4147-A177-3AD203B41FA5}">
                      <a16:colId xmlns:a16="http://schemas.microsoft.com/office/drawing/2014/main" val="1984506585"/>
                    </a:ext>
                  </a:extLst>
                </a:gridCol>
                <a:gridCol w="2699282">
                  <a:extLst>
                    <a:ext uri="{9D8B030D-6E8A-4147-A177-3AD203B41FA5}">
                      <a16:colId xmlns:a16="http://schemas.microsoft.com/office/drawing/2014/main" val="1687383160"/>
                    </a:ext>
                  </a:extLst>
                </a:gridCol>
                <a:gridCol w="1786549">
                  <a:extLst>
                    <a:ext uri="{9D8B030D-6E8A-4147-A177-3AD203B41FA5}">
                      <a16:colId xmlns:a16="http://schemas.microsoft.com/office/drawing/2014/main" val="1040848000"/>
                    </a:ext>
                  </a:extLst>
                </a:gridCol>
                <a:gridCol w="4875850">
                  <a:extLst>
                    <a:ext uri="{9D8B030D-6E8A-4147-A177-3AD203B41FA5}">
                      <a16:colId xmlns:a16="http://schemas.microsoft.com/office/drawing/2014/main" val="3721175524"/>
                    </a:ext>
                  </a:extLst>
                </a:gridCol>
                <a:gridCol w="1683573">
                  <a:extLst>
                    <a:ext uri="{9D8B030D-6E8A-4147-A177-3AD203B41FA5}">
                      <a16:colId xmlns:a16="http://schemas.microsoft.com/office/drawing/2014/main" val="2716717648"/>
                    </a:ext>
                  </a:extLst>
                </a:gridCol>
              </a:tblGrid>
              <a:tr h="364580">
                <a:tc>
                  <a:txBody>
                    <a:bodyPr/>
                    <a:lstStyle/>
                    <a:p>
                      <a:pPr algn="ctr"/>
                      <a:r>
                        <a:rPr lang="en-US" sz="1300" dirty="0"/>
                        <a:t>DATE</a:t>
                      </a:r>
                      <a:endParaRPr lang="en-IN" sz="1300" dirty="0"/>
                    </a:p>
                  </a:txBody>
                  <a:tcPr/>
                </a:tc>
                <a:tc>
                  <a:txBody>
                    <a:bodyPr/>
                    <a:lstStyle/>
                    <a:p>
                      <a:pPr algn="ctr"/>
                      <a:r>
                        <a:rPr lang="en-US" sz="1300" dirty="0"/>
                        <a:t>PLATFORM</a:t>
                      </a:r>
                      <a:endParaRPr lang="en-IN" sz="1300" dirty="0"/>
                    </a:p>
                  </a:txBody>
                  <a:tcPr/>
                </a:tc>
                <a:tc>
                  <a:txBody>
                    <a:bodyPr/>
                    <a:lstStyle/>
                    <a:p>
                      <a:pPr algn="ctr"/>
                      <a:r>
                        <a:rPr lang="en-US" sz="1300" dirty="0"/>
                        <a:t>THEME</a:t>
                      </a:r>
                      <a:endParaRPr lang="en-IN" sz="1300" dirty="0"/>
                    </a:p>
                  </a:txBody>
                  <a:tcPr/>
                </a:tc>
                <a:tc>
                  <a:txBody>
                    <a:bodyPr/>
                    <a:lstStyle/>
                    <a:p>
                      <a:pPr algn="ctr"/>
                      <a:r>
                        <a:rPr lang="en-US" sz="1300" dirty="0"/>
                        <a:t>CAPTION WITH HASHTAGS</a:t>
                      </a:r>
                      <a:endParaRPr lang="en-IN" sz="1300" dirty="0"/>
                    </a:p>
                  </a:txBody>
                  <a:tcPr/>
                </a:tc>
                <a:tc>
                  <a:txBody>
                    <a:bodyPr/>
                    <a:lstStyle/>
                    <a:p>
                      <a:pPr algn="ctr"/>
                      <a:r>
                        <a:rPr lang="en-US" sz="1300" dirty="0"/>
                        <a:t>CALL TO ACTION</a:t>
                      </a:r>
                      <a:endParaRPr lang="en-IN" sz="1300" dirty="0"/>
                    </a:p>
                  </a:txBody>
                  <a:tcPr/>
                </a:tc>
                <a:extLst>
                  <a:ext uri="{0D108BD9-81ED-4DB2-BD59-A6C34878D82A}">
                    <a16:rowId xmlns:a16="http://schemas.microsoft.com/office/drawing/2014/main" val="833578682"/>
                  </a:ext>
                </a:extLst>
              </a:tr>
              <a:tr h="910061">
                <a:tc>
                  <a:txBody>
                    <a:bodyPr/>
                    <a:lstStyle/>
                    <a:p>
                      <a:r>
                        <a:rPr lang="en-US" sz="1300" dirty="0"/>
                        <a:t>Sep 1, Tues</a:t>
                      </a:r>
                      <a:endParaRPr lang="en-IN" sz="1300" dirty="0"/>
                    </a:p>
                  </a:txBody>
                  <a:tcPr/>
                </a:tc>
                <a:tc>
                  <a:txBody>
                    <a:bodyPr/>
                    <a:lstStyle/>
                    <a:p>
                      <a:pPr algn="l"/>
                      <a:r>
                        <a:rPr lang="en-US" sz="1300" dirty="0"/>
                        <a:t>Instagram, Facebook, YouTube</a:t>
                      </a:r>
                      <a:endParaRPr lang="en-IN" sz="1300" dirty="0"/>
                    </a:p>
                  </a:txBody>
                  <a:tcPr/>
                </a:tc>
                <a:tc>
                  <a:txBody>
                    <a:bodyPr/>
                    <a:lstStyle/>
                    <a:p>
                      <a:r>
                        <a:rPr lang="en-US" sz="1300" dirty="0"/>
                        <a:t>Monsoon Cravings</a:t>
                      </a:r>
                    </a:p>
                    <a:p>
                      <a:r>
                        <a:rPr lang="en-US" sz="1300" dirty="0"/>
                        <a:t>Best Sellers</a:t>
                      </a:r>
                      <a:endParaRPr lang="en-IN" sz="1300" dirty="0"/>
                    </a:p>
                  </a:txBody>
                  <a:tcPr/>
                </a:tc>
                <a:tc>
                  <a:txBody>
                    <a:bodyPr/>
                    <a:lstStyle/>
                    <a:p>
                      <a:r>
                        <a:rPr lang="en-US" sz="1300" dirty="0"/>
                        <a:t>Monsoon cravings? Here’s what to add to your cart before the sale ends.</a:t>
                      </a:r>
                    </a:p>
                    <a:p>
                      <a:r>
                        <a:rPr lang="en-US" sz="1300" dirty="0"/>
                        <a:t>#sweetkaramcoffee #MonsoonCravings</a:t>
                      </a:r>
                    </a:p>
                    <a:p>
                      <a:r>
                        <a:rPr lang="en-US" sz="1300" dirty="0"/>
                        <a:t>#monsoonSnacks #SouthIndianfood</a:t>
                      </a:r>
                      <a:endParaRPr lang="en-IN" sz="1300" dirty="0"/>
                    </a:p>
                  </a:txBody>
                  <a:tcPr/>
                </a:tc>
                <a:tc>
                  <a:txBody>
                    <a:bodyPr/>
                    <a:lstStyle/>
                    <a:p>
                      <a:r>
                        <a:rPr lang="en-US" sz="1300" dirty="0"/>
                        <a:t>Add to cart</a:t>
                      </a:r>
                      <a:endParaRPr lang="en-IN" sz="1300" dirty="0"/>
                    </a:p>
                  </a:txBody>
                  <a:tcPr/>
                </a:tc>
                <a:extLst>
                  <a:ext uri="{0D108BD9-81ED-4DB2-BD59-A6C34878D82A}">
                    <a16:rowId xmlns:a16="http://schemas.microsoft.com/office/drawing/2014/main" val="1041307039"/>
                  </a:ext>
                </a:extLst>
              </a:tr>
              <a:tr h="745476">
                <a:tc>
                  <a:txBody>
                    <a:bodyPr/>
                    <a:lstStyle/>
                    <a:p>
                      <a:r>
                        <a:rPr lang="en-US" sz="1300" dirty="0"/>
                        <a:t>Sep 3, Thu</a:t>
                      </a:r>
                      <a:endParaRPr lang="en-IN" sz="1300" dirty="0"/>
                    </a:p>
                  </a:txBody>
                  <a:tcPr/>
                </a:tc>
                <a:tc>
                  <a:txBody>
                    <a:bodyPr/>
                    <a:lstStyle/>
                    <a:p>
                      <a:r>
                        <a:rPr lang="en-US" sz="1300" dirty="0"/>
                        <a:t>Instagram reels, YouTube shorts</a:t>
                      </a:r>
                      <a:endParaRPr lang="en-IN" sz="1300" dirty="0"/>
                    </a:p>
                  </a:txBody>
                  <a:tcPr/>
                </a:tc>
                <a:tc>
                  <a:txBody>
                    <a:bodyPr/>
                    <a:lstStyle/>
                    <a:p>
                      <a:r>
                        <a:rPr lang="en-IN" sz="1300" dirty="0"/>
                        <a:t>Product Spotlights</a:t>
                      </a:r>
                    </a:p>
                  </a:txBody>
                  <a:tcPr/>
                </a:tc>
                <a:tc>
                  <a:txBody>
                    <a:bodyPr/>
                    <a:lstStyle/>
                    <a:p>
                      <a:r>
                        <a:rPr lang="en-US" sz="1300" dirty="0"/>
                        <a:t>Best South Indian Treats for Rainy Days</a:t>
                      </a:r>
                    </a:p>
                    <a:p>
                      <a:r>
                        <a:rPr lang="en-US" sz="1300" dirty="0"/>
                        <a:t>#sweetkaramcoffee #MonsoonCravings</a:t>
                      </a:r>
                    </a:p>
                    <a:p>
                      <a:r>
                        <a:rPr lang="en-US" sz="1300" dirty="0"/>
                        <a:t>#MonsoonSnacks #SouthIndianfood</a:t>
                      </a:r>
                    </a:p>
                  </a:txBody>
                  <a:tcPr/>
                </a:tc>
                <a:tc>
                  <a:txBody>
                    <a:bodyPr/>
                    <a:lstStyle/>
                    <a:p>
                      <a:r>
                        <a:rPr lang="en-US" sz="1300" dirty="0"/>
                        <a:t>Shop now</a:t>
                      </a:r>
                      <a:endParaRPr lang="en-IN" sz="1300" dirty="0"/>
                    </a:p>
                  </a:txBody>
                  <a:tcPr/>
                </a:tc>
                <a:extLst>
                  <a:ext uri="{0D108BD9-81ED-4DB2-BD59-A6C34878D82A}">
                    <a16:rowId xmlns:a16="http://schemas.microsoft.com/office/drawing/2014/main" val="921070907"/>
                  </a:ext>
                </a:extLst>
              </a:tr>
              <a:tr h="704330">
                <a:tc>
                  <a:txBody>
                    <a:bodyPr/>
                    <a:lstStyle/>
                    <a:p>
                      <a:r>
                        <a:rPr lang="en-US" sz="1300" dirty="0"/>
                        <a:t>Sep 5, Sat</a:t>
                      </a:r>
                      <a:endParaRPr lang="en-IN" sz="1300" dirty="0"/>
                    </a:p>
                  </a:txBody>
                  <a:tcPr/>
                </a:tc>
                <a:tc>
                  <a:txBody>
                    <a:bodyPr/>
                    <a:lstStyle/>
                    <a:p>
                      <a:r>
                        <a:rPr lang="en-US" sz="1300" dirty="0"/>
                        <a:t>Facebook, Instagram, YouTube</a:t>
                      </a:r>
                      <a:endParaRPr lang="en-IN" sz="1300" dirty="0"/>
                    </a:p>
                  </a:txBody>
                  <a:tcPr/>
                </a:tc>
                <a:tc>
                  <a:txBody>
                    <a:bodyPr/>
                    <a:lstStyle/>
                    <a:p>
                      <a:r>
                        <a:rPr lang="en-US" sz="1300" dirty="0"/>
                        <a:t>Brand Story</a:t>
                      </a:r>
                      <a:endParaRPr lang="en-IN" sz="1300" dirty="0"/>
                    </a:p>
                  </a:txBody>
                  <a:tcPr/>
                </a:tc>
                <a:tc>
                  <a:txBody>
                    <a:bodyPr/>
                    <a:lstStyle/>
                    <a:p>
                      <a:r>
                        <a:rPr lang="en-US" sz="1300" dirty="0"/>
                        <a:t>Why Good Things don’t look perfect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300" dirty="0"/>
                        <a:t>#SouthIndianfood #sweetkaramcoffee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300" dirty="0"/>
                        <a:t># </a:t>
                      </a:r>
                      <a:r>
                        <a:rPr lang="en-US" sz="1300" dirty="0" err="1"/>
                        <a:t>SouthIndianSnacks</a:t>
                      </a:r>
                      <a:endParaRPr lang="en-US" sz="1300" dirty="0"/>
                    </a:p>
                  </a:txBody>
                  <a:tcPr/>
                </a:tc>
                <a:tc>
                  <a:txBody>
                    <a:bodyPr/>
                    <a:lstStyle/>
                    <a:p>
                      <a:r>
                        <a:rPr lang="en-US" sz="1300" dirty="0"/>
                        <a:t>Read more</a:t>
                      </a:r>
                      <a:endParaRPr lang="en-IN" sz="1300" dirty="0"/>
                    </a:p>
                  </a:txBody>
                  <a:tcPr/>
                </a:tc>
                <a:extLst>
                  <a:ext uri="{0D108BD9-81ED-4DB2-BD59-A6C34878D82A}">
                    <a16:rowId xmlns:a16="http://schemas.microsoft.com/office/drawing/2014/main" val="2137243946"/>
                  </a:ext>
                </a:extLst>
              </a:tr>
              <a:tr h="777470">
                <a:tc>
                  <a:txBody>
                    <a:bodyPr/>
                    <a:lstStyle/>
                    <a:p>
                      <a:r>
                        <a:rPr lang="en-US" sz="1300" dirty="0"/>
                        <a:t>Sep 7, Mon</a:t>
                      </a:r>
                      <a:endParaRPr lang="en-IN" sz="1300" dirty="0"/>
                    </a:p>
                  </a:txBody>
                  <a:tcPr/>
                </a:tc>
                <a:tc>
                  <a:txBody>
                    <a:bodyPr/>
                    <a:lstStyle/>
                    <a:p>
                      <a:r>
                        <a:rPr lang="en-US" sz="1300" dirty="0"/>
                        <a:t>Instagram reels, Facebook, YouTube</a:t>
                      </a:r>
                      <a:endParaRPr lang="en-IN" sz="1300" dirty="0"/>
                    </a:p>
                  </a:txBody>
                  <a:tcPr/>
                </a:tc>
                <a:tc>
                  <a:txBody>
                    <a:bodyPr/>
                    <a:lstStyle/>
                    <a:p>
                      <a:r>
                        <a:rPr lang="en-US" sz="1300" dirty="0"/>
                        <a:t>Regional </a:t>
                      </a:r>
                      <a:r>
                        <a:rPr lang="en-US" sz="1300" dirty="0" err="1"/>
                        <a:t>Flevour</a:t>
                      </a:r>
                      <a:endParaRPr lang="en-IN" sz="1300" dirty="0"/>
                    </a:p>
                  </a:txBody>
                  <a:tcPr/>
                </a:tc>
                <a:tc>
                  <a:txBody>
                    <a:bodyPr/>
                    <a:lstStyle/>
                    <a:p>
                      <a:r>
                        <a:rPr lang="en-US" sz="1300" dirty="0"/>
                        <a:t>How to make filter coffee with a filter at home</a:t>
                      </a:r>
                    </a:p>
                    <a:p>
                      <a:r>
                        <a:rPr lang="en-US" sz="1300" dirty="0"/>
                        <a:t>#sweetkaramcoffee #filtercoffee #Coffeeathome</a:t>
                      </a:r>
                      <a:endParaRPr lang="en-IN" sz="1300" dirty="0"/>
                    </a:p>
                  </a:txBody>
                  <a:tcPr/>
                </a:tc>
                <a:tc>
                  <a:txBody>
                    <a:bodyPr/>
                    <a:lstStyle/>
                    <a:p>
                      <a:r>
                        <a:rPr lang="en-US" sz="1300" dirty="0"/>
                        <a:t>Try it Today</a:t>
                      </a:r>
                      <a:endParaRPr lang="en-IN" sz="1300" dirty="0"/>
                    </a:p>
                  </a:txBody>
                  <a:tcPr/>
                </a:tc>
                <a:extLst>
                  <a:ext uri="{0D108BD9-81ED-4DB2-BD59-A6C34878D82A}">
                    <a16:rowId xmlns:a16="http://schemas.microsoft.com/office/drawing/2014/main" val="622609455"/>
                  </a:ext>
                </a:extLst>
              </a:tr>
              <a:tr h="619088">
                <a:tc>
                  <a:txBody>
                    <a:bodyPr/>
                    <a:lstStyle/>
                    <a:p>
                      <a:r>
                        <a:rPr lang="en-US" sz="1300" dirty="0"/>
                        <a:t>Sep 10, Thu</a:t>
                      </a:r>
                      <a:endParaRPr lang="en-IN" sz="1300" dirty="0"/>
                    </a:p>
                  </a:txBody>
                  <a:tcPr/>
                </a:tc>
                <a:tc>
                  <a:txBody>
                    <a:bodyPr/>
                    <a:lstStyle/>
                    <a:p>
                      <a:r>
                        <a:rPr lang="en-US" sz="1300" dirty="0"/>
                        <a:t>YouTube, Instagram reels, Facebook reels</a:t>
                      </a:r>
                      <a:endParaRPr lang="en-IN" sz="1300" dirty="0"/>
                    </a:p>
                  </a:txBody>
                  <a:tcPr/>
                </a:tc>
                <a:tc>
                  <a:txBody>
                    <a:bodyPr/>
                    <a:lstStyle/>
                    <a:p>
                      <a:r>
                        <a:rPr lang="en-US" sz="1300" dirty="0"/>
                        <a:t>Best Sellers</a:t>
                      </a:r>
                      <a:endParaRPr lang="en-IN" sz="1300" dirty="0"/>
                    </a:p>
                  </a:txBody>
                  <a:tcPr/>
                </a:tc>
                <a:tc>
                  <a:txBody>
                    <a:bodyPr/>
                    <a:lstStyle/>
                    <a:p>
                      <a:r>
                        <a:rPr lang="en-US" sz="1300" dirty="0"/>
                        <a:t>Peanut Chikki Benefits: Why It’s a Timeless Indian Sweet</a:t>
                      </a:r>
                    </a:p>
                    <a:p>
                      <a:r>
                        <a:rPr lang="en-US" sz="1300" dirty="0"/>
                        <a:t>#sweetkaramcoffee #</a:t>
                      </a:r>
                      <a:r>
                        <a:rPr lang="en-US" sz="1300" dirty="0" err="1"/>
                        <a:t>peanutchikki</a:t>
                      </a:r>
                      <a:r>
                        <a:rPr lang="en-US" sz="1300" dirty="0"/>
                        <a:t> #Indiansweets</a:t>
                      </a:r>
                      <a:endParaRPr lang="en-IN" sz="1300" dirty="0"/>
                    </a:p>
                  </a:txBody>
                  <a:tcPr/>
                </a:tc>
                <a:tc>
                  <a:txBody>
                    <a:bodyPr/>
                    <a:lstStyle/>
                    <a:p>
                      <a:r>
                        <a:rPr lang="en-US" sz="1300" dirty="0"/>
                        <a:t>Add to Cart</a:t>
                      </a:r>
                      <a:endParaRPr lang="en-IN" sz="1300" dirty="0"/>
                    </a:p>
                  </a:txBody>
                  <a:tcPr/>
                </a:tc>
                <a:extLst>
                  <a:ext uri="{0D108BD9-81ED-4DB2-BD59-A6C34878D82A}">
                    <a16:rowId xmlns:a16="http://schemas.microsoft.com/office/drawing/2014/main" val="3115489337"/>
                  </a:ext>
                </a:extLst>
              </a:tr>
              <a:tr h="770158">
                <a:tc>
                  <a:txBody>
                    <a:bodyPr/>
                    <a:lstStyle/>
                    <a:p>
                      <a:r>
                        <a:rPr lang="en-US" sz="1300" dirty="0"/>
                        <a:t>Sep 12, Sat</a:t>
                      </a:r>
                      <a:endParaRPr lang="en-IN" sz="1300" dirty="0"/>
                    </a:p>
                  </a:txBody>
                  <a:tcPr/>
                </a:tc>
                <a:tc>
                  <a:txBody>
                    <a:bodyPr/>
                    <a:lstStyle/>
                    <a:p>
                      <a:r>
                        <a:rPr lang="en-US" sz="1300" dirty="0"/>
                        <a:t>YouTube, Instagram, Facebook</a:t>
                      </a:r>
                      <a:endParaRPr lang="en-IN" sz="1300" dirty="0"/>
                    </a:p>
                  </a:txBody>
                  <a:tcPr/>
                </a:tc>
                <a:tc>
                  <a:txBody>
                    <a:bodyPr/>
                    <a:lstStyle/>
                    <a:p>
                      <a:r>
                        <a:rPr lang="en-US" sz="1300"/>
                        <a:t>Ganesh Chaturthi Special</a:t>
                      </a:r>
                      <a:endParaRPr lang="en-IN" sz="1300" dirty="0"/>
                    </a:p>
                  </a:txBody>
                  <a:tcPr/>
                </a:tc>
                <a:tc>
                  <a:txBody>
                    <a:bodyPr/>
                    <a:lstStyle/>
                    <a:p>
                      <a:r>
                        <a:rPr lang="en-US" sz="1300" dirty="0"/>
                        <a:t>Why 21 </a:t>
                      </a:r>
                      <a:r>
                        <a:rPr lang="en-US" sz="1300" dirty="0" err="1"/>
                        <a:t>Modaks</a:t>
                      </a:r>
                      <a:r>
                        <a:rPr lang="en-US" sz="1300" dirty="0"/>
                        <a:t> Are Offered to </a:t>
                      </a:r>
                      <a:r>
                        <a:rPr lang="en-US" sz="1300" dirty="0" err="1"/>
                        <a:t>Ganesha</a:t>
                      </a:r>
                      <a:r>
                        <a:rPr lang="en-US" sz="1300" dirty="0"/>
                        <a:t> – The Story That Explains It.</a:t>
                      </a:r>
                    </a:p>
                    <a:p>
                      <a:r>
                        <a:rPr lang="en-US" sz="1300" dirty="0"/>
                        <a:t>#sweetkaramcoffee #</a:t>
                      </a:r>
                      <a:r>
                        <a:rPr lang="en-US" sz="1300" dirty="0" err="1"/>
                        <a:t>GaneshChaturthi</a:t>
                      </a:r>
                      <a:r>
                        <a:rPr lang="en-US" sz="1300" dirty="0"/>
                        <a:t> #</a:t>
                      </a:r>
                      <a:r>
                        <a:rPr lang="en-US" sz="1300" dirty="0" err="1"/>
                        <a:t>Festivesweets</a:t>
                      </a:r>
                      <a:endParaRPr lang="en-IN" sz="1300" dirty="0"/>
                    </a:p>
                  </a:txBody>
                  <a:tcPr/>
                </a:tc>
                <a:tc>
                  <a:txBody>
                    <a:bodyPr/>
                    <a:lstStyle/>
                    <a:p>
                      <a:r>
                        <a:rPr lang="en-US" sz="1300" dirty="0"/>
                        <a:t>Shop Now</a:t>
                      </a:r>
                      <a:endParaRPr lang="en-IN" sz="1300" dirty="0"/>
                    </a:p>
                  </a:txBody>
                  <a:tcPr/>
                </a:tc>
                <a:extLst>
                  <a:ext uri="{0D108BD9-81ED-4DB2-BD59-A6C34878D82A}">
                    <a16:rowId xmlns:a16="http://schemas.microsoft.com/office/drawing/2014/main" val="1572228138"/>
                  </a:ext>
                </a:extLst>
              </a:tr>
              <a:tr h="907803">
                <a:tc>
                  <a:txBody>
                    <a:bodyPr/>
                    <a:lstStyle/>
                    <a:p>
                      <a:r>
                        <a:rPr lang="en-US" sz="1300" dirty="0"/>
                        <a:t>Sep 14, Mon</a:t>
                      </a:r>
                      <a:endParaRPr lang="en-IN" sz="1300" dirty="0"/>
                    </a:p>
                  </a:txBody>
                  <a:tcPr/>
                </a:tc>
                <a:tc>
                  <a:txBody>
                    <a:bodyPr/>
                    <a:lstStyle/>
                    <a:p>
                      <a:r>
                        <a:rPr lang="en-US" sz="1300" dirty="0"/>
                        <a:t>Instagram reels, YouTube, Facebook story</a:t>
                      </a:r>
                      <a:endParaRPr lang="en-IN" sz="1300" dirty="0"/>
                    </a:p>
                  </a:txBody>
                  <a:tcPr/>
                </a:tc>
                <a:tc>
                  <a:txBody>
                    <a:bodyPr/>
                    <a:lstStyle/>
                    <a:p>
                      <a:r>
                        <a:rPr lang="en-US" sz="1300" dirty="0"/>
                        <a:t>Thali Ideas</a:t>
                      </a:r>
                      <a:endParaRPr lang="en-IN" sz="1300" dirty="0"/>
                    </a:p>
                  </a:txBody>
                  <a:tcPr/>
                </a:tc>
                <a:tc>
                  <a:txBody>
                    <a:bodyPr/>
                    <a:lstStyle/>
                    <a:p>
                      <a:r>
                        <a:rPr lang="en-US" sz="1300" dirty="0"/>
                        <a:t>Simple and traditional thali ideas for a special family celebration</a:t>
                      </a:r>
                    </a:p>
                    <a:p>
                      <a:r>
                        <a:rPr lang="en-US" sz="1300" dirty="0"/>
                        <a:t>#sweetkaramcoffee #</a:t>
                      </a:r>
                      <a:r>
                        <a:rPr lang="en-US" sz="1300" dirty="0" err="1"/>
                        <a:t>Thaliideas</a:t>
                      </a:r>
                      <a:r>
                        <a:rPr lang="en-US" sz="1300" dirty="0"/>
                        <a:t> #</a:t>
                      </a:r>
                      <a:r>
                        <a:rPr lang="en-US" sz="1300" dirty="0" err="1"/>
                        <a:t>traditionalfoods</a:t>
                      </a:r>
                      <a:r>
                        <a:rPr lang="en-US" sz="1300" dirty="0"/>
                        <a:t> #</a:t>
                      </a:r>
                      <a:r>
                        <a:rPr lang="en-US" sz="1300" dirty="0" err="1"/>
                        <a:t>SouthIndianSweets</a:t>
                      </a:r>
                      <a:endParaRPr lang="en-US" sz="1300" dirty="0"/>
                    </a:p>
                    <a:p>
                      <a:endParaRPr lang="en-IN" sz="1300" dirty="0"/>
                    </a:p>
                  </a:txBody>
                  <a:tcPr/>
                </a:tc>
                <a:tc>
                  <a:txBody>
                    <a:bodyPr/>
                    <a:lstStyle/>
                    <a:p>
                      <a:r>
                        <a:rPr lang="en-US" sz="1300" dirty="0"/>
                        <a:t>Read More</a:t>
                      </a:r>
                      <a:endParaRPr lang="en-IN" sz="1300" dirty="0"/>
                    </a:p>
                  </a:txBody>
                  <a:tcPr/>
                </a:tc>
                <a:extLst>
                  <a:ext uri="{0D108BD9-81ED-4DB2-BD59-A6C34878D82A}">
                    <a16:rowId xmlns:a16="http://schemas.microsoft.com/office/drawing/2014/main" val="2441532749"/>
                  </a:ext>
                </a:extLst>
              </a:tr>
            </a:tbl>
          </a:graphicData>
        </a:graphic>
      </p:graphicFrame>
    </p:spTree>
    <p:extLst>
      <p:ext uri="{BB962C8B-B14F-4D97-AF65-F5344CB8AC3E}">
        <p14:creationId xmlns:p14="http://schemas.microsoft.com/office/powerpoint/2010/main" val="55143090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9E96BBB-F27F-4AAC-9705-C2840B42B9BF}"/>
              </a:ext>
            </a:extLst>
          </p:cNvPr>
          <p:cNvSpPr/>
          <p:nvPr/>
        </p:nvSpPr>
        <p:spPr>
          <a:xfrm>
            <a:off x="3421930" y="320511"/>
            <a:ext cx="5967167" cy="546755"/>
          </a:xfrm>
          <a:prstGeom prst="rect">
            <a:avLst/>
          </a:prstGeom>
          <a:solidFill>
            <a:schemeClr val="accent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t>SOCIAL MEDIA CALENDAR-SEPTEMBER</a:t>
            </a:r>
            <a:endParaRPr lang="en-IN" sz="2800" b="1" dirty="0"/>
          </a:p>
        </p:txBody>
      </p:sp>
      <p:pic>
        <p:nvPicPr>
          <p:cNvPr id="3" name="Content Placeholder 5">
            <a:extLst>
              <a:ext uri="{FF2B5EF4-FFF2-40B4-BE49-F238E27FC236}">
                <a16:creationId xmlns:a16="http://schemas.microsoft.com/office/drawing/2014/main" id="{9FAB7303-4F6C-42C9-870D-1C34C8C843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429" y="0"/>
            <a:ext cx="1131216" cy="948153"/>
          </a:xfrm>
          <a:prstGeom prst="rect">
            <a:avLst/>
          </a:prstGeom>
        </p:spPr>
      </p:pic>
      <p:pic>
        <p:nvPicPr>
          <p:cNvPr id="4" name="Picture 3">
            <a:extLst>
              <a:ext uri="{FF2B5EF4-FFF2-40B4-BE49-F238E27FC236}">
                <a16:creationId xmlns:a16="http://schemas.microsoft.com/office/drawing/2014/main" id="{BDE5C284-FB61-4048-B778-D5E1CF0F910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854082" y="11733"/>
            <a:ext cx="1337918" cy="941168"/>
          </a:xfrm>
          <a:prstGeom prst="rect">
            <a:avLst/>
          </a:prstGeom>
        </p:spPr>
      </p:pic>
      <p:graphicFrame>
        <p:nvGraphicFramePr>
          <p:cNvPr id="5" name="Table 4">
            <a:extLst>
              <a:ext uri="{FF2B5EF4-FFF2-40B4-BE49-F238E27FC236}">
                <a16:creationId xmlns:a16="http://schemas.microsoft.com/office/drawing/2014/main" id="{3C501DBC-6EE4-41DF-8F56-0A3C1DE260CE}"/>
              </a:ext>
            </a:extLst>
          </p:cNvPr>
          <p:cNvGraphicFramePr>
            <a:graphicFrameLocks noGrp="1"/>
          </p:cNvGraphicFramePr>
          <p:nvPr>
            <p:extLst>
              <p:ext uri="{D42A27DB-BD31-4B8C-83A1-F6EECF244321}">
                <p14:modId xmlns:p14="http://schemas.microsoft.com/office/powerpoint/2010/main" val="3588686605"/>
              </p:ext>
            </p:extLst>
          </p:nvPr>
        </p:nvGraphicFramePr>
        <p:xfrm>
          <a:off x="9428" y="1102936"/>
          <a:ext cx="12182570" cy="5755064"/>
        </p:xfrm>
        <a:graphic>
          <a:graphicData uri="http://schemas.openxmlformats.org/drawingml/2006/table">
            <a:tbl>
              <a:tblPr firstRow="1" bandRow="1">
                <a:tableStyleId>{21E4AEA4-8DFA-4A89-87EB-49C32662AFE0}</a:tableStyleId>
              </a:tblPr>
              <a:tblGrid>
                <a:gridCol w="1470580">
                  <a:extLst>
                    <a:ext uri="{9D8B030D-6E8A-4147-A177-3AD203B41FA5}">
                      <a16:colId xmlns:a16="http://schemas.microsoft.com/office/drawing/2014/main" val="3912983135"/>
                    </a:ext>
                  </a:extLst>
                </a:gridCol>
                <a:gridCol w="1772239">
                  <a:extLst>
                    <a:ext uri="{9D8B030D-6E8A-4147-A177-3AD203B41FA5}">
                      <a16:colId xmlns:a16="http://schemas.microsoft.com/office/drawing/2014/main" val="3108435418"/>
                    </a:ext>
                  </a:extLst>
                </a:gridCol>
                <a:gridCol w="2102178">
                  <a:extLst>
                    <a:ext uri="{9D8B030D-6E8A-4147-A177-3AD203B41FA5}">
                      <a16:colId xmlns:a16="http://schemas.microsoft.com/office/drawing/2014/main" val="2513129165"/>
                    </a:ext>
                  </a:extLst>
                </a:gridCol>
                <a:gridCol w="4883084">
                  <a:extLst>
                    <a:ext uri="{9D8B030D-6E8A-4147-A177-3AD203B41FA5}">
                      <a16:colId xmlns:a16="http://schemas.microsoft.com/office/drawing/2014/main" val="1901459121"/>
                    </a:ext>
                  </a:extLst>
                </a:gridCol>
                <a:gridCol w="1954489">
                  <a:extLst>
                    <a:ext uri="{9D8B030D-6E8A-4147-A177-3AD203B41FA5}">
                      <a16:colId xmlns:a16="http://schemas.microsoft.com/office/drawing/2014/main" val="1926392185"/>
                    </a:ext>
                  </a:extLst>
                </a:gridCol>
              </a:tblGrid>
              <a:tr h="387753">
                <a:tc>
                  <a:txBody>
                    <a:bodyPr/>
                    <a:lstStyle/>
                    <a:p>
                      <a:pPr algn="ctr"/>
                      <a:r>
                        <a:rPr lang="en-US" sz="1300" dirty="0"/>
                        <a:t>DATE</a:t>
                      </a:r>
                      <a:endParaRPr lang="en-IN" sz="1300" dirty="0"/>
                    </a:p>
                  </a:txBody>
                  <a:tcPr/>
                </a:tc>
                <a:tc>
                  <a:txBody>
                    <a:bodyPr/>
                    <a:lstStyle/>
                    <a:p>
                      <a:pPr algn="ctr"/>
                      <a:r>
                        <a:rPr lang="en-US" sz="1300" dirty="0"/>
                        <a:t>PLATFORM</a:t>
                      </a:r>
                      <a:endParaRPr lang="en-IN" sz="1300" dirty="0"/>
                    </a:p>
                  </a:txBody>
                  <a:tcPr/>
                </a:tc>
                <a:tc>
                  <a:txBody>
                    <a:bodyPr/>
                    <a:lstStyle/>
                    <a:p>
                      <a:pPr algn="ctr"/>
                      <a:r>
                        <a:rPr lang="en-US" sz="1300" dirty="0"/>
                        <a:t>THEME</a:t>
                      </a:r>
                      <a:endParaRPr lang="en-IN" sz="1300" dirty="0"/>
                    </a:p>
                  </a:txBody>
                  <a:tcPr/>
                </a:tc>
                <a:tc>
                  <a:txBody>
                    <a:bodyPr/>
                    <a:lstStyle/>
                    <a:p>
                      <a:pPr algn="ctr"/>
                      <a:r>
                        <a:rPr lang="en-US" sz="1300" dirty="0"/>
                        <a:t>CAPTION WITH HASHTAGS</a:t>
                      </a:r>
                      <a:endParaRPr lang="en-IN" sz="1300" dirty="0"/>
                    </a:p>
                  </a:txBody>
                  <a:tcPr/>
                </a:tc>
                <a:tc>
                  <a:txBody>
                    <a:bodyPr/>
                    <a:lstStyle/>
                    <a:p>
                      <a:pPr algn="ctr"/>
                      <a:r>
                        <a:rPr lang="en-US" sz="1300" dirty="0"/>
                        <a:t>CALL TO ACTION</a:t>
                      </a:r>
                      <a:endParaRPr lang="en-IN" sz="1300" dirty="0"/>
                    </a:p>
                  </a:txBody>
                  <a:tcPr/>
                </a:tc>
                <a:extLst>
                  <a:ext uri="{0D108BD9-81ED-4DB2-BD59-A6C34878D82A}">
                    <a16:rowId xmlns:a16="http://schemas.microsoft.com/office/drawing/2014/main" val="2218168227"/>
                  </a:ext>
                </a:extLst>
              </a:tr>
              <a:tr h="918361">
                <a:tc>
                  <a:txBody>
                    <a:bodyPr/>
                    <a:lstStyle/>
                    <a:p>
                      <a:r>
                        <a:rPr lang="en-US" sz="1300" dirty="0"/>
                        <a:t>Sep 16, Wed</a:t>
                      </a:r>
                      <a:endParaRPr lang="en-IN" sz="1300" dirty="0"/>
                    </a:p>
                  </a:txBody>
                  <a:tcPr/>
                </a:tc>
                <a:tc>
                  <a:txBody>
                    <a:bodyPr/>
                    <a:lstStyle/>
                    <a:p>
                      <a:pPr algn="l"/>
                      <a:r>
                        <a:rPr lang="en-US" sz="1300" dirty="0"/>
                        <a:t>Instagram, Facebook, YouTube</a:t>
                      </a:r>
                      <a:endParaRPr lang="en-IN" sz="1300" dirty="0"/>
                    </a:p>
                  </a:txBody>
                  <a:tcPr/>
                </a:tc>
                <a:tc>
                  <a:txBody>
                    <a:bodyPr/>
                    <a:lstStyle/>
                    <a:p>
                      <a:r>
                        <a:rPr lang="en-IN" sz="1300" dirty="0"/>
                        <a:t>Quick recipes</a:t>
                      </a:r>
                    </a:p>
                  </a:txBody>
                  <a:tcPr/>
                </a:tc>
                <a:tc>
                  <a:txBody>
                    <a:bodyPr/>
                    <a:lstStyle/>
                    <a:p>
                      <a:r>
                        <a:rPr lang="en-IN" sz="1300" dirty="0"/>
                        <a:t>Want to make authentic filter coffee at home? Follow this simple steps.</a:t>
                      </a:r>
                    </a:p>
                    <a:p>
                      <a:r>
                        <a:rPr lang="en-IN" sz="1300" dirty="0"/>
                        <a:t>#</a:t>
                      </a:r>
                      <a:r>
                        <a:rPr lang="en-IN" sz="1300" dirty="0" err="1"/>
                        <a:t>Filtercoffee</a:t>
                      </a:r>
                      <a:r>
                        <a:rPr lang="en-IN" sz="1300" dirty="0"/>
                        <a:t> #</a:t>
                      </a:r>
                      <a:r>
                        <a:rPr lang="en-IN" sz="1300" dirty="0" err="1"/>
                        <a:t>Coffeerecipes</a:t>
                      </a:r>
                      <a:r>
                        <a:rPr lang="en-IN" sz="1300" dirty="0"/>
                        <a:t> #</a:t>
                      </a:r>
                      <a:r>
                        <a:rPr lang="en-IN" sz="1300" dirty="0" err="1"/>
                        <a:t>sweetkaramcoffee</a:t>
                      </a:r>
                      <a:r>
                        <a:rPr lang="en-IN" sz="1300" dirty="0"/>
                        <a:t> #</a:t>
                      </a:r>
                      <a:r>
                        <a:rPr lang="en-IN" sz="1300" dirty="0" err="1"/>
                        <a:t>SounthIndiansnacks</a:t>
                      </a:r>
                      <a:r>
                        <a:rPr lang="en-IN" sz="1300" dirty="0"/>
                        <a:t> </a:t>
                      </a:r>
                    </a:p>
                  </a:txBody>
                  <a:tcPr/>
                </a:tc>
                <a:tc>
                  <a:txBody>
                    <a:bodyPr/>
                    <a:lstStyle/>
                    <a:p>
                      <a:r>
                        <a:rPr lang="en-IN" sz="1300" dirty="0"/>
                        <a:t>Watch Now</a:t>
                      </a:r>
                    </a:p>
                  </a:txBody>
                  <a:tcPr/>
                </a:tc>
                <a:extLst>
                  <a:ext uri="{0D108BD9-81ED-4DB2-BD59-A6C34878D82A}">
                    <a16:rowId xmlns:a16="http://schemas.microsoft.com/office/drawing/2014/main" val="826794462"/>
                  </a:ext>
                </a:extLst>
              </a:tr>
              <a:tr h="653057">
                <a:tc>
                  <a:txBody>
                    <a:bodyPr/>
                    <a:lstStyle/>
                    <a:p>
                      <a:r>
                        <a:rPr lang="en-US" sz="1300" dirty="0"/>
                        <a:t>Sep 18, Fri</a:t>
                      </a:r>
                      <a:endParaRPr lang="en-IN" sz="1300" dirty="0"/>
                    </a:p>
                  </a:txBody>
                  <a:tcPr/>
                </a:tc>
                <a:tc>
                  <a:txBody>
                    <a:bodyPr/>
                    <a:lstStyle/>
                    <a:p>
                      <a:r>
                        <a:rPr lang="en-US" sz="1300" dirty="0"/>
                        <a:t>Instagram reels, YouTube shorts</a:t>
                      </a:r>
                      <a:endParaRPr lang="en-IN" sz="1300" dirty="0"/>
                    </a:p>
                  </a:txBody>
                  <a:tcPr/>
                </a:tc>
                <a:tc>
                  <a:txBody>
                    <a:bodyPr/>
                    <a:lstStyle/>
                    <a:p>
                      <a:r>
                        <a:rPr lang="en-IN" sz="1300" dirty="0"/>
                        <a:t>Best sellers</a:t>
                      </a:r>
                    </a:p>
                  </a:txBody>
                  <a:tcPr/>
                </a:tc>
                <a:tc>
                  <a:txBody>
                    <a:bodyPr/>
                    <a:lstStyle/>
                    <a:p>
                      <a:r>
                        <a:rPr lang="en-IN" sz="1300" dirty="0"/>
                        <a:t>Rich, traditional and loved! Mysore Pak is always a good idea.</a:t>
                      </a:r>
                    </a:p>
                    <a:p>
                      <a:r>
                        <a:rPr lang="en-IN" sz="1300" dirty="0"/>
                        <a:t>#</a:t>
                      </a:r>
                      <a:r>
                        <a:rPr lang="en-IN" sz="1300" dirty="0" err="1"/>
                        <a:t>sweetkaramcoffee</a:t>
                      </a:r>
                      <a:r>
                        <a:rPr lang="en-IN" sz="1300" dirty="0"/>
                        <a:t> #</a:t>
                      </a:r>
                      <a:r>
                        <a:rPr lang="en-IN" sz="1300" dirty="0" err="1"/>
                        <a:t>SounthIndiansnacks</a:t>
                      </a:r>
                      <a:r>
                        <a:rPr lang="en-IN" sz="1300" dirty="0"/>
                        <a:t> #</a:t>
                      </a:r>
                      <a:r>
                        <a:rPr lang="en-IN" sz="1300" dirty="0" err="1"/>
                        <a:t>MysorePak</a:t>
                      </a:r>
                      <a:endParaRPr lang="en-IN" sz="1300" dirty="0"/>
                    </a:p>
                  </a:txBody>
                  <a:tcPr/>
                </a:tc>
                <a:tc>
                  <a:txBody>
                    <a:bodyPr/>
                    <a:lstStyle/>
                    <a:p>
                      <a:r>
                        <a:rPr lang="en-IN" sz="1300" dirty="0"/>
                        <a:t>Add to cart</a:t>
                      </a:r>
                    </a:p>
                  </a:txBody>
                  <a:tcPr/>
                </a:tc>
                <a:extLst>
                  <a:ext uri="{0D108BD9-81ED-4DB2-BD59-A6C34878D82A}">
                    <a16:rowId xmlns:a16="http://schemas.microsoft.com/office/drawing/2014/main" val="3586224659"/>
                  </a:ext>
                </a:extLst>
              </a:tr>
              <a:tr h="653057">
                <a:tc>
                  <a:txBody>
                    <a:bodyPr/>
                    <a:lstStyle/>
                    <a:p>
                      <a:r>
                        <a:rPr lang="en-US" sz="1300" dirty="0"/>
                        <a:t>Sep 20, Sun</a:t>
                      </a:r>
                      <a:endParaRPr lang="en-IN" sz="1300" dirty="0"/>
                    </a:p>
                  </a:txBody>
                  <a:tcPr/>
                </a:tc>
                <a:tc>
                  <a:txBody>
                    <a:bodyPr/>
                    <a:lstStyle/>
                    <a:p>
                      <a:r>
                        <a:rPr lang="en-US" sz="1300" dirty="0"/>
                        <a:t>Facebook, Instagram, YouTube</a:t>
                      </a:r>
                      <a:endParaRPr lang="en-IN" sz="1300" dirty="0"/>
                    </a:p>
                  </a:txBody>
                  <a:tcPr/>
                </a:tc>
                <a:tc>
                  <a:txBody>
                    <a:bodyPr/>
                    <a:lstStyle/>
                    <a:p>
                      <a:r>
                        <a:rPr lang="en-IN" sz="1300" dirty="0"/>
                        <a:t>Brand Story</a:t>
                      </a:r>
                    </a:p>
                  </a:txBody>
                  <a:tcPr/>
                </a:tc>
                <a:tc>
                  <a:txBody>
                    <a:bodyPr/>
                    <a:lstStyle/>
                    <a:p>
                      <a:r>
                        <a:rPr lang="en-IN" sz="1300" dirty="0"/>
                        <a:t>Stories of goodness, told with love!</a:t>
                      </a:r>
                    </a:p>
                    <a:p>
                      <a:r>
                        <a:rPr lang="en-IN" sz="1300" dirty="0"/>
                        <a:t>#</a:t>
                      </a:r>
                      <a:r>
                        <a:rPr lang="en-IN" sz="1300" dirty="0" err="1"/>
                        <a:t>sweetkaramcoffee</a:t>
                      </a:r>
                      <a:r>
                        <a:rPr lang="en-IN" sz="1300" dirty="0"/>
                        <a:t> #</a:t>
                      </a:r>
                      <a:r>
                        <a:rPr lang="en-IN" sz="1300" dirty="0" err="1"/>
                        <a:t>SounthIndiansnacks</a:t>
                      </a:r>
                      <a:r>
                        <a:rPr lang="en-IN" sz="1300" dirty="0"/>
                        <a:t> #</a:t>
                      </a:r>
                      <a:r>
                        <a:rPr lang="en-IN" sz="1300" dirty="0" err="1"/>
                        <a:t>BrandStory</a:t>
                      </a:r>
                      <a:endParaRPr lang="en-IN" sz="1300" dirty="0"/>
                    </a:p>
                  </a:txBody>
                  <a:tcPr/>
                </a:tc>
                <a:tc>
                  <a:txBody>
                    <a:bodyPr/>
                    <a:lstStyle/>
                    <a:p>
                      <a:r>
                        <a:rPr lang="en-IN" sz="1300" dirty="0"/>
                        <a:t>Watch Now</a:t>
                      </a:r>
                    </a:p>
                  </a:txBody>
                  <a:tcPr/>
                </a:tc>
                <a:extLst>
                  <a:ext uri="{0D108BD9-81ED-4DB2-BD59-A6C34878D82A}">
                    <a16:rowId xmlns:a16="http://schemas.microsoft.com/office/drawing/2014/main" val="4032809833"/>
                  </a:ext>
                </a:extLst>
              </a:tr>
              <a:tr h="653057">
                <a:tc>
                  <a:txBody>
                    <a:bodyPr/>
                    <a:lstStyle/>
                    <a:p>
                      <a:r>
                        <a:rPr lang="en-US" sz="1300" dirty="0"/>
                        <a:t>Sep 22,Tues</a:t>
                      </a:r>
                      <a:endParaRPr lang="en-IN" sz="1300" dirty="0"/>
                    </a:p>
                  </a:txBody>
                  <a:tcPr/>
                </a:tc>
                <a:tc>
                  <a:txBody>
                    <a:bodyPr/>
                    <a:lstStyle/>
                    <a:p>
                      <a:r>
                        <a:rPr lang="en-US" sz="1300" dirty="0"/>
                        <a:t>Instagram reels, Facebook, YouTube</a:t>
                      </a:r>
                      <a:endParaRPr lang="en-IN" sz="1300" dirty="0"/>
                    </a:p>
                  </a:txBody>
                  <a:tcPr/>
                </a:tc>
                <a:tc>
                  <a:txBody>
                    <a:bodyPr/>
                    <a:lstStyle/>
                    <a:p>
                      <a:r>
                        <a:rPr lang="en-IN" sz="1300" dirty="0"/>
                        <a:t>Product Spotlights</a:t>
                      </a:r>
                    </a:p>
                  </a:txBody>
                  <a:tcPr/>
                </a:tc>
                <a:tc>
                  <a:txBody>
                    <a:bodyPr/>
                    <a:lstStyle/>
                    <a:p>
                      <a:r>
                        <a:rPr lang="en-IN" sz="1300" dirty="0"/>
                        <a:t>Types of laddu from classic to modern variations.</a:t>
                      </a:r>
                    </a:p>
                    <a:p>
                      <a:r>
                        <a:rPr lang="en-IN" sz="1300" dirty="0"/>
                        <a:t>#</a:t>
                      </a:r>
                      <a:r>
                        <a:rPr lang="en-IN" sz="1300" dirty="0" err="1"/>
                        <a:t>sweetkaramcoffee</a:t>
                      </a:r>
                      <a:r>
                        <a:rPr lang="en-IN" sz="1300" dirty="0"/>
                        <a:t> #</a:t>
                      </a:r>
                      <a:r>
                        <a:rPr lang="en-IN" sz="1300" dirty="0" err="1"/>
                        <a:t>SounthIndiansnacks</a:t>
                      </a:r>
                      <a:r>
                        <a:rPr lang="en-IN" sz="1300" dirty="0"/>
                        <a:t> </a:t>
                      </a:r>
                    </a:p>
                  </a:txBody>
                  <a:tcPr/>
                </a:tc>
                <a:tc>
                  <a:txBody>
                    <a:bodyPr/>
                    <a:lstStyle/>
                    <a:p>
                      <a:r>
                        <a:rPr lang="en-IN" sz="1300" dirty="0"/>
                        <a:t>Shop Now</a:t>
                      </a:r>
                    </a:p>
                  </a:txBody>
                  <a:tcPr/>
                </a:tc>
                <a:extLst>
                  <a:ext uri="{0D108BD9-81ED-4DB2-BD59-A6C34878D82A}">
                    <a16:rowId xmlns:a16="http://schemas.microsoft.com/office/drawing/2014/main" val="844841231"/>
                  </a:ext>
                </a:extLst>
              </a:tr>
              <a:tr h="653057">
                <a:tc>
                  <a:txBody>
                    <a:bodyPr/>
                    <a:lstStyle/>
                    <a:p>
                      <a:r>
                        <a:rPr lang="en-US" sz="1300" dirty="0"/>
                        <a:t>Sep 25, Fri</a:t>
                      </a:r>
                      <a:endParaRPr lang="en-IN" sz="1300" dirty="0"/>
                    </a:p>
                  </a:txBody>
                  <a:tcPr/>
                </a:tc>
                <a:tc>
                  <a:txBody>
                    <a:bodyPr/>
                    <a:lstStyle/>
                    <a:p>
                      <a:r>
                        <a:rPr lang="en-US" sz="1300" dirty="0"/>
                        <a:t>YouTube, Instagram reels, Facebook reels</a:t>
                      </a:r>
                      <a:endParaRPr lang="en-IN" sz="1300" dirty="0"/>
                    </a:p>
                  </a:txBody>
                  <a:tcPr/>
                </a:tc>
                <a:tc>
                  <a:txBody>
                    <a:bodyPr/>
                    <a:lstStyle/>
                    <a:p>
                      <a:r>
                        <a:rPr lang="en-IN" sz="1300" dirty="0"/>
                        <a:t>Regional Flavour</a:t>
                      </a:r>
                    </a:p>
                  </a:txBody>
                  <a:tcPr/>
                </a:tc>
                <a:tc>
                  <a:txBody>
                    <a:bodyPr/>
                    <a:lstStyle/>
                    <a:p>
                      <a:r>
                        <a:rPr lang="en-IN" sz="1300" dirty="0"/>
                        <a:t>Mango specials craving sorted, from melt-in-your-mouth sweets!</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300" dirty="0"/>
                        <a:t>#</a:t>
                      </a:r>
                      <a:r>
                        <a:rPr lang="en-IN" sz="1300" dirty="0" err="1"/>
                        <a:t>sweetkaramcoffee</a:t>
                      </a:r>
                      <a:r>
                        <a:rPr lang="en-IN" sz="1300" dirty="0"/>
                        <a:t> #</a:t>
                      </a:r>
                      <a:r>
                        <a:rPr lang="en-IN" sz="1300" dirty="0" err="1"/>
                        <a:t>SounthIndiansnacks</a:t>
                      </a:r>
                      <a:r>
                        <a:rPr lang="en-IN" sz="1300" dirty="0"/>
                        <a:t> </a:t>
                      </a:r>
                    </a:p>
                  </a:txBody>
                  <a:tcPr/>
                </a:tc>
                <a:tc>
                  <a:txBody>
                    <a:bodyPr/>
                    <a:lstStyle/>
                    <a:p>
                      <a:r>
                        <a:rPr lang="en-IN" sz="1300" dirty="0"/>
                        <a:t>Add to cart</a:t>
                      </a:r>
                    </a:p>
                  </a:txBody>
                  <a:tcPr/>
                </a:tc>
                <a:extLst>
                  <a:ext uri="{0D108BD9-81ED-4DB2-BD59-A6C34878D82A}">
                    <a16:rowId xmlns:a16="http://schemas.microsoft.com/office/drawing/2014/main" val="790221436"/>
                  </a:ext>
                </a:extLst>
              </a:tr>
              <a:tr h="918361">
                <a:tc>
                  <a:txBody>
                    <a:bodyPr/>
                    <a:lstStyle/>
                    <a:p>
                      <a:r>
                        <a:rPr lang="en-US" sz="1300" dirty="0"/>
                        <a:t>Sep 27, Sun</a:t>
                      </a:r>
                      <a:endParaRPr lang="en-IN" sz="1300" dirty="0"/>
                    </a:p>
                  </a:txBody>
                  <a:tcPr/>
                </a:tc>
                <a:tc>
                  <a:txBody>
                    <a:bodyPr/>
                    <a:lstStyle/>
                    <a:p>
                      <a:r>
                        <a:rPr lang="en-US" sz="1300" dirty="0"/>
                        <a:t>YouTube, Instagram, Facebook</a:t>
                      </a:r>
                      <a:endParaRPr lang="en-IN" sz="1300" dirty="0"/>
                    </a:p>
                  </a:txBody>
                  <a:tcPr/>
                </a:tc>
                <a:tc>
                  <a:txBody>
                    <a:bodyPr/>
                    <a:lstStyle/>
                    <a:p>
                      <a:r>
                        <a:rPr lang="en-IN" sz="1300" dirty="0"/>
                        <a:t>Customer Review</a:t>
                      </a:r>
                    </a:p>
                  </a:txBody>
                  <a:tcPr/>
                </a:tc>
                <a:tc>
                  <a:txBody>
                    <a:bodyPr/>
                    <a:lstStyle/>
                    <a:p>
                      <a:r>
                        <a:rPr lang="en-IN" sz="1300" b="1" dirty="0"/>
                        <a:t>Trusted by 5 lakh+ customers across India </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300" dirty="0"/>
                        <a:t>#</a:t>
                      </a:r>
                      <a:r>
                        <a:rPr lang="en-IN" sz="1300" dirty="0" err="1"/>
                        <a:t>sweetkaramcoffee</a:t>
                      </a:r>
                      <a:r>
                        <a:rPr lang="en-IN" sz="1300" dirty="0"/>
                        <a:t> #</a:t>
                      </a:r>
                      <a:r>
                        <a:rPr lang="en-IN" sz="1300" dirty="0" err="1"/>
                        <a:t>SounthIndiansnacks</a:t>
                      </a:r>
                      <a:r>
                        <a:rPr lang="en-IN" sz="1300" dirty="0"/>
                        <a:t> #</a:t>
                      </a:r>
                      <a:r>
                        <a:rPr lang="en-IN" sz="1300" dirty="0" err="1"/>
                        <a:t>Customerreviews</a:t>
                      </a:r>
                      <a:endParaRPr lang="en-IN" sz="1300" dirty="0"/>
                    </a:p>
                    <a:p>
                      <a:endParaRPr lang="en-IN" sz="1300" dirty="0"/>
                    </a:p>
                  </a:txBody>
                  <a:tcPr/>
                </a:tc>
                <a:tc>
                  <a:txBody>
                    <a:bodyPr/>
                    <a:lstStyle/>
                    <a:p>
                      <a:r>
                        <a:rPr lang="en-IN" sz="1300" dirty="0"/>
                        <a:t>Download the app</a:t>
                      </a:r>
                    </a:p>
                  </a:txBody>
                  <a:tcPr/>
                </a:tc>
                <a:extLst>
                  <a:ext uri="{0D108BD9-81ED-4DB2-BD59-A6C34878D82A}">
                    <a16:rowId xmlns:a16="http://schemas.microsoft.com/office/drawing/2014/main" val="2480716284"/>
                  </a:ext>
                </a:extLst>
              </a:tr>
              <a:tr h="918361">
                <a:tc>
                  <a:txBody>
                    <a:bodyPr/>
                    <a:lstStyle/>
                    <a:p>
                      <a:r>
                        <a:rPr lang="en-US" sz="1300" dirty="0"/>
                        <a:t>Sep 30, Wed</a:t>
                      </a:r>
                      <a:endParaRPr lang="en-IN" sz="1300" dirty="0"/>
                    </a:p>
                  </a:txBody>
                  <a:tcPr/>
                </a:tc>
                <a:tc>
                  <a:txBody>
                    <a:bodyPr/>
                    <a:lstStyle/>
                    <a:p>
                      <a:r>
                        <a:rPr lang="en-US" sz="1300" dirty="0"/>
                        <a:t>Instagram reels, YouTube, Facebook story</a:t>
                      </a:r>
                      <a:endParaRPr lang="en-IN" sz="1300" dirty="0"/>
                    </a:p>
                  </a:txBody>
                  <a:tcPr/>
                </a:tc>
                <a:tc>
                  <a:txBody>
                    <a:bodyPr/>
                    <a:lstStyle/>
                    <a:p>
                      <a:r>
                        <a:rPr lang="en-IN" sz="1300" dirty="0"/>
                        <a:t>Festival </a:t>
                      </a:r>
                    </a:p>
                  </a:txBody>
                  <a:tcPr/>
                </a:tc>
                <a:tc>
                  <a:txBody>
                    <a:bodyPr/>
                    <a:lstStyle/>
                    <a:p>
                      <a:r>
                        <a:rPr lang="en-IN" sz="1300" dirty="0"/>
                        <a:t>Celebrate the festive season with Our Special DIY </a:t>
                      </a:r>
                      <a:r>
                        <a:rPr lang="en-IN" sz="1300" dirty="0" err="1"/>
                        <a:t>Modakam</a:t>
                      </a:r>
                      <a:r>
                        <a:rPr lang="en-IN" sz="1300" dirty="0"/>
                        <a:t> Collection</a:t>
                      </a:r>
                    </a:p>
                    <a:p>
                      <a:r>
                        <a:rPr lang="en-IN" sz="1300" dirty="0"/>
                        <a:t>#</a:t>
                      </a:r>
                      <a:r>
                        <a:rPr lang="en-IN" sz="1300" dirty="0" err="1"/>
                        <a:t>sweetkaramcoffee</a:t>
                      </a:r>
                      <a:r>
                        <a:rPr lang="en-IN" sz="1300" dirty="0"/>
                        <a:t> #</a:t>
                      </a:r>
                      <a:r>
                        <a:rPr lang="en-IN" sz="1300" dirty="0" err="1"/>
                        <a:t>SounthIndiansnacks</a:t>
                      </a:r>
                      <a:endParaRPr lang="en-IN" sz="1300" dirty="0"/>
                    </a:p>
                  </a:txBody>
                  <a:tcPr/>
                </a:tc>
                <a:tc>
                  <a:txBody>
                    <a:bodyPr/>
                    <a:lstStyle/>
                    <a:p>
                      <a:r>
                        <a:rPr lang="en-IN" sz="1300" dirty="0"/>
                        <a:t> Shop Now</a:t>
                      </a:r>
                    </a:p>
                  </a:txBody>
                  <a:tcPr/>
                </a:tc>
                <a:extLst>
                  <a:ext uri="{0D108BD9-81ED-4DB2-BD59-A6C34878D82A}">
                    <a16:rowId xmlns:a16="http://schemas.microsoft.com/office/drawing/2014/main" val="4000313310"/>
                  </a:ext>
                </a:extLst>
              </a:tr>
            </a:tbl>
          </a:graphicData>
        </a:graphic>
      </p:graphicFrame>
    </p:spTree>
    <p:extLst>
      <p:ext uri="{BB962C8B-B14F-4D97-AF65-F5344CB8AC3E}">
        <p14:creationId xmlns:p14="http://schemas.microsoft.com/office/powerpoint/2010/main" val="361002609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418E140E-74C3-4B92-B656-A119747A1BD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54082" y="2307"/>
            <a:ext cx="1337918" cy="941168"/>
          </a:xfrm>
          <a:prstGeom prst="rect">
            <a:avLst/>
          </a:prstGeom>
        </p:spPr>
      </p:pic>
      <p:pic>
        <p:nvPicPr>
          <p:cNvPr id="7" name="Content Placeholder 5">
            <a:extLst>
              <a:ext uri="{FF2B5EF4-FFF2-40B4-BE49-F238E27FC236}">
                <a16:creationId xmlns:a16="http://schemas.microsoft.com/office/drawing/2014/main" id="{146839E4-78E2-4F08-96E2-857234556CA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429" y="-47134"/>
            <a:ext cx="1131216" cy="948153"/>
          </a:xfrm>
          <a:prstGeom prst="rect">
            <a:avLst/>
          </a:prstGeom>
        </p:spPr>
      </p:pic>
      <p:sp>
        <p:nvSpPr>
          <p:cNvPr id="3" name="Rectangle: Rounded Corners 2">
            <a:extLst>
              <a:ext uri="{FF2B5EF4-FFF2-40B4-BE49-F238E27FC236}">
                <a16:creationId xmlns:a16="http://schemas.microsoft.com/office/drawing/2014/main" id="{62E2B840-29DC-4CE6-825F-55ED951A4C25}"/>
              </a:ext>
            </a:extLst>
          </p:cNvPr>
          <p:cNvSpPr/>
          <p:nvPr/>
        </p:nvSpPr>
        <p:spPr>
          <a:xfrm>
            <a:off x="2073895" y="2036190"/>
            <a:ext cx="8710367" cy="2366128"/>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4400" b="1" dirty="0">
                <a:latin typeface="Calibri" panose="020F0502020204030204" pitchFamily="34" charset="0"/>
                <a:ea typeface="Calibri" panose="020F0502020204030204" pitchFamily="34" charset="0"/>
                <a:cs typeface="Calibri" panose="020F0502020204030204" pitchFamily="34" charset="0"/>
              </a:rPr>
              <a:t>PPC PART ANALYSIS</a:t>
            </a:r>
            <a:endParaRPr lang="en-IN" sz="4400" b="1"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69918371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0031FA4-2792-41EF-A533-15D900364F8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54082" y="11734"/>
            <a:ext cx="1337918" cy="941168"/>
          </a:xfrm>
          <a:prstGeom prst="rect">
            <a:avLst/>
          </a:prstGeom>
        </p:spPr>
      </p:pic>
      <p:pic>
        <p:nvPicPr>
          <p:cNvPr id="7" name="Content Placeholder 5">
            <a:extLst>
              <a:ext uri="{FF2B5EF4-FFF2-40B4-BE49-F238E27FC236}">
                <a16:creationId xmlns:a16="http://schemas.microsoft.com/office/drawing/2014/main" id="{E8AB3975-4679-4A3E-BBA3-00D01A49CF6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429" y="-18854"/>
            <a:ext cx="1131216" cy="948153"/>
          </a:xfrm>
          <a:prstGeom prst="rect">
            <a:avLst/>
          </a:prstGeom>
        </p:spPr>
      </p:pic>
      <p:sp>
        <p:nvSpPr>
          <p:cNvPr id="4" name="Rectangle 3">
            <a:extLst>
              <a:ext uri="{FF2B5EF4-FFF2-40B4-BE49-F238E27FC236}">
                <a16:creationId xmlns:a16="http://schemas.microsoft.com/office/drawing/2014/main" id="{D9A957F8-8CC2-492F-A060-10E41DCFD949}"/>
              </a:ext>
            </a:extLst>
          </p:cNvPr>
          <p:cNvSpPr/>
          <p:nvPr/>
        </p:nvSpPr>
        <p:spPr>
          <a:xfrm>
            <a:off x="18853" y="980386"/>
            <a:ext cx="5184742" cy="3634068"/>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endParaRPr lang="en-IN" sz="1600" b="1" dirty="0">
              <a:latin typeface="Algerian" panose="04020705040A02060702" pitchFamily="82" charset="0"/>
            </a:endParaRPr>
          </a:p>
          <a:p>
            <a:r>
              <a:rPr lang="en-IN" sz="1600" b="1" dirty="0">
                <a:latin typeface="Algerian" panose="04020705040A02060702" pitchFamily="82" charset="0"/>
              </a:rPr>
              <a:t>CAMPAIGN SETTINGS</a:t>
            </a:r>
          </a:p>
          <a:p>
            <a:pPr marL="285750" indent="-285750">
              <a:buFont typeface="Arial" panose="020B0604020202020204" pitchFamily="34" charset="0"/>
              <a:buChar char="•"/>
            </a:pPr>
            <a:r>
              <a:rPr lang="en-IN" sz="1600" b="1" dirty="0"/>
              <a:t>Campaign Name: </a:t>
            </a:r>
            <a:r>
              <a:rPr lang="en-US" sz="1600" dirty="0"/>
              <a:t>Sweet Karam Coffee Search Ads</a:t>
            </a:r>
          </a:p>
          <a:p>
            <a:pPr marL="285750" indent="-285750">
              <a:buFont typeface="Arial" panose="020B0604020202020204" pitchFamily="34" charset="0"/>
              <a:buChar char="•"/>
            </a:pPr>
            <a:r>
              <a:rPr lang="en-US" sz="1600" b="1" dirty="0"/>
              <a:t>Campaign Objective: </a:t>
            </a:r>
            <a:r>
              <a:rPr lang="en-US" sz="1600" dirty="0"/>
              <a:t>Create a campaign without guidance</a:t>
            </a:r>
            <a:r>
              <a:rPr lang="en-IN" sz="1600" dirty="0"/>
              <a:t> </a:t>
            </a:r>
          </a:p>
          <a:p>
            <a:pPr marL="285750" indent="-285750">
              <a:buFont typeface="Arial" panose="020B0604020202020204" pitchFamily="34" charset="0"/>
              <a:buChar char="•"/>
            </a:pPr>
            <a:r>
              <a:rPr lang="en-IN" sz="1600" b="1" dirty="0"/>
              <a:t>Campaign Goal: </a:t>
            </a:r>
            <a:r>
              <a:rPr lang="en-IN" sz="1600" dirty="0"/>
              <a:t>Sales (Increase Online sales)</a:t>
            </a:r>
          </a:p>
          <a:p>
            <a:pPr marL="285750" indent="-285750">
              <a:buFont typeface="Arial" panose="020B0604020202020204" pitchFamily="34" charset="0"/>
              <a:buChar char="•"/>
            </a:pPr>
            <a:r>
              <a:rPr lang="en-IN" sz="1600" b="1" dirty="0"/>
              <a:t>Campaign Type: </a:t>
            </a:r>
            <a:r>
              <a:rPr lang="en-IN" sz="1600" dirty="0"/>
              <a:t>Search</a:t>
            </a:r>
          </a:p>
          <a:p>
            <a:pPr marL="285750" indent="-285750">
              <a:buFont typeface="Arial" panose="020B0604020202020204" pitchFamily="34" charset="0"/>
              <a:buChar char="•"/>
            </a:pPr>
            <a:r>
              <a:rPr lang="en-IN" sz="1600" b="1" dirty="0"/>
              <a:t>Location: </a:t>
            </a:r>
            <a:r>
              <a:rPr lang="en-IN" sz="1600" dirty="0"/>
              <a:t>India</a:t>
            </a:r>
          </a:p>
          <a:p>
            <a:pPr marL="285750" indent="-285750">
              <a:buFont typeface="Arial" panose="020B0604020202020204" pitchFamily="34" charset="0"/>
              <a:buChar char="•"/>
            </a:pPr>
            <a:r>
              <a:rPr lang="en-IN" sz="1600" b="1" dirty="0"/>
              <a:t>Ad Schedule: </a:t>
            </a:r>
            <a:r>
              <a:rPr lang="en-IN" sz="1600" dirty="0"/>
              <a:t>8 am-10 pm</a:t>
            </a:r>
          </a:p>
          <a:p>
            <a:pPr marL="285750" indent="-285750">
              <a:buFont typeface="Arial" panose="020B0604020202020204" pitchFamily="34" charset="0"/>
              <a:buChar char="•"/>
            </a:pPr>
            <a:r>
              <a:rPr lang="en-IN" sz="1600" b="1" dirty="0"/>
              <a:t>Languages: </a:t>
            </a:r>
            <a:r>
              <a:rPr lang="en-IN" sz="1600" dirty="0"/>
              <a:t>All languages</a:t>
            </a:r>
          </a:p>
          <a:p>
            <a:pPr marL="285750" indent="-285750">
              <a:buFont typeface="Arial" panose="020B0604020202020204" pitchFamily="34" charset="0"/>
              <a:buChar char="•"/>
            </a:pPr>
            <a:r>
              <a:rPr lang="en-IN" sz="1600" dirty="0"/>
              <a:t> </a:t>
            </a:r>
            <a:r>
              <a:rPr lang="en-IN" sz="1600" b="1" dirty="0"/>
              <a:t>Bidding Strategy: </a:t>
            </a:r>
            <a:r>
              <a:rPr lang="en-US" sz="1600" dirty="0"/>
              <a:t>Maximize Conversions</a:t>
            </a:r>
            <a:endParaRPr lang="en-IN" sz="1600" dirty="0"/>
          </a:p>
          <a:p>
            <a:pPr marL="285750" indent="-285750">
              <a:buFont typeface="Arial" panose="020B0604020202020204" pitchFamily="34" charset="0"/>
              <a:buChar char="•"/>
            </a:pPr>
            <a:r>
              <a:rPr lang="en-IN" sz="1600" b="1" dirty="0"/>
              <a:t>Audience: </a:t>
            </a:r>
            <a:r>
              <a:rPr lang="en-US" sz="1600" dirty="0"/>
              <a:t>Online shoppers, coffee lovers, food lovers, gift buyers, Families, Work Professionals.</a:t>
            </a:r>
            <a:endParaRPr lang="en-IN" sz="1600" dirty="0"/>
          </a:p>
          <a:p>
            <a:pPr marL="285750" indent="-285750">
              <a:buFont typeface="Arial" panose="020B0604020202020204" pitchFamily="34" charset="0"/>
              <a:buChar char="•"/>
            </a:pPr>
            <a:r>
              <a:rPr lang="en-IN" sz="1600" b="1" dirty="0"/>
              <a:t>Device:</a:t>
            </a:r>
            <a:r>
              <a:rPr lang="en-IN" sz="1600" dirty="0"/>
              <a:t> </a:t>
            </a:r>
            <a:r>
              <a:rPr lang="en-US" sz="1600" dirty="0"/>
              <a:t>Prioritize mobile</a:t>
            </a:r>
            <a:endParaRPr lang="en-IN" sz="1600" dirty="0"/>
          </a:p>
          <a:p>
            <a:pPr marL="285750" indent="-285750">
              <a:buFont typeface="Arial" panose="020B0604020202020204" pitchFamily="34" charset="0"/>
              <a:buChar char="•"/>
            </a:pPr>
            <a:r>
              <a:rPr lang="en-IN" sz="1600" b="1" dirty="0"/>
              <a:t>Daily Budget: </a:t>
            </a:r>
            <a:r>
              <a:rPr lang="en-IN" sz="1600" dirty="0"/>
              <a:t>1500/day</a:t>
            </a:r>
          </a:p>
          <a:p>
            <a:pPr marL="285750" indent="-285750">
              <a:buFont typeface="Arial" panose="020B0604020202020204" pitchFamily="34" charset="0"/>
              <a:buChar char="•"/>
            </a:pPr>
            <a:endParaRPr lang="en-IN" sz="1600" dirty="0"/>
          </a:p>
        </p:txBody>
      </p:sp>
      <p:sp>
        <p:nvSpPr>
          <p:cNvPr id="5" name="Rectangle 4">
            <a:extLst>
              <a:ext uri="{FF2B5EF4-FFF2-40B4-BE49-F238E27FC236}">
                <a16:creationId xmlns:a16="http://schemas.microsoft.com/office/drawing/2014/main" id="{0D8AE872-F538-496B-894D-824070E61A07}"/>
              </a:ext>
            </a:extLst>
          </p:cNvPr>
          <p:cNvSpPr/>
          <p:nvPr/>
        </p:nvSpPr>
        <p:spPr>
          <a:xfrm>
            <a:off x="5203595" y="980385"/>
            <a:ext cx="3516199" cy="5877613"/>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r>
              <a:rPr lang="en-IN" b="1" dirty="0">
                <a:latin typeface="Algerian" panose="04020705040A02060702" pitchFamily="82" charset="0"/>
              </a:rPr>
              <a:t>AD GROUP &amp; AD COPY</a:t>
            </a:r>
          </a:p>
          <a:p>
            <a:pPr marL="285750" indent="-285750">
              <a:buFont typeface="Arial" panose="020B0604020202020204" pitchFamily="34" charset="0"/>
              <a:buChar char="•"/>
            </a:pPr>
            <a:r>
              <a:rPr lang="en-IN" b="1" dirty="0"/>
              <a:t>Ad Group Name: </a:t>
            </a:r>
            <a:r>
              <a:rPr lang="en-IN" dirty="0"/>
              <a:t>Sweet Karam Coffee- Ad Group 1</a:t>
            </a:r>
          </a:p>
          <a:p>
            <a:r>
              <a:rPr lang="en-IN" b="1" dirty="0"/>
              <a:t>Headlines</a:t>
            </a:r>
          </a:p>
          <a:p>
            <a:pPr marL="285750" indent="-285750">
              <a:buFont typeface="Arial" panose="020B0604020202020204" pitchFamily="34" charset="0"/>
              <a:buChar char="•"/>
            </a:pPr>
            <a:r>
              <a:rPr lang="en-IN" dirty="0"/>
              <a:t> </a:t>
            </a:r>
            <a:r>
              <a:rPr lang="en-US" dirty="0"/>
              <a:t>Authentic South Indian Snacks</a:t>
            </a:r>
            <a:endParaRPr lang="en-IN" dirty="0"/>
          </a:p>
          <a:p>
            <a:pPr marL="285750" indent="-285750">
              <a:buFont typeface="Arial" panose="020B0604020202020204" pitchFamily="34" charset="0"/>
              <a:buChar char="•"/>
            </a:pPr>
            <a:r>
              <a:rPr lang="en-US" dirty="0"/>
              <a:t>Grandma’s Traditional Recipes</a:t>
            </a:r>
            <a:r>
              <a:rPr lang="en-IN" dirty="0"/>
              <a:t> </a:t>
            </a:r>
          </a:p>
          <a:p>
            <a:pPr marL="285750" indent="-285750">
              <a:buFont typeface="Arial" panose="020B0604020202020204" pitchFamily="34" charset="0"/>
              <a:buChar char="•"/>
            </a:pPr>
            <a:r>
              <a:rPr lang="en-IN" dirty="0"/>
              <a:t> Fast delivery across India</a:t>
            </a:r>
          </a:p>
          <a:p>
            <a:pPr marL="285750" indent="-285750">
              <a:buFont typeface="Arial" panose="020B0604020202020204" pitchFamily="34" charset="0"/>
              <a:buChar char="•"/>
            </a:pPr>
            <a:r>
              <a:rPr lang="en-IN" dirty="0"/>
              <a:t>Shop Janaki Patti’s special </a:t>
            </a:r>
          </a:p>
          <a:p>
            <a:pPr marL="285750" indent="-285750">
              <a:buFont typeface="Arial" panose="020B0604020202020204" pitchFamily="34" charset="0"/>
              <a:buChar char="•"/>
            </a:pPr>
            <a:r>
              <a:rPr lang="en-IN" dirty="0"/>
              <a:t> Healthy &amp; Preservative-Free</a:t>
            </a:r>
          </a:p>
          <a:p>
            <a:pPr marL="285750" indent="-285750">
              <a:buFont typeface="Arial" panose="020B0604020202020204" pitchFamily="34" charset="0"/>
              <a:buChar char="•"/>
            </a:pPr>
            <a:r>
              <a:rPr lang="en-IN" dirty="0"/>
              <a:t> Traditional  sweets</a:t>
            </a:r>
          </a:p>
          <a:p>
            <a:r>
              <a:rPr lang="en-IN" b="1" dirty="0"/>
              <a:t>Description</a:t>
            </a:r>
          </a:p>
          <a:p>
            <a:pPr marL="285750" indent="-285750">
              <a:buFont typeface="Arial" panose="020B0604020202020204" pitchFamily="34" charset="0"/>
              <a:buChar char="•"/>
            </a:pPr>
            <a:r>
              <a:rPr lang="en-IN" dirty="0"/>
              <a:t> </a:t>
            </a:r>
            <a:r>
              <a:rPr lang="en-US" dirty="0"/>
              <a:t>Experience authentic South Indian Snacks, sweets, and filter coffee made using grandma-inspired recipes.</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dirty="0"/>
              <a:t> Traditional recipes, preservative-free products</a:t>
            </a:r>
          </a:p>
          <a:p>
            <a:endParaRPr lang="en-IN" dirty="0"/>
          </a:p>
          <a:p>
            <a:endParaRPr lang="en-IN" dirty="0"/>
          </a:p>
        </p:txBody>
      </p:sp>
      <p:sp>
        <p:nvSpPr>
          <p:cNvPr id="8" name="Rectangle 7">
            <a:extLst>
              <a:ext uri="{FF2B5EF4-FFF2-40B4-BE49-F238E27FC236}">
                <a16:creationId xmlns:a16="http://schemas.microsoft.com/office/drawing/2014/main" id="{59D8ED5F-C9DC-441F-914B-0A2E46F81751}"/>
              </a:ext>
            </a:extLst>
          </p:cNvPr>
          <p:cNvSpPr/>
          <p:nvPr/>
        </p:nvSpPr>
        <p:spPr>
          <a:xfrm>
            <a:off x="18853" y="4614454"/>
            <a:ext cx="5184742" cy="2243545"/>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endParaRPr lang="en-IN" sz="1600" dirty="0"/>
          </a:p>
          <a:p>
            <a:endParaRPr lang="en-IN" sz="1600" dirty="0"/>
          </a:p>
          <a:p>
            <a:r>
              <a:rPr lang="en-IN" sz="1600" b="1" dirty="0">
                <a:latin typeface="Algerian" panose="04020705040A02060702" pitchFamily="82" charset="0"/>
              </a:rPr>
              <a:t>AD EXTENSIONS</a:t>
            </a:r>
          </a:p>
          <a:p>
            <a:pPr marL="285750" indent="-285750">
              <a:buFont typeface="Arial" panose="020B0604020202020204" pitchFamily="34" charset="0"/>
              <a:buChar char="•"/>
            </a:pPr>
            <a:r>
              <a:rPr lang="en-IN" sz="1600" dirty="0"/>
              <a:t>Call Extension: </a:t>
            </a:r>
            <a:r>
              <a:rPr lang="en-US" sz="1600" dirty="0"/>
              <a:t>7330068306(Get in touch)</a:t>
            </a:r>
          </a:p>
          <a:p>
            <a:pPr marL="285750" indent="-285750">
              <a:buFont typeface="Arial" panose="020B0604020202020204" pitchFamily="34" charset="0"/>
              <a:buChar char="•"/>
            </a:pPr>
            <a:r>
              <a:rPr lang="en-IN" sz="1600" dirty="0"/>
              <a:t>Location Extension: Chennai, Tamil Nadu</a:t>
            </a:r>
          </a:p>
          <a:p>
            <a:pPr marL="285750" indent="-285750">
              <a:buFont typeface="Arial" panose="020B0604020202020204" pitchFamily="34" charset="0"/>
              <a:buChar char="•"/>
            </a:pPr>
            <a:r>
              <a:rPr lang="en-IN" sz="1600" dirty="0"/>
              <a:t>Sitelink Extension: </a:t>
            </a:r>
            <a:r>
              <a:rPr lang="en-US" sz="1600" dirty="0"/>
              <a:t>Best sellers, Janaki </a:t>
            </a:r>
            <a:r>
              <a:rPr lang="en-US" sz="1600" dirty="0" err="1"/>
              <a:t>paati’s</a:t>
            </a:r>
            <a:r>
              <a:rPr lang="en-US" sz="1600" dirty="0"/>
              <a:t> store, New arrivals, Gift store</a:t>
            </a:r>
            <a:endParaRPr lang="en-IN" sz="1600" dirty="0"/>
          </a:p>
          <a:p>
            <a:pPr marL="285750" indent="-285750">
              <a:buFont typeface="Arial" panose="020B0604020202020204" pitchFamily="34" charset="0"/>
              <a:buChar char="•"/>
            </a:pPr>
            <a:r>
              <a:rPr lang="en-IN" sz="1600" dirty="0"/>
              <a:t>Structured Snippets: </a:t>
            </a:r>
            <a:r>
              <a:rPr lang="en-US" sz="1600" dirty="0"/>
              <a:t>snacks, sweets, filter coffee, gift boxes</a:t>
            </a:r>
          </a:p>
          <a:p>
            <a:pPr marL="285750" indent="-285750">
              <a:buFont typeface="Arial" panose="020B0604020202020204" pitchFamily="34" charset="0"/>
              <a:buChar char="•"/>
            </a:pPr>
            <a:r>
              <a:rPr lang="en-IN" sz="1600" dirty="0"/>
              <a:t>Callout Extension: </a:t>
            </a:r>
            <a:r>
              <a:rPr lang="en-US" sz="1600" dirty="0"/>
              <a:t>preservative- free, fast delivery, authentic taste, secure payment</a:t>
            </a:r>
            <a:endParaRPr lang="en-IN" sz="1600" dirty="0"/>
          </a:p>
          <a:p>
            <a:endParaRPr lang="en-IN" sz="1600" dirty="0"/>
          </a:p>
          <a:p>
            <a:endParaRPr lang="en-IN" sz="1600" dirty="0"/>
          </a:p>
        </p:txBody>
      </p:sp>
      <p:sp>
        <p:nvSpPr>
          <p:cNvPr id="11" name="Rectangle: Rounded Corners 10">
            <a:extLst>
              <a:ext uri="{FF2B5EF4-FFF2-40B4-BE49-F238E27FC236}">
                <a16:creationId xmlns:a16="http://schemas.microsoft.com/office/drawing/2014/main" id="{6853F517-12AD-4D94-9AD9-0BEE949197E2}"/>
              </a:ext>
            </a:extLst>
          </p:cNvPr>
          <p:cNvSpPr/>
          <p:nvPr/>
        </p:nvSpPr>
        <p:spPr>
          <a:xfrm>
            <a:off x="8719794" y="3240461"/>
            <a:ext cx="3453352" cy="3589289"/>
          </a:xfrm>
          <a:prstGeom prst="roundRect">
            <a:avLst/>
          </a:prstGeom>
        </p:spPr>
        <p:style>
          <a:lnRef idx="2">
            <a:schemeClr val="accent3"/>
          </a:lnRef>
          <a:fillRef idx="1">
            <a:schemeClr val="lt1"/>
          </a:fillRef>
          <a:effectRef idx="0">
            <a:schemeClr val="accent3"/>
          </a:effectRef>
          <a:fontRef idx="minor">
            <a:schemeClr val="dk1"/>
          </a:fontRef>
        </p:style>
        <p:txBody>
          <a:bodyPr rtlCol="0" anchor="ctr"/>
          <a:lstStyle/>
          <a:p>
            <a:r>
              <a:rPr lang="en-IN" b="1" dirty="0">
                <a:latin typeface="Algerian" panose="04020705040A02060702" pitchFamily="82" charset="0"/>
              </a:rPr>
              <a:t>Audience Targeting</a:t>
            </a:r>
          </a:p>
          <a:p>
            <a:pPr marL="285750" indent="-285750">
              <a:buFont typeface="Arial" panose="020B0604020202020204" pitchFamily="34" charset="0"/>
              <a:buChar char="•"/>
            </a:pPr>
            <a:r>
              <a:rPr lang="en-IN" dirty="0"/>
              <a:t>Online shoppers</a:t>
            </a:r>
          </a:p>
          <a:p>
            <a:pPr marL="285750" indent="-285750">
              <a:buFont typeface="Arial" panose="020B0604020202020204" pitchFamily="34" charset="0"/>
              <a:buChar char="•"/>
            </a:pPr>
            <a:r>
              <a:rPr lang="en-IN" dirty="0"/>
              <a:t>Coffee Lovers</a:t>
            </a:r>
          </a:p>
          <a:p>
            <a:pPr marL="285750" indent="-285750">
              <a:buFont typeface="Arial" panose="020B0604020202020204" pitchFamily="34" charset="0"/>
              <a:buChar char="•"/>
            </a:pPr>
            <a:r>
              <a:rPr lang="en-IN" dirty="0"/>
              <a:t>Food lovers</a:t>
            </a:r>
          </a:p>
          <a:p>
            <a:pPr marL="285750" indent="-285750">
              <a:buFont typeface="Arial" panose="020B0604020202020204" pitchFamily="34" charset="0"/>
              <a:buChar char="•"/>
            </a:pPr>
            <a:r>
              <a:rPr lang="en-IN" dirty="0"/>
              <a:t>Gift Buyers</a:t>
            </a:r>
          </a:p>
          <a:p>
            <a:pPr marL="285750" indent="-285750">
              <a:buFont typeface="Arial" panose="020B0604020202020204" pitchFamily="34" charset="0"/>
              <a:buChar char="•"/>
            </a:pPr>
            <a:r>
              <a:rPr lang="en-IN" dirty="0"/>
              <a:t>Age Groups: 18-55 yrs.</a:t>
            </a:r>
          </a:p>
          <a:p>
            <a:pPr marL="285750" indent="-285750">
              <a:buFont typeface="Arial" panose="020B0604020202020204" pitchFamily="34" charset="0"/>
              <a:buChar char="•"/>
            </a:pPr>
            <a:r>
              <a:rPr lang="en-IN" dirty="0"/>
              <a:t> Interests: Food &amp; Beverages, Online shopping, South Indian Cuisine.</a:t>
            </a:r>
          </a:p>
        </p:txBody>
      </p:sp>
      <p:sp>
        <p:nvSpPr>
          <p:cNvPr id="13" name="TextBox 12">
            <a:extLst>
              <a:ext uri="{FF2B5EF4-FFF2-40B4-BE49-F238E27FC236}">
                <a16:creationId xmlns:a16="http://schemas.microsoft.com/office/drawing/2014/main" id="{294BEB29-3B9B-43C4-8EC8-295E7B86E3D7}"/>
              </a:ext>
            </a:extLst>
          </p:cNvPr>
          <p:cNvSpPr txBox="1"/>
          <p:nvPr/>
        </p:nvSpPr>
        <p:spPr>
          <a:xfrm>
            <a:off x="3761295" y="245097"/>
            <a:ext cx="5335571" cy="523220"/>
          </a:xfrm>
          <a:prstGeom prst="rect">
            <a:avLst/>
          </a:prstGeom>
          <a:noFill/>
        </p:spPr>
        <p:txBody>
          <a:bodyPr wrap="square" rtlCol="0">
            <a:spAutoFit/>
          </a:bodyPr>
          <a:lstStyle/>
          <a:p>
            <a:pPr algn="ctr"/>
            <a:r>
              <a:rPr lang="en-US" sz="2800" b="1" dirty="0">
                <a:solidFill>
                  <a:schemeClr val="accent5">
                    <a:lumMod val="75000"/>
                  </a:schemeClr>
                </a:solidFill>
              </a:rPr>
              <a:t>G</a:t>
            </a:r>
            <a:r>
              <a:rPr lang="en-US" sz="2800" b="1" dirty="0">
                <a:solidFill>
                  <a:srgbClr val="FF0000"/>
                </a:solidFill>
              </a:rPr>
              <a:t>O</a:t>
            </a:r>
            <a:r>
              <a:rPr lang="en-US" sz="2800" b="1" dirty="0">
                <a:solidFill>
                  <a:schemeClr val="accent4"/>
                </a:solidFill>
              </a:rPr>
              <a:t>O</a:t>
            </a:r>
            <a:r>
              <a:rPr lang="en-US" sz="2800" b="1" dirty="0">
                <a:solidFill>
                  <a:schemeClr val="accent1"/>
                </a:solidFill>
              </a:rPr>
              <a:t>G</a:t>
            </a:r>
            <a:r>
              <a:rPr lang="en-US" sz="2800" b="1" dirty="0">
                <a:solidFill>
                  <a:schemeClr val="accent5">
                    <a:lumMod val="75000"/>
                  </a:schemeClr>
                </a:solidFill>
              </a:rPr>
              <a:t>L</a:t>
            </a:r>
            <a:r>
              <a:rPr lang="en-US" sz="2800" b="1" dirty="0">
                <a:solidFill>
                  <a:srgbClr val="FF0000"/>
                </a:solidFill>
              </a:rPr>
              <a:t>E</a:t>
            </a:r>
            <a:r>
              <a:rPr lang="en-US" sz="2800" b="1" dirty="0">
                <a:solidFill>
                  <a:schemeClr val="tx1">
                    <a:lumMod val="65000"/>
                    <a:lumOff val="35000"/>
                  </a:schemeClr>
                </a:solidFill>
              </a:rPr>
              <a:t> SEARCH</a:t>
            </a:r>
            <a:r>
              <a:rPr lang="en-US" sz="2800" b="1" dirty="0"/>
              <a:t> ADS CAMPAIGN</a:t>
            </a:r>
            <a:endParaRPr lang="en-IN" sz="2800" b="1" dirty="0"/>
          </a:p>
        </p:txBody>
      </p:sp>
      <p:sp>
        <p:nvSpPr>
          <p:cNvPr id="18" name="Rectangle: Rounded Corners 17">
            <a:extLst>
              <a:ext uri="{FF2B5EF4-FFF2-40B4-BE49-F238E27FC236}">
                <a16:creationId xmlns:a16="http://schemas.microsoft.com/office/drawing/2014/main" id="{8AAA2461-FFB3-47E9-94A6-9CA268F4CC72}"/>
              </a:ext>
            </a:extLst>
          </p:cNvPr>
          <p:cNvSpPr/>
          <p:nvPr/>
        </p:nvSpPr>
        <p:spPr>
          <a:xfrm>
            <a:off x="8961748" y="1011042"/>
            <a:ext cx="2969443" cy="2223166"/>
          </a:xfrm>
          <a:prstGeom prst="roundRect">
            <a:avLst/>
          </a:prstGeom>
        </p:spPr>
        <p:style>
          <a:lnRef idx="2">
            <a:schemeClr val="accent2"/>
          </a:lnRef>
          <a:fillRef idx="1">
            <a:schemeClr val="lt1"/>
          </a:fillRef>
          <a:effectRef idx="0">
            <a:schemeClr val="accent2"/>
          </a:effectRef>
          <a:fontRef idx="minor">
            <a:schemeClr val="dk1"/>
          </a:fontRef>
        </p:style>
        <p:txBody>
          <a:bodyPr rtlCol="0" anchor="ctr"/>
          <a:lstStyle/>
          <a:p>
            <a:endParaRPr lang="en-IN" dirty="0"/>
          </a:p>
          <a:p>
            <a:r>
              <a:rPr lang="en-IN" b="1" dirty="0">
                <a:latin typeface="Algerian" panose="04020705040A02060702" pitchFamily="82" charset="0"/>
              </a:rPr>
              <a:t>Keywords</a:t>
            </a:r>
          </a:p>
          <a:p>
            <a:pPr marL="285750" indent="-285750">
              <a:buFont typeface="Arial" panose="020B0604020202020204" pitchFamily="34" charset="0"/>
              <a:buChar char="•"/>
            </a:pPr>
            <a:r>
              <a:rPr lang="en-IN" dirty="0"/>
              <a:t>South Indian Sweets</a:t>
            </a:r>
          </a:p>
          <a:p>
            <a:pPr marL="285750" indent="-285750">
              <a:buFont typeface="Arial" panose="020B0604020202020204" pitchFamily="34" charset="0"/>
              <a:buChar char="•"/>
            </a:pPr>
            <a:r>
              <a:rPr lang="en-IN" dirty="0"/>
              <a:t>Filter Coffee Online</a:t>
            </a:r>
          </a:p>
          <a:p>
            <a:pPr marL="285750" indent="-285750">
              <a:buFont typeface="Arial" panose="020B0604020202020204" pitchFamily="34" charset="0"/>
              <a:buChar char="•"/>
            </a:pPr>
            <a:r>
              <a:rPr lang="en-IN" dirty="0"/>
              <a:t>Buy Murukku</a:t>
            </a:r>
          </a:p>
          <a:p>
            <a:pPr marL="285750" indent="-285750">
              <a:buFont typeface="Arial" panose="020B0604020202020204" pitchFamily="34" charset="0"/>
              <a:buChar char="•"/>
            </a:pPr>
            <a:r>
              <a:rPr lang="en-IN" dirty="0"/>
              <a:t>Sweet Karam Coffee</a:t>
            </a:r>
          </a:p>
          <a:p>
            <a:pPr marL="285750" indent="-285750">
              <a:buFont typeface="Arial" panose="020B0604020202020204" pitchFamily="34" charset="0"/>
              <a:buChar char="•"/>
            </a:pPr>
            <a:r>
              <a:rPr lang="en-IN" dirty="0"/>
              <a:t>Traditional South Indian Snacks</a:t>
            </a:r>
          </a:p>
          <a:p>
            <a:pPr algn="ctr"/>
            <a:endParaRPr lang="en-IN" dirty="0"/>
          </a:p>
        </p:txBody>
      </p:sp>
      <p:pic>
        <p:nvPicPr>
          <p:cNvPr id="20" name="Picture 19">
            <a:extLst>
              <a:ext uri="{FF2B5EF4-FFF2-40B4-BE49-F238E27FC236}">
                <a16:creationId xmlns:a16="http://schemas.microsoft.com/office/drawing/2014/main" id="{ABD07DD9-18F0-4A02-B06D-272FBD2854D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224397" y="224449"/>
            <a:ext cx="947738" cy="704850"/>
          </a:xfrm>
          <a:prstGeom prst="rect">
            <a:avLst/>
          </a:prstGeom>
        </p:spPr>
      </p:pic>
    </p:spTree>
    <p:extLst>
      <p:ext uri="{BB962C8B-B14F-4D97-AF65-F5344CB8AC3E}">
        <p14:creationId xmlns:p14="http://schemas.microsoft.com/office/powerpoint/2010/main" val="390230658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0031FA4-2792-41EF-A533-15D900364F8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54082" y="11734"/>
            <a:ext cx="1337918" cy="941168"/>
          </a:xfrm>
          <a:prstGeom prst="rect">
            <a:avLst/>
          </a:prstGeom>
        </p:spPr>
      </p:pic>
      <p:pic>
        <p:nvPicPr>
          <p:cNvPr id="7" name="Content Placeholder 5">
            <a:extLst>
              <a:ext uri="{FF2B5EF4-FFF2-40B4-BE49-F238E27FC236}">
                <a16:creationId xmlns:a16="http://schemas.microsoft.com/office/drawing/2014/main" id="{E8AB3975-4679-4A3E-BBA3-00D01A49CF6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429" y="-18854"/>
            <a:ext cx="1131216" cy="948153"/>
          </a:xfrm>
          <a:prstGeom prst="rect">
            <a:avLst/>
          </a:prstGeom>
        </p:spPr>
      </p:pic>
      <p:sp>
        <p:nvSpPr>
          <p:cNvPr id="4" name="Rectangle 3">
            <a:extLst>
              <a:ext uri="{FF2B5EF4-FFF2-40B4-BE49-F238E27FC236}">
                <a16:creationId xmlns:a16="http://schemas.microsoft.com/office/drawing/2014/main" id="{D9A957F8-8CC2-492F-A060-10E41DCFD949}"/>
              </a:ext>
            </a:extLst>
          </p:cNvPr>
          <p:cNvSpPr/>
          <p:nvPr/>
        </p:nvSpPr>
        <p:spPr>
          <a:xfrm>
            <a:off x="0" y="980386"/>
            <a:ext cx="5203595" cy="3634068"/>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endParaRPr lang="en-IN" sz="1600" b="1" dirty="0">
              <a:latin typeface="Algerian" panose="04020705040A02060702" pitchFamily="82" charset="0"/>
            </a:endParaRPr>
          </a:p>
          <a:p>
            <a:r>
              <a:rPr lang="en-IN" sz="1600" b="1" dirty="0">
                <a:latin typeface="Algerian" panose="04020705040A02060702" pitchFamily="82" charset="0"/>
              </a:rPr>
              <a:t>CAMPAIGN SETTINGS</a:t>
            </a:r>
          </a:p>
          <a:p>
            <a:pPr marL="285750" indent="-285750">
              <a:buFont typeface="Arial" panose="020B0604020202020204" pitchFamily="34" charset="0"/>
              <a:buChar char="•"/>
            </a:pPr>
            <a:r>
              <a:rPr lang="en-IN" sz="1600" b="1" dirty="0"/>
              <a:t>Campaign Name: </a:t>
            </a:r>
            <a:r>
              <a:rPr lang="en-US" sz="1600" dirty="0"/>
              <a:t>Sweet Karam Coffee Display Ads</a:t>
            </a:r>
          </a:p>
          <a:p>
            <a:pPr marL="285750" indent="-285750">
              <a:buFont typeface="Arial" panose="020B0604020202020204" pitchFamily="34" charset="0"/>
              <a:buChar char="•"/>
            </a:pPr>
            <a:r>
              <a:rPr lang="en-US" sz="1600" b="1" dirty="0"/>
              <a:t>Campaign Objective: </a:t>
            </a:r>
            <a:r>
              <a:rPr lang="en-US" sz="1600" dirty="0"/>
              <a:t>Create a campaign without guidance</a:t>
            </a:r>
            <a:r>
              <a:rPr lang="en-IN" sz="1600" dirty="0"/>
              <a:t>  </a:t>
            </a:r>
          </a:p>
          <a:p>
            <a:pPr marL="285750" indent="-285750">
              <a:buFont typeface="Arial" panose="020B0604020202020204" pitchFamily="34" charset="0"/>
              <a:buChar char="•"/>
            </a:pPr>
            <a:r>
              <a:rPr lang="en-IN" sz="1600" b="1" dirty="0"/>
              <a:t>Campaign Goal: </a:t>
            </a:r>
            <a:r>
              <a:rPr lang="en-IN" sz="1600" dirty="0"/>
              <a:t>Sales (Increase Online sales)</a:t>
            </a:r>
          </a:p>
          <a:p>
            <a:pPr marL="285750" indent="-285750">
              <a:buFont typeface="Arial" panose="020B0604020202020204" pitchFamily="34" charset="0"/>
              <a:buChar char="•"/>
            </a:pPr>
            <a:r>
              <a:rPr lang="en-IN" sz="1600" b="1" dirty="0"/>
              <a:t>Campaign Type: </a:t>
            </a:r>
            <a:r>
              <a:rPr lang="en-IN" sz="1600" dirty="0"/>
              <a:t>Display</a:t>
            </a:r>
          </a:p>
          <a:p>
            <a:pPr marL="285750" indent="-285750">
              <a:buFont typeface="Arial" panose="020B0604020202020204" pitchFamily="34" charset="0"/>
              <a:buChar char="•"/>
            </a:pPr>
            <a:r>
              <a:rPr lang="en-IN" sz="1600" b="1" dirty="0"/>
              <a:t>Location: </a:t>
            </a:r>
            <a:r>
              <a:rPr lang="en-IN" sz="1600" dirty="0"/>
              <a:t>India</a:t>
            </a:r>
          </a:p>
          <a:p>
            <a:pPr marL="285750" indent="-285750">
              <a:buFont typeface="Arial" panose="020B0604020202020204" pitchFamily="34" charset="0"/>
              <a:buChar char="•"/>
            </a:pPr>
            <a:r>
              <a:rPr lang="en-IN" sz="1600" b="1" dirty="0"/>
              <a:t>Ad Schedule: </a:t>
            </a:r>
            <a:r>
              <a:rPr lang="en-IN" sz="1600" dirty="0"/>
              <a:t>8 am-10 pm</a:t>
            </a:r>
          </a:p>
          <a:p>
            <a:pPr marL="285750" indent="-285750">
              <a:buFont typeface="Arial" panose="020B0604020202020204" pitchFamily="34" charset="0"/>
              <a:buChar char="•"/>
            </a:pPr>
            <a:r>
              <a:rPr lang="en-IN" sz="1600" b="1" dirty="0"/>
              <a:t>Languages: </a:t>
            </a:r>
            <a:r>
              <a:rPr lang="en-IN" sz="1600" dirty="0"/>
              <a:t>All languages</a:t>
            </a:r>
          </a:p>
          <a:p>
            <a:pPr marL="285750" indent="-285750">
              <a:buFont typeface="Arial" panose="020B0604020202020204" pitchFamily="34" charset="0"/>
              <a:buChar char="•"/>
            </a:pPr>
            <a:r>
              <a:rPr lang="en-IN" sz="1600" dirty="0"/>
              <a:t> </a:t>
            </a:r>
            <a:r>
              <a:rPr lang="en-IN" sz="1600" b="1" dirty="0"/>
              <a:t>Bidding Strategy: </a:t>
            </a:r>
            <a:r>
              <a:rPr lang="en-US" sz="1600" dirty="0"/>
              <a:t>Maximize Conversions</a:t>
            </a:r>
            <a:endParaRPr lang="en-IN" sz="1600" dirty="0"/>
          </a:p>
          <a:p>
            <a:pPr marL="285750" indent="-285750">
              <a:buFont typeface="Arial" panose="020B0604020202020204" pitchFamily="34" charset="0"/>
              <a:buChar char="•"/>
            </a:pPr>
            <a:r>
              <a:rPr lang="en-IN" sz="1600" b="1" dirty="0"/>
              <a:t>Audience: </a:t>
            </a:r>
            <a:r>
              <a:rPr lang="en-US" sz="1600" dirty="0"/>
              <a:t>Online shoppers, coffee lovers, food lovers, gift buyers, Families, Work Professionals.</a:t>
            </a:r>
            <a:endParaRPr lang="en-IN" sz="1600" dirty="0"/>
          </a:p>
          <a:p>
            <a:pPr marL="285750" indent="-285750">
              <a:buFont typeface="Arial" panose="020B0604020202020204" pitchFamily="34" charset="0"/>
              <a:buChar char="•"/>
            </a:pPr>
            <a:r>
              <a:rPr lang="en-IN" sz="1600" b="1" dirty="0"/>
              <a:t>Device:</a:t>
            </a:r>
            <a:r>
              <a:rPr lang="en-IN" sz="1600" dirty="0"/>
              <a:t> </a:t>
            </a:r>
            <a:r>
              <a:rPr lang="en-US" sz="1600" dirty="0"/>
              <a:t>Prioritize mobile</a:t>
            </a:r>
            <a:endParaRPr lang="en-IN" sz="1600" dirty="0"/>
          </a:p>
          <a:p>
            <a:pPr marL="285750" indent="-285750">
              <a:buFont typeface="Arial" panose="020B0604020202020204" pitchFamily="34" charset="0"/>
              <a:buChar char="•"/>
            </a:pPr>
            <a:r>
              <a:rPr lang="en-IN" sz="1600" b="1" dirty="0"/>
              <a:t>Daily Budget: </a:t>
            </a:r>
            <a:r>
              <a:rPr lang="en-IN" sz="1600" dirty="0"/>
              <a:t>100/day</a:t>
            </a:r>
          </a:p>
          <a:p>
            <a:endParaRPr lang="en-IN" sz="1600" dirty="0"/>
          </a:p>
        </p:txBody>
      </p:sp>
      <p:sp>
        <p:nvSpPr>
          <p:cNvPr id="5" name="Rectangle 4">
            <a:extLst>
              <a:ext uri="{FF2B5EF4-FFF2-40B4-BE49-F238E27FC236}">
                <a16:creationId xmlns:a16="http://schemas.microsoft.com/office/drawing/2014/main" id="{0D8AE872-F538-496B-894D-824070E61A07}"/>
              </a:ext>
            </a:extLst>
          </p:cNvPr>
          <p:cNvSpPr/>
          <p:nvPr/>
        </p:nvSpPr>
        <p:spPr>
          <a:xfrm>
            <a:off x="5203595" y="980385"/>
            <a:ext cx="6542202" cy="5877613"/>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r>
              <a:rPr lang="en-IN" b="1" dirty="0">
                <a:latin typeface="Algerian" panose="04020705040A02060702" pitchFamily="82" charset="0"/>
              </a:rPr>
              <a:t>Ads creation</a:t>
            </a:r>
          </a:p>
          <a:p>
            <a:r>
              <a:rPr lang="en-IN" b="1" dirty="0"/>
              <a:t>URL: </a:t>
            </a:r>
            <a:r>
              <a:rPr lang="en-IN" dirty="0"/>
              <a:t>https://sweetkaramcoffee.in/collections/all</a:t>
            </a:r>
          </a:p>
          <a:p>
            <a:r>
              <a:rPr lang="en-IN" b="1" dirty="0"/>
              <a:t>Responsive Display Ads </a:t>
            </a:r>
            <a:r>
              <a:rPr lang="en-IN" dirty="0"/>
              <a:t>(Image, Logo, Video)</a:t>
            </a:r>
            <a:endParaRPr lang="en-IN" b="1" dirty="0"/>
          </a:p>
          <a:p>
            <a:r>
              <a:rPr lang="en-IN" b="1" dirty="0"/>
              <a:t>Headline 1: </a:t>
            </a:r>
            <a:r>
              <a:rPr lang="en-IN" dirty="0"/>
              <a:t>Authentic South Indian Snacks</a:t>
            </a:r>
          </a:p>
          <a:p>
            <a:r>
              <a:rPr lang="en-IN" b="1" dirty="0"/>
              <a:t>Headline 2:</a:t>
            </a:r>
            <a:r>
              <a:rPr lang="en-IN" dirty="0"/>
              <a:t> Grandma’s Special Recipes</a:t>
            </a:r>
            <a:endParaRPr lang="en-IN" b="1" dirty="0"/>
          </a:p>
          <a:p>
            <a:r>
              <a:rPr lang="en-IN" b="1" dirty="0"/>
              <a:t>Headline 3: </a:t>
            </a:r>
            <a:r>
              <a:rPr lang="en-IN" dirty="0"/>
              <a:t>Taste the South at your home</a:t>
            </a:r>
            <a:endParaRPr lang="en-IN" b="1" dirty="0"/>
          </a:p>
          <a:p>
            <a:r>
              <a:rPr lang="en-IN" b="1" dirty="0"/>
              <a:t>Headline 4: </a:t>
            </a:r>
            <a:r>
              <a:rPr lang="en-IN" dirty="0"/>
              <a:t>Shop Janaki Patti’s Store</a:t>
            </a:r>
            <a:endParaRPr lang="en-IN" b="1" dirty="0"/>
          </a:p>
          <a:p>
            <a:r>
              <a:rPr lang="en-IN" b="1" dirty="0"/>
              <a:t>Headline 5: </a:t>
            </a:r>
            <a:r>
              <a:rPr lang="en-IN" dirty="0"/>
              <a:t>Premium Filter Coffee</a:t>
            </a:r>
            <a:endParaRPr lang="en-IN" b="1" dirty="0"/>
          </a:p>
          <a:p>
            <a:r>
              <a:rPr lang="en-IN" b="1" dirty="0"/>
              <a:t>Long Headline: </a:t>
            </a:r>
            <a:r>
              <a:rPr lang="en-IN" dirty="0"/>
              <a:t>Enjoy Grandma’s recipes with healthy, preservative-free Goodness.</a:t>
            </a:r>
            <a:endParaRPr lang="en-IN" b="1" dirty="0"/>
          </a:p>
          <a:p>
            <a:r>
              <a:rPr lang="en-IN" b="1" dirty="0"/>
              <a:t>Description 1: </a:t>
            </a:r>
            <a:r>
              <a:rPr lang="en-IN" dirty="0"/>
              <a:t>Enjoy Authentic South Indian snacks, sweets, and filter coffee delivered to your home</a:t>
            </a:r>
          </a:p>
          <a:p>
            <a:r>
              <a:rPr lang="en-IN" b="1" dirty="0"/>
              <a:t>Description 2: </a:t>
            </a:r>
            <a:r>
              <a:rPr lang="en-IN" dirty="0"/>
              <a:t>Discover preservative-free traditional recipes made with premium-quality ingredients</a:t>
            </a:r>
          </a:p>
          <a:p>
            <a:r>
              <a:rPr lang="en-IN" b="1" dirty="0"/>
              <a:t>Description 3: </a:t>
            </a:r>
            <a:r>
              <a:rPr lang="en-IN" dirty="0"/>
              <a:t>Shop Authentic South Indian snacks, gift boxes, and premium filter coffee online</a:t>
            </a:r>
            <a:endParaRPr lang="en-IN" b="1" dirty="0"/>
          </a:p>
          <a:p>
            <a:endParaRPr lang="en-IN" b="1" dirty="0"/>
          </a:p>
          <a:p>
            <a:r>
              <a:rPr lang="en-IN" b="1" dirty="0"/>
              <a:t>Call to Action: </a:t>
            </a:r>
            <a:r>
              <a:rPr lang="en-IN" dirty="0"/>
              <a:t>Shop Now</a:t>
            </a:r>
            <a:endParaRPr lang="en-IN" b="1" dirty="0"/>
          </a:p>
          <a:p>
            <a:endParaRPr lang="en-IN" b="1" dirty="0"/>
          </a:p>
          <a:p>
            <a:endParaRPr lang="en-IN" b="1" dirty="0">
              <a:latin typeface="Algerian" panose="04020705040A02060702" pitchFamily="82" charset="0"/>
            </a:endParaRPr>
          </a:p>
        </p:txBody>
      </p:sp>
      <p:sp>
        <p:nvSpPr>
          <p:cNvPr id="8" name="Rectangle 7">
            <a:extLst>
              <a:ext uri="{FF2B5EF4-FFF2-40B4-BE49-F238E27FC236}">
                <a16:creationId xmlns:a16="http://schemas.microsoft.com/office/drawing/2014/main" id="{59D8ED5F-C9DC-441F-914B-0A2E46F81751}"/>
              </a:ext>
            </a:extLst>
          </p:cNvPr>
          <p:cNvSpPr/>
          <p:nvPr/>
        </p:nvSpPr>
        <p:spPr>
          <a:xfrm>
            <a:off x="0" y="4614454"/>
            <a:ext cx="5203595" cy="2243545"/>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endParaRPr lang="en-IN" sz="1600" b="1" dirty="0">
              <a:latin typeface="Algerian" panose="04020705040A02060702" pitchFamily="82" charset="0"/>
            </a:endParaRPr>
          </a:p>
          <a:p>
            <a:endParaRPr lang="en-IN" sz="1600" b="1" dirty="0">
              <a:latin typeface="Algerian" panose="04020705040A02060702" pitchFamily="82" charset="0"/>
            </a:endParaRPr>
          </a:p>
          <a:p>
            <a:r>
              <a:rPr lang="en-IN" sz="1600" b="1" dirty="0">
                <a:latin typeface="Algerian" panose="04020705040A02060702" pitchFamily="82" charset="0"/>
              </a:rPr>
              <a:t>Audience Targeting</a:t>
            </a:r>
          </a:p>
          <a:p>
            <a:pPr marL="285750" indent="-285750">
              <a:buFont typeface="Arial" panose="020B0604020202020204" pitchFamily="34" charset="0"/>
              <a:buChar char="•"/>
            </a:pPr>
            <a:r>
              <a:rPr lang="en-IN" sz="1600" dirty="0"/>
              <a:t>Online shoppers</a:t>
            </a:r>
          </a:p>
          <a:p>
            <a:pPr marL="285750" indent="-285750">
              <a:buFont typeface="Arial" panose="020B0604020202020204" pitchFamily="34" charset="0"/>
              <a:buChar char="•"/>
            </a:pPr>
            <a:r>
              <a:rPr lang="en-IN" sz="1600" dirty="0"/>
              <a:t>Coffee Lovers</a:t>
            </a:r>
          </a:p>
          <a:p>
            <a:pPr marL="285750" indent="-285750">
              <a:buFont typeface="Arial" panose="020B0604020202020204" pitchFamily="34" charset="0"/>
              <a:buChar char="•"/>
            </a:pPr>
            <a:r>
              <a:rPr lang="en-IN" sz="1600" dirty="0"/>
              <a:t>Food lovers</a:t>
            </a:r>
          </a:p>
          <a:p>
            <a:pPr marL="285750" indent="-285750">
              <a:buFont typeface="Arial" panose="020B0604020202020204" pitchFamily="34" charset="0"/>
              <a:buChar char="•"/>
            </a:pPr>
            <a:r>
              <a:rPr lang="en-IN" sz="1600" dirty="0"/>
              <a:t>Gift Buyers</a:t>
            </a:r>
          </a:p>
          <a:p>
            <a:pPr marL="285750" indent="-285750">
              <a:buFont typeface="Arial" panose="020B0604020202020204" pitchFamily="34" charset="0"/>
              <a:buChar char="•"/>
            </a:pPr>
            <a:r>
              <a:rPr lang="en-IN" sz="1600" dirty="0"/>
              <a:t>Age Groups: 18-55 yrs.</a:t>
            </a:r>
          </a:p>
          <a:p>
            <a:pPr marL="285750" indent="-285750">
              <a:buFont typeface="Arial" panose="020B0604020202020204" pitchFamily="34" charset="0"/>
              <a:buChar char="•"/>
            </a:pPr>
            <a:r>
              <a:rPr lang="en-IN" sz="1600" dirty="0"/>
              <a:t> Interests: Food &amp; Beverages, Online shopping, South Indian Cuisine.</a:t>
            </a:r>
          </a:p>
          <a:p>
            <a:endParaRPr lang="en-IN" sz="1600" b="1" dirty="0">
              <a:latin typeface="Algerian" panose="04020705040A02060702" pitchFamily="82" charset="0"/>
            </a:endParaRPr>
          </a:p>
          <a:p>
            <a:endParaRPr lang="en-IN" sz="1600" dirty="0"/>
          </a:p>
        </p:txBody>
      </p:sp>
      <p:sp>
        <p:nvSpPr>
          <p:cNvPr id="11" name="Rectangle: Rounded Corners 10">
            <a:extLst>
              <a:ext uri="{FF2B5EF4-FFF2-40B4-BE49-F238E27FC236}">
                <a16:creationId xmlns:a16="http://schemas.microsoft.com/office/drawing/2014/main" id="{6853F517-12AD-4D94-9AD9-0BEE949197E2}"/>
              </a:ext>
            </a:extLst>
          </p:cNvPr>
          <p:cNvSpPr/>
          <p:nvPr/>
        </p:nvSpPr>
        <p:spPr>
          <a:xfrm>
            <a:off x="10274335" y="1244336"/>
            <a:ext cx="1159493" cy="1958419"/>
          </a:xfrm>
          <a:prstGeom prst="roundRect">
            <a:avLst/>
          </a:prstGeom>
          <a:blipFill dpi="0" rotWithShape="1">
            <a:blip r:embed="rId4">
              <a:extLst>
                <a:ext uri="{28A0092B-C50C-407E-A947-70E740481C1C}">
                  <a14:useLocalDpi xmlns:a14="http://schemas.microsoft.com/office/drawing/2010/main" val="0"/>
                </a:ext>
              </a:extLst>
            </a:blip>
            <a:srcRect/>
            <a:stretch>
              <a:fillRect/>
            </a:stretch>
          </a:blipFill>
        </p:spPr>
        <p:style>
          <a:lnRef idx="2">
            <a:schemeClr val="accent3"/>
          </a:lnRef>
          <a:fillRef idx="1">
            <a:schemeClr val="lt1"/>
          </a:fillRef>
          <a:effectRef idx="0">
            <a:schemeClr val="accent3"/>
          </a:effectRef>
          <a:fontRef idx="minor">
            <a:schemeClr val="dk1"/>
          </a:fontRef>
        </p:style>
        <p:txBody>
          <a:bodyPr rtlCol="0" anchor="ctr"/>
          <a:lstStyle/>
          <a:p>
            <a:endParaRPr lang="en-IN" dirty="0"/>
          </a:p>
        </p:txBody>
      </p:sp>
      <p:sp>
        <p:nvSpPr>
          <p:cNvPr id="13" name="TextBox 12">
            <a:extLst>
              <a:ext uri="{FF2B5EF4-FFF2-40B4-BE49-F238E27FC236}">
                <a16:creationId xmlns:a16="http://schemas.microsoft.com/office/drawing/2014/main" id="{294BEB29-3B9B-43C4-8EC8-295E7B86E3D7}"/>
              </a:ext>
            </a:extLst>
          </p:cNvPr>
          <p:cNvSpPr txBox="1"/>
          <p:nvPr/>
        </p:nvSpPr>
        <p:spPr>
          <a:xfrm>
            <a:off x="3761295" y="245097"/>
            <a:ext cx="5335571" cy="523220"/>
          </a:xfrm>
          <a:prstGeom prst="rect">
            <a:avLst/>
          </a:prstGeom>
          <a:noFill/>
        </p:spPr>
        <p:txBody>
          <a:bodyPr wrap="square" rtlCol="0">
            <a:spAutoFit/>
          </a:bodyPr>
          <a:lstStyle/>
          <a:p>
            <a:pPr algn="ctr"/>
            <a:r>
              <a:rPr lang="en-US" sz="2800" b="1" dirty="0">
                <a:solidFill>
                  <a:schemeClr val="accent5">
                    <a:lumMod val="75000"/>
                  </a:schemeClr>
                </a:solidFill>
              </a:rPr>
              <a:t>G</a:t>
            </a:r>
            <a:r>
              <a:rPr lang="en-US" sz="2800" b="1" dirty="0">
                <a:solidFill>
                  <a:srgbClr val="FF0000"/>
                </a:solidFill>
              </a:rPr>
              <a:t>O</a:t>
            </a:r>
            <a:r>
              <a:rPr lang="en-US" sz="2800" b="1" dirty="0">
                <a:solidFill>
                  <a:schemeClr val="accent4"/>
                </a:solidFill>
              </a:rPr>
              <a:t>O</a:t>
            </a:r>
            <a:r>
              <a:rPr lang="en-US" sz="2800" b="1" dirty="0">
                <a:solidFill>
                  <a:schemeClr val="accent1"/>
                </a:solidFill>
              </a:rPr>
              <a:t>G</a:t>
            </a:r>
            <a:r>
              <a:rPr lang="en-US" sz="2800" b="1" dirty="0">
                <a:solidFill>
                  <a:schemeClr val="accent5">
                    <a:lumMod val="75000"/>
                  </a:schemeClr>
                </a:solidFill>
              </a:rPr>
              <a:t>L</a:t>
            </a:r>
            <a:r>
              <a:rPr lang="en-US" sz="2800" b="1" dirty="0">
                <a:solidFill>
                  <a:srgbClr val="FF0000"/>
                </a:solidFill>
              </a:rPr>
              <a:t>E</a:t>
            </a:r>
            <a:r>
              <a:rPr lang="en-US" sz="2800" b="1" dirty="0">
                <a:solidFill>
                  <a:schemeClr val="tx1">
                    <a:lumMod val="65000"/>
                    <a:lumOff val="35000"/>
                  </a:schemeClr>
                </a:solidFill>
              </a:rPr>
              <a:t> </a:t>
            </a:r>
            <a:r>
              <a:rPr lang="en-US" sz="2800" b="1" dirty="0">
                <a:solidFill>
                  <a:schemeClr val="tx1">
                    <a:lumMod val="85000"/>
                    <a:lumOff val="15000"/>
                  </a:schemeClr>
                </a:solidFill>
              </a:rPr>
              <a:t>DISPLAY </a:t>
            </a:r>
            <a:r>
              <a:rPr lang="en-US" sz="2800" b="1" dirty="0"/>
              <a:t>ADS CAMPAIGN</a:t>
            </a:r>
            <a:endParaRPr lang="en-IN" sz="2800" b="1" dirty="0"/>
          </a:p>
        </p:txBody>
      </p:sp>
      <p:pic>
        <p:nvPicPr>
          <p:cNvPr id="20" name="Picture 19">
            <a:extLst>
              <a:ext uri="{FF2B5EF4-FFF2-40B4-BE49-F238E27FC236}">
                <a16:creationId xmlns:a16="http://schemas.microsoft.com/office/drawing/2014/main" id="{ABD07DD9-18F0-4A02-B06D-272FBD2854D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224397" y="224449"/>
            <a:ext cx="947738" cy="704850"/>
          </a:xfrm>
          <a:prstGeom prst="rect">
            <a:avLst/>
          </a:prstGeom>
        </p:spPr>
      </p:pic>
      <p:sp>
        <p:nvSpPr>
          <p:cNvPr id="2" name="Rectangle 1">
            <a:extLst>
              <a:ext uri="{FF2B5EF4-FFF2-40B4-BE49-F238E27FC236}">
                <a16:creationId xmlns:a16="http://schemas.microsoft.com/office/drawing/2014/main" id="{520EB8DE-B8E4-49B7-8A03-FED2C4E9CCE3}"/>
              </a:ext>
            </a:extLst>
          </p:cNvPr>
          <p:cNvSpPr/>
          <p:nvPr/>
        </p:nvSpPr>
        <p:spPr>
          <a:xfrm rot="5400000">
            <a:off x="9012983" y="3685713"/>
            <a:ext cx="5893364" cy="427741"/>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IN" sz="2800" b="1" dirty="0"/>
              <a:t>SWEET KARAM COFFEE</a:t>
            </a:r>
          </a:p>
        </p:txBody>
      </p:sp>
    </p:spTree>
    <p:extLst>
      <p:ext uri="{BB962C8B-B14F-4D97-AF65-F5344CB8AC3E}">
        <p14:creationId xmlns:p14="http://schemas.microsoft.com/office/powerpoint/2010/main" val="294757987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511D8C47-EED9-4240-B624-F5A29C12233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54082" y="11734"/>
            <a:ext cx="1337918" cy="941168"/>
          </a:xfrm>
          <a:prstGeom prst="rect">
            <a:avLst/>
          </a:prstGeom>
        </p:spPr>
      </p:pic>
      <p:pic>
        <p:nvPicPr>
          <p:cNvPr id="7" name="Content Placeholder 5">
            <a:extLst>
              <a:ext uri="{FF2B5EF4-FFF2-40B4-BE49-F238E27FC236}">
                <a16:creationId xmlns:a16="http://schemas.microsoft.com/office/drawing/2014/main" id="{01DFCB67-8AE6-4CCD-B70D-C5F961689B4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429" y="-18854"/>
            <a:ext cx="1131216" cy="948153"/>
          </a:xfrm>
          <a:prstGeom prst="rect">
            <a:avLst/>
          </a:prstGeom>
        </p:spPr>
      </p:pic>
      <p:sp>
        <p:nvSpPr>
          <p:cNvPr id="5" name="TextBox 4">
            <a:extLst>
              <a:ext uri="{FF2B5EF4-FFF2-40B4-BE49-F238E27FC236}">
                <a16:creationId xmlns:a16="http://schemas.microsoft.com/office/drawing/2014/main" id="{6E5E8157-303C-45D3-A180-6E3AC5982E95}"/>
              </a:ext>
            </a:extLst>
          </p:cNvPr>
          <p:cNvSpPr txBox="1"/>
          <p:nvPr/>
        </p:nvSpPr>
        <p:spPr>
          <a:xfrm>
            <a:off x="2149311" y="367645"/>
            <a:ext cx="6504495" cy="738664"/>
          </a:xfrm>
          <a:prstGeom prst="rect">
            <a:avLst/>
          </a:prstGeom>
          <a:noFill/>
        </p:spPr>
        <p:txBody>
          <a:bodyPr wrap="square" rtlCol="0">
            <a:spAutoFit/>
          </a:bodyPr>
          <a:lstStyle/>
          <a:p>
            <a:pPr algn="ctr"/>
            <a:r>
              <a:rPr lang="en-US" sz="2400" b="1" dirty="0">
                <a:solidFill>
                  <a:schemeClr val="accent5">
                    <a:lumMod val="75000"/>
                  </a:schemeClr>
                </a:solidFill>
              </a:rPr>
              <a:t>G</a:t>
            </a:r>
            <a:r>
              <a:rPr lang="en-US" sz="2400" b="1" dirty="0">
                <a:solidFill>
                  <a:srgbClr val="FF0000"/>
                </a:solidFill>
              </a:rPr>
              <a:t>O</a:t>
            </a:r>
            <a:r>
              <a:rPr lang="en-US" sz="2400" b="1" dirty="0">
                <a:solidFill>
                  <a:schemeClr val="accent4"/>
                </a:solidFill>
              </a:rPr>
              <a:t>O</a:t>
            </a:r>
            <a:r>
              <a:rPr lang="en-US" sz="2400" b="1" dirty="0">
                <a:solidFill>
                  <a:schemeClr val="accent1"/>
                </a:solidFill>
              </a:rPr>
              <a:t>G</a:t>
            </a:r>
            <a:r>
              <a:rPr lang="en-US" sz="2400" b="1" dirty="0">
                <a:solidFill>
                  <a:schemeClr val="accent5">
                    <a:lumMod val="75000"/>
                  </a:schemeClr>
                </a:solidFill>
              </a:rPr>
              <a:t>L</a:t>
            </a:r>
            <a:r>
              <a:rPr lang="en-US" sz="2400" b="1" dirty="0">
                <a:solidFill>
                  <a:srgbClr val="FF0000"/>
                </a:solidFill>
              </a:rPr>
              <a:t>E</a:t>
            </a:r>
            <a:r>
              <a:rPr lang="en-US" sz="2400" b="1" dirty="0">
                <a:solidFill>
                  <a:schemeClr val="tx1">
                    <a:lumMod val="65000"/>
                    <a:lumOff val="35000"/>
                  </a:schemeClr>
                </a:solidFill>
              </a:rPr>
              <a:t> </a:t>
            </a:r>
            <a:r>
              <a:rPr lang="en-US" sz="2400" b="1" dirty="0">
                <a:solidFill>
                  <a:schemeClr val="tx1">
                    <a:lumMod val="85000"/>
                    <a:lumOff val="15000"/>
                  </a:schemeClr>
                </a:solidFill>
              </a:rPr>
              <a:t>VIDEO </a:t>
            </a:r>
            <a:r>
              <a:rPr lang="en-US" sz="2400" b="1" dirty="0"/>
              <a:t>ADS CAMPAIGN</a:t>
            </a:r>
            <a:endParaRPr lang="en-IN" sz="2400" b="1" dirty="0"/>
          </a:p>
          <a:p>
            <a:pPr algn="ctr"/>
            <a:endParaRPr lang="en-IN" dirty="0"/>
          </a:p>
        </p:txBody>
      </p:sp>
      <p:pic>
        <p:nvPicPr>
          <p:cNvPr id="8" name="Picture 7">
            <a:extLst>
              <a:ext uri="{FF2B5EF4-FFF2-40B4-BE49-F238E27FC236}">
                <a16:creationId xmlns:a16="http://schemas.microsoft.com/office/drawing/2014/main" id="{6B068397-63F3-4521-8476-A06FFC97A35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224397" y="224449"/>
            <a:ext cx="947738" cy="704850"/>
          </a:xfrm>
          <a:prstGeom prst="rect">
            <a:avLst/>
          </a:prstGeom>
        </p:spPr>
      </p:pic>
      <p:sp>
        <p:nvSpPr>
          <p:cNvPr id="13" name="Rectangle 12">
            <a:extLst>
              <a:ext uri="{FF2B5EF4-FFF2-40B4-BE49-F238E27FC236}">
                <a16:creationId xmlns:a16="http://schemas.microsoft.com/office/drawing/2014/main" id="{54D3F195-EE4B-46A0-8555-32075D874DA2}"/>
              </a:ext>
            </a:extLst>
          </p:cNvPr>
          <p:cNvSpPr/>
          <p:nvPr/>
        </p:nvSpPr>
        <p:spPr>
          <a:xfrm>
            <a:off x="791850" y="1273821"/>
            <a:ext cx="4440024" cy="5458119"/>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endParaRPr lang="en-IN" b="1" dirty="0">
              <a:latin typeface="Algerian" panose="04020705040A02060702" pitchFamily="82" charset="0"/>
            </a:endParaRPr>
          </a:p>
          <a:p>
            <a:r>
              <a:rPr lang="en-IN" b="1" dirty="0">
                <a:latin typeface="Algerian" panose="04020705040A02060702" pitchFamily="82" charset="0"/>
              </a:rPr>
              <a:t>CAMPAIGN SETTINGS</a:t>
            </a:r>
          </a:p>
          <a:p>
            <a:pPr marL="285750" indent="-285750">
              <a:buFont typeface="Arial" panose="020B0604020202020204" pitchFamily="34" charset="0"/>
              <a:buChar char="•"/>
            </a:pPr>
            <a:r>
              <a:rPr lang="en-IN" b="1" dirty="0"/>
              <a:t>Campaign Name: </a:t>
            </a:r>
            <a:r>
              <a:rPr lang="en-US" dirty="0"/>
              <a:t>Sweet Karam Coffee Video Ads</a:t>
            </a:r>
          </a:p>
          <a:p>
            <a:pPr marL="285750" indent="-285750">
              <a:buFont typeface="Arial" panose="020B0604020202020204" pitchFamily="34" charset="0"/>
              <a:buChar char="•"/>
            </a:pPr>
            <a:r>
              <a:rPr lang="en-US" b="1" dirty="0"/>
              <a:t>Campaign Objective: </a:t>
            </a:r>
            <a:r>
              <a:rPr lang="en-US" dirty="0"/>
              <a:t>Create a campaign without guidance</a:t>
            </a:r>
            <a:r>
              <a:rPr lang="en-IN" dirty="0"/>
              <a:t>  </a:t>
            </a:r>
          </a:p>
          <a:p>
            <a:pPr marL="285750" indent="-285750">
              <a:buFont typeface="Arial" panose="020B0604020202020204" pitchFamily="34" charset="0"/>
              <a:buChar char="•"/>
            </a:pPr>
            <a:r>
              <a:rPr lang="en-IN" b="1" dirty="0"/>
              <a:t>Campaign Goal: </a:t>
            </a:r>
            <a:r>
              <a:rPr lang="en-IN" dirty="0"/>
              <a:t>Sales (Increase Online sales)</a:t>
            </a:r>
          </a:p>
          <a:p>
            <a:pPr marL="285750" indent="-285750">
              <a:buFont typeface="Arial" panose="020B0604020202020204" pitchFamily="34" charset="0"/>
              <a:buChar char="•"/>
            </a:pPr>
            <a:r>
              <a:rPr lang="en-IN" b="1" dirty="0"/>
              <a:t>Campaign Type: </a:t>
            </a:r>
            <a:r>
              <a:rPr lang="en-IN" dirty="0"/>
              <a:t>Video</a:t>
            </a:r>
          </a:p>
          <a:p>
            <a:pPr marL="285750" indent="-285750">
              <a:buFont typeface="Arial" panose="020B0604020202020204" pitchFamily="34" charset="0"/>
              <a:buChar char="•"/>
            </a:pPr>
            <a:r>
              <a:rPr lang="en-IN" b="1" dirty="0"/>
              <a:t>Location: </a:t>
            </a:r>
            <a:r>
              <a:rPr lang="en-IN" dirty="0"/>
              <a:t>India</a:t>
            </a:r>
          </a:p>
          <a:p>
            <a:pPr marL="285750" indent="-285750">
              <a:buFont typeface="Arial" panose="020B0604020202020204" pitchFamily="34" charset="0"/>
              <a:buChar char="•"/>
            </a:pPr>
            <a:r>
              <a:rPr lang="en-IN" b="1" dirty="0"/>
              <a:t>Ad Schedule: </a:t>
            </a:r>
            <a:r>
              <a:rPr lang="en-IN" dirty="0"/>
              <a:t>8 am-10 pm</a:t>
            </a:r>
          </a:p>
          <a:p>
            <a:pPr marL="285750" indent="-285750">
              <a:buFont typeface="Arial" panose="020B0604020202020204" pitchFamily="34" charset="0"/>
              <a:buChar char="•"/>
            </a:pPr>
            <a:r>
              <a:rPr lang="en-IN" b="1" dirty="0"/>
              <a:t>Languages: </a:t>
            </a:r>
            <a:r>
              <a:rPr lang="en-IN" dirty="0"/>
              <a:t>All languages</a:t>
            </a:r>
          </a:p>
          <a:p>
            <a:pPr marL="285750" indent="-285750">
              <a:buFont typeface="Arial" panose="020B0604020202020204" pitchFamily="34" charset="0"/>
              <a:buChar char="•"/>
            </a:pPr>
            <a:r>
              <a:rPr lang="en-IN" dirty="0"/>
              <a:t> </a:t>
            </a:r>
            <a:r>
              <a:rPr lang="en-IN" b="1" dirty="0"/>
              <a:t>Bidding Strategy: </a:t>
            </a:r>
            <a:r>
              <a:rPr lang="en-US" dirty="0"/>
              <a:t>Maximize Conversions</a:t>
            </a:r>
            <a:endParaRPr lang="en-IN" dirty="0"/>
          </a:p>
          <a:p>
            <a:pPr marL="285750" indent="-285750">
              <a:buFont typeface="Arial" panose="020B0604020202020204" pitchFamily="34" charset="0"/>
              <a:buChar char="•"/>
            </a:pPr>
            <a:r>
              <a:rPr lang="en-IN" b="1" dirty="0"/>
              <a:t>Audience: </a:t>
            </a:r>
            <a:r>
              <a:rPr lang="en-US" dirty="0"/>
              <a:t>Online shoppers, coffee lovers, food lovers, gift buyers, Families, Work Professionals.</a:t>
            </a:r>
            <a:endParaRPr lang="en-IN" dirty="0"/>
          </a:p>
          <a:p>
            <a:pPr marL="285750" indent="-285750">
              <a:buFont typeface="Arial" panose="020B0604020202020204" pitchFamily="34" charset="0"/>
              <a:buChar char="•"/>
            </a:pPr>
            <a:r>
              <a:rPr lang="en-IN" b="1" dirty="0"/>
              <a:t>Device:</a:t>
            </a:r>
            <a:r>
              <a:rPr lang="en-IN" dirty="0"/>
              <a:t> </a:t>
            </a:r>
            <a:r>
              <a:rPr lang="en-US" dirty="0"/>
              <a:t>Prioritize mobile</a:t>
            </a:r>
            <a:endParaRPr lang="en-IN" dirty="0"/>
          </a:p>
          <a:p>
            <a:pPr marL="285750" indent="-285750">
              <a:buFont typeface="Arial" panose="020B0604020202020204" pitchFamily="34" charset="0"/>
              <a:buChar char="•"/>
            </a:pPr>
            <a:r>
              <a:rPr lang="en-IN" b="1" dirty="0"/>
              <a:t>Daily Budget: </a:t>
            </a:r>
            <a:r>
              <a:rPr lang="en-IN" dirty="0"/>
              <a:t>100/day</a:t>
            </a:r>
          </a:p>
          <a:p>
            <a:endParaRPr lang="en-IN" dirty="0"/>
          </a:p>
        </p:txBody>
      </p:sp>
      <p:sp>
        <p:nvSpPr>
          <p:cNvPr id="14" name="Rectangle 13">
            <a:extLst>
              <a:ext uri="{FF2B5EF4-FFF2-40B4-BE49-F238E27FC236}">
                <a16:creationId xmlns:a16="http://schemas.microsoft.com/office/drawing/2014/main" id="{4D21CD95-98FD-4A36-97D1-54392B31A8C4}"/>
              </a:ext>
            </a:extLst>
          </p:cNvPr>
          <p:cNvSpPr/>
          <p:nvPr/>
        </p:nvSpPr>
        <p:spPr>
          <a:xfrm>
            <a:off x="5425125" y="1489435"/>
            <a:ext cx="2762053" cy="3459637"/>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endParaRPr lang="en-IN" b="1" dirty="0">
              <a:latin typeface="Algerian" panose="04020705040A02060702" pitchFamily="82" charset="0"/>
            </a:endParaRPr>
          </a:p>
          <a:p>
            <a:endParaRPr lang="en-IN" b="1" dirty="0">
              <a:latin typeface="Algerian" panose="04020705040A02060702" pitchFamily="82" charset="0"/>
            </a:endParaRPr>
          </a:p>
          <a:p>
            <a:r>
              <a:rPr lang="en-IN" b="1" dirty="0">
                <a:latin typeface="Algerian" panose="04020705040A02060702" pitchFamily="82" charset="0"/>
              </a:rPr>
              <a:t>Audience Targeting</a:t>
            </a:r>
          </a:p>
          <a:p>
            <a:pPr marL="285750" indent="-285750">
              <a:buFont typeface="Arial" panose="020B0604020202020204" pitchFamily="34" charset="0"/>
              <a:buChar char="•"/>
            </a:pPr>
            <a:r>
              <a:rPr lang="en-IN" dirty="0"/>
              <a:t>Online shoppers</a:t>
            </a:r>
          </a:p>
          <a:p>
            <a:pPr marL="285750" indent="-285750">
              <a:buFont typeface="Arial" panose="020B0604020202020204" pitchFamily="34" charset="0"/>
              <a:buChar char="•"/>
            </a:pPr>
            <a:r>
              <a:rPr lang="en-IN" dirty="0"/>
              <a:t>Coffee Lovers</a:t>
            </a:r>
          </a:p>
          <a:p>
            <a:pPr marL="285750" indent="-285750">
              <a:buFont typeface="Arial" panose="020B0604020202020204" pitchFamily="34" charset="0"/>
              <a:buChar char="•"/>
            </a:pPr>
            <a:r>
              <a:rPr lang="en-IN" dirty="0"/>
              <a:t>Food lovers</a:t>
            </a:r>
          </a:p>
          <a:p>
            <a:pPr marL="285750" indent="-285750">
              <a:buFont typeface="Arial" panose="020B0604020202020204" pitchFamily="34" charset="0"/>
              <a:buChar char="•"/>
            </a:pPr>
            <a:r>
              <a:rPr lang="en-IN" dirty="0"/>
              <a:t>Gift Buyers</a:t>
            </a:r>
          </a:p>
          <a:p>
            <a:pPr marL="285750" indent="-285750">
              <a:buFont typeface="Arial" panose="020B0604020202020204" pitchFamily="34" charset="0"/>
              <a:buChar char="•"/>
            </a:pPr>
            <a:r>
              <a:rPr lang="en-IN" dirty="0"/>
              <a:t>Age Groups: 18-55 yrs.</a:t>
            </a:r>
          </a:p>
          <a:p>
            <a:pPr marL="285750" indent="-285750">
              <a:buFont typeface="Arial" panose="020B0604020202020204" pitchFamily="34" charset="0"/>
              <a:buChar char="•"/>
            </a:pPr>
            <a:r>
              <a:rPr lang="en-IN" dirty="0"/>
              <a:t> Interests: Food &amp; Beverages, Online shopping, South Indian Cuisine.</a:t>
            </a:r>
          </a:p>
          <a:p>
            <a:endParaRPr lang="en-IN" b="1" dirty="0">
              <a:latin typeface="Algerian" panose="04020705040A02060702" pitchFamily="82" charset="0"/>
            </a:endParaRPr>
          </a:p>
          <a:p>
            <a:endParaRPr lang="en-IN" dirty="0"/>
          </a:p>
        </p:txBody>
      </p:sp>
      <p:sp>
        <p:nvSpPr>
          <p:cNvPr id="15" name="Rectangle 14">
            <a:extLst>
              <a:ext uri="{FF2B5EF4-FFF2-40B4-BE49-F238E27FC236}">
                <a16:creationId xmlns:a16="http://schemas.microsoft.com/office/drawing/2014/main" id="{D7860548-EA60-4D4F-8D4A-C3A619928D54}"/>
              </a:ext>
            </a:extLst>
          </p:cNvPr>
          <p:cNvSpPr/>
          <p:nvPr/>
        </p:nvSpPr>
        <p:spPr>
          <a:xfrm>
            <a:off x="8380429" y="1159496"/>
            <a:ext cx="3704734" cy="5686770"/>
          </a:xfrm>
          <a:prstGeom prst="rect">
            <a:avLst/>
          </a:prstGeom>
          <a:blipFill dpi="0" rotWithShape="1">
            <a:blip r:embed="rId5">
              <a:extLst>
                <a:ext uri="{28A0092B-C50C-407E-A947-70E740481C1C}">
                  <a14:useLocalDpi xmlns:a14="http://schemas.microsoft.com/office/drawing/2010/main" val="0"/>
                </a:ext>
              </a:extLst>
            </a:blip>
            <a:srcRect/>
            <a:stretch>
              <a:fillRect/>
            </a:stretch>
          </a:blipFill>
          <a:effectLst>
            <a:innerShdw blurRad="63500" dist="50800" dir="189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Rectangle 15">
            <a:extLst>
              <a:ext uri="{FF2B5EF4-FFF2-40B4-BE49-F238E27FC236}">
                <a16:creationId xmlns:a16="http://schemas.microsoft.com/office/drawing/2014/main" id="{B196929B-2903-4C50-B880-38F33BB2C6FE}"/>
              </a:ext>
            </a:extLst>
          </p:cNvPr>
          <p:cNvSpPr/>
          <p:nvPr/>
        </p:nvSpPr>
        <p:spPr>
          <a:xfrm>
            <a:off x="5425125" y="5217737"/>
            <a:ext cx="2762053" cy="1272618"/>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IN" b="1" dirty="0"/>
              <a:t>CTA: Shop Now</a:t>
            </a:r>
          </a:p>
        </p:txBody>
      </p:sp>
      <p:sp>
        <p:nvSpPr>
          <p:cNvPr id="17" name="Rectangle 16">
            <a:extLst>
              <a:ext uri="{FF2B5EF4-FFF2-40B4-BE49-F238E27FC236}">
                <a16:creationId xmlns:a16="http://schemas.microsoft.com/office/drawing/2014/main" id="{C3447575-117E-4205-ABBB-8A14F396F3E7}"/>
              </a:ext>
            </a:extLst>
          </p:cNvPr>
          <p:cNvSpPr/>
          <p:nvPr/>
        </p:nvSpPr>
        <p:spPr>
          <a:xfrm>
            <a:off x="17012" y="952902"/>
            <a:ext cx="560893" cy="5893364"/>
          </a:xfrm>
          <a:prstGeom prst="rect">
            <a:avLst/>
          </a:prstGeom>
        </p:spPr>
        <p:style>
          <a:lnRef idx="1">
            <a:schemeClr val="accent6"/>
          </a:lnRef>
          <a:fillRef idx="3">
            <a:schemeClr val="accent6"/>
          </a:fillRef>
          <a:effectRef idx="2">
            <a:schemeClr val="accent6"/>
          </a:effectRef>
          <a:fontRef idx="minor">
            <a:schemeClr val="lt1"/>
          </a:fontRef>
        </p:style>
        <p:txBody>
          <a:bodyPr vert="vert270" rtlCol="0" anchor="ctr"/>
          <a:lstStyle/>
          <a:p>
            <a:pPr algn="ctr"/>
            <a:r>
              <a:rPr lang="en-IN" sz="3200" b="1" dirty="0"/>
              <a:t>SWEET KARAM COFFEE</a:t>
            </a:r>
          </a:p>
        </p:txBody>
      </p:sp>
    </p:spTree>
    <p:extLst>
      <p:ext uri="{BB962C8B-B14F-4D97-AF65-F5344CB8AC3E}">
        <p14:creationId xmlns:p14="http://schemas.microsoft.com/office/powerpoint/2010/main" val="253989881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D9489F3D-C251-4D2A-83AA-D3C7237B7332}"/>
              </a:ext>
            </a:extLst>
          </p:cNvPr>
          <p:cNvSpPr/>
          <p:nvPr/>
        </p:nvSpPr>
        <p:spPr>
          <a:xfrm>
            <a:off x="11076495" y="1300899"/>
            <a:ext cx="801278" cy="5128181"/>
          </a:xfrm>
          <a:prstGeom prst="rect">
            <a:avLst/>
          </a:prstGeom>
        </p:spPr>
        <p:style>
          <a:lnRef idx="3">
            <a:schemeClr val="lt1"/>
          </a:lnRef>
          <a:fillRef idx="1">
            <a:schemeClr val="accent2"/>
          </a:fillRef>
          <a:effectRef idx="1">
            <a:schemeClr val="accent2"/>
          </a:effectRef>
          <a:fontRef idx="minor">
            <a:schemeClr val="lt1"/>
          </a:fontRef>
        </p:style>
        <p:txBody>
          <a:bodyPr vert="vert" rtlCol="0" anchor="ctr"/>
          <a:lstStyle/>
          <a:p>
            <a:pPr algn="ctr"/>
            <a:r>
              <a:rPr lang="en-IN" sz="3600" dirty="0">
                <a:latin typeface="Algerian" panose="04020705040A02060702" pitchFamily="82" charset="0"/>
              </a:rPr>
              <a:t>META ADS </a:t>
            </a:r>
          </a:p>
        </p:txBody>
      </p:sp>
      <p:sp>
        <p:nvSpPr>
          <p:cNvPr id="2" name="Rectangle 1">
            <a:extLst>
              <a:ext uri="{FF2B5EF4-FFF2-40B4-BE49-F238E27FC236}">
                <a16:creationId xmlns:a16="http://schemas.microsoft.com/office/drawing/2014/main" id="{DB7250E0-C993-4D58-B938-A08AF139E6BD}"/>
              </a:ext>
            </a:extLst>
          </p:cNvPr>
          <p:cNvSpPr/>
          <p:nvPr/>
        </p:nvSpPr>
        <p:spPr>
          <a:xfrm>
            <a:off x="2441542" y="75415"/>
            <a:ext cx="6834433" cy="902697"/>
          </a:xfrm>
          <a:prstGeom prst="rect">
            <a:avLst/>
          </a:prstGeom>
          <a:solidFill>
            <a:schemeClr val="accent2">
              <a:lumMod val="50000"/>
            </a:schemeClr>
          </a:solidFill>
        </p:spPr>
        <p:style>
          <a:lnRef idx="2">
            <a:schemeClr val="accent2"/>
          </a:lnRef>
          <a:fillRef idx="1">
            <a:schemeClr val="lt1"/>
          </a:fillRef>
          <a:effectRef idx="0">
            <a:schemeClr val="accent2"/>
          </a:effectRef>
          <a:fontRef idx="minor">
            <a:schemeClr val="dk1"/>
          </a:fontRef>
        </p:style>
        <p:txBody>
          <a:bodyPr rtlCol="0" anchor="ctr"/>
          <a:lstStyle/>
          <a:p>
            <a:pPr algn="ctr"/>
            <a:r>
              <a:rPr lang="en-IN" sz="2800" b="1" dirty="0">
                <a:solidFill>
                  <a:schemeClr val="bg1"/>
                </a:solidFill>
                <a:latin typeface="Cambria" panose="02040503050406030204" pitchFamily="18" charset="0"/>
                <a:ea typeface="Cambria" panose="02040503050406030204" pitchFamily="18" charset="0"/>
              </a:rPr>
              <a:t>META AWARENESS AD CAMPAIGN</a:t>
            </a:r>
          </a:p>
        </p:txBody>
      </p:sp>
      <p:pic>
        <p:nvPicPr>
          <p:cNvPr id="3" name="Content Placeholder 5">
            <a:extLst>
              <a:ext uri="{FF2B5EF4-FFF2-40B4-BE49-F238E27FC236}">
                <a16:creationId xmlns:a16="http://schemas.microsoft.com/office/drawing/2014/main" id="{D002922D-8913-4001-B77C-5C61D9740F7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429" y="-18854"/>
            <a:ext cx="1131216" cy="948153"/>
          </a:xfrm>
          <a:prstGeom prst="rect">
            <a:avLst/>
          </a:prstGeom>
        </p:spPr>
      </p:pic>
      <p:pic>
        <p:nvPicPr>
          <p:cNvPr id="4" name="Picture 3">
            <a:extLst>
              <a:ext uri="{FF2B5EF4-FFF2-40B4-BE49-F238E27FC236}">
                <a16:creationId xmlns:a16="http://schemas.microsoft.com/office/drawing/2014/main" id="{A11C1867-997C-4342-B557-E259382A52B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854082" y="11734"/>
            <a:ext cx="1337918" cy="941168"/>
          </a:xfrm>
          <a:prstGeom prst="rect">
            <a:avLst/>
          </a:prstGeom>
        </p:spPr>
      </p:pic>
      <p:pic>
        <p:nvPicPr>
          <p:cNvPr id="6" name="Picture 5">
            <a:extLst>
              <a:ext uri="{FF2B5EF4-FFF2-40B4-BE49-F238E27FC236}">
                <a16:creationId xmlns:a16="http://schemas.microsoft.com/office/drawing/2014/main" id="{BCDFADEE-D36C-406E-BCB1-464292356A5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543409" y="215580"/>
            <a:ext cx="867267" cy="622365"/>
          </a:xfrm>
          <a:prstGeom prst="rect">
            <a:avLst/>
          </a:prstGeom>
        </p:spPr>
        <p:style>
          <a:lnRef idx="2">
            <a:schemeClr val="accent2"/>
          </a:lnRef>
          <a:fillRef idx="1">
            <a:schemeClr val="lt1"/>
          </a:fillRef>
          <a:effectRef idx="0">
            <a:schemeClr val="accent2"/>
          </a:effectRef>
          <a:fontRef idx="minor">
            <a:schemeClr val="dk1"/>
          </a:fontRef>
        </p:style>
      </p:pic>
      <p:sp>
        <p:nvSpPr>
          <p:cNvPr id="7" name="Rectangle 6">
            <a:extLst>
              <a:ext uri="{FF2B5EF4-FFF2-40B4-BE49-F238E27FC236}">
                <a16:creationId xmlns:a16="http://schemas.microsoft.com/office/drawing/2014/main" id="{7E86C5DC-B8E1-4DE8-96C6-65099C3DB63F}"/>
              </a:ext>
            </a:extLst>
          </p:cNvPr>
          <p:cNvSpPr/>
          <p:nvPr/>
        </p:nvSpPr>
        <p:spPr>
          <a:xfrm>
            <a:off x="386497" y="1074653"/>
            <a:ext cx="4713402" cy="3176836"/>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endParaRPr lang="en-IN" b="1" dirty="0">
              <a:latin typeface="Algerian" panose="04020705040A02060702" pitchFamily="82" charset="0"/>
            </a:endParaRPr>
          </a:p>
          <a:p>
            <a:endParaRPr lang="en-IN" b="1" dirty="0">
              <a:latin typeface="Algerian" panose="04020705040A02060702" pitchFamily="82" charset="0"/>
            </a:endParaRPr>
          </a:p>
          <a:p>
            <a:endParaRPr lang="en-IN" b="1" dirty="0">
              <a:latin typeface="Algerian" panose="04020705040A02060702" pitchFamily="82" charset="0"/>
            </a:endParaRPr>
          </a:p>
          <a:p>
            <a:endParaRPr lang="en-IN" b="1" dirty="0">
              <a:latin typeface="Algerian" panose="04020705040A02060702" pitchFamily="82" charset="0"/>
            </a:endParaRPr>
          </a:p>
          <a:p>
            <a:r>
              <a:rPr lang="en-IN" b="1" dirty="0">
                <a:latin typeface="Algerian" panose="04020705040A02060702" pitchFamily="82" charset="0"/>
              </a:rPr>
              <a:t>CAMPAIGN SETTINGS</a:t>
            </a:r>
          </a:p>
          <a:p>
            <a:pPr marL="285750" indent="-285750">
              <a:buFont typeface="Arial" panose="020B0604020202020204" pitchFamily="34" charset="0"/>
              <a:buChar char="•"/>
            </a:pPr>
            <a:r>
              <a:rPr lang="en-IN" b="1" dirty="0"/>
              <a:t>Campaign Buying type: </a:t>
            </a:r>
            <a:r>
              <a:rPr lang="en-IN" dirty="0"/>
              <a:t>Auction</a:t>
            </a:r>
          </a:p>
          <a:p>
            <a:pPr marL="285750" indent="-285750">
              <a:buFont typeface="Arial" panose="020B0604020202020204" pitchFamily="34" charset="0"/>
              <a:buChar char="•"/>
            </a:pPr>
            <a:r>
              <a:rPr lang="en-IN" b="1" dirty="0"/>
              <a:t>Campaign objective: </a:t>
            </a:r>
            <a:r>
              <a:rPr lang="en-IN" dirty="0"/>
              <a:t>Awareness</a:t>
            </a:r>
          </a:p>
          <a:p>
            <a:pPr marL="285750" indent="-285750">
              <a:buFont typeface="Arial" panose="020B0604020202020204" pitchFamily="34" charset="0"/>
              <a:buChar char="•"/>
            </a:pPr>
            <a:r>
              <a:rPr lang="en-IN" b="1" dirty="0"/>
              <a:t>Campaign Name: </a:t>
            </a:r>
            <a:r>
              <a:rPr lang="en-IN" dirty="0"/>
              <a:t>Sweet Karam Coffee meta awareness campaign</a:t>
            </a:r>
          </a:p>
          <a:p>
            <a:pPr marL="285750" indent="-285750">
              <a:buFont typeface="Arial" panose="020B0604020202020204" pitchFamily="34" charset="0"/>
              <a:buChar char="•"/>
            </a:pPr>
            <a:r>
              <a:rPr lang="en-IN" b="1" dirty="0"/>
              <a:t>Budget Strategy: </a:t>
            </a:r>
            <a:r>
              <a:rPr lang="en-IN" dirty="0"/>
              <a:t>Ad set budget</a:t>
            </a:r>
          </a:p>
          <a:p>
            <a:pPr marL="285750" indent="-285750">
              <a:buFont typeface="Arial" panose="020B0604020202020204" pitchFamily="34" charset="0"/>
              <a:buChar char="•"/>
            </a:pPr>
            <a:r>
              <a:rPr lang="en-IN" b="1" dirty="0"/>
              <a:t>Facebook page: </a:t>
            </a:r>
            <a:r>
              <a:rPr lang="en-IN" dirty="0"/>
              <a:t>Sweet Karam Coffee</a:t>
            </a:r>
          </a:p>
          <a:p>
            <a:pPr marL="285750" indent="-285750">
              <a:buFont typeface="Arial" panose="020B0604020202020204" pitchFamily="34" charset="0"/>
              <a:buChar char="•"/>
            </a:pPr>
            <a:r>
              <a:rPr lang="en-IN" b="1" dirty="0"/>
              <a:t>Bid strategy: </a:t>
            </a:r>
            <a:r>
              <a:rPr lang="en-IN" dirty="0"/>
              <a:t>Highest volume</a:t>
            </a:r>
          </a:p>
          <a:p>
            <a:pPr marL="285750" indent="-285750">
              <a:buFont typeface="Arial" panose="020B0604020202020204" pitchFamily="34" charset="0"/>
              <a:buChar char="•"/>
            </a:pPr>
            <a:r>
              <a:rPr lang="en-IN" b="1" dirty="0"/>
              <a:t>Frequency control : </a:t>
            </a:r>
            <a:r>
              <a:rPr lang="en-IN" dirty="0"/>
              <a:t>Cap( 2times in every 7 days)</a:t>
            </a:r>
          </a:p>
          <a:p>
            <a:pPr marL="285750" indent="-285750">
              <a:buFont typeface="Arial" panose="020B0604020202020204" pitchFamily="34" charset="0"/>
              <a:buChar char="•"/>
            </a:pPr>
            <a:r>
              <a:rPr lang="en-IN" b="1" dirty="0"/>
              <a:t>Rule set: </a:t>
            </a:r>
            <a:r>
              <a:rPr lang="en-IN" dirty="0"/>
              <a:t>Location</a:t>
            </a:r>
          </a:p>
          <a:p>
            <a:pPr marL="285750" indent="-285750">
              <a:buFont typeface="Arial" panose="020B0604020202020204" pitchFamily="34" charset="0"/>
              <a:buChar char="•"/>
            </a:pPr>
            <a:endParaRPr lang="en-IN" b="1" dirty="0">
              <a:latin typeface="Algerian" panose="04020705040A02060702" pitchFamily="82" charset="0"/>
            </a:endParaRPr>
          </a:p>
          <a:p>
            <a:pPr marL="285750" indent="-285750">
              <a:buFont typeface="Arial" panose="020B0604020202020204" pitchFamily="34" charset="0"/>
              <a:buChar char="•"/>
            </a:pPr>
            <a:endParaRPr lang="en-IN" dirty="0">
              <a:latin typeface="Algerian" panose="04020705040A02060702" pitchFamily="82" charset="0"/>
            </a:endParaRPr>
          </a:p>
          <a:p>
            <a:endParaRPr lang="en-IN" dirty="0">
              <a:latin typeface="Algerian" panose="04020705040A02060702" pitchFamily="82" charset="0"/>
            </a:endParaRPr>
          </a:p>
          <a:p>
            <a:pPr algn="ctr"/>
            <a:endParaRPr lang="en-IN" dirty="0"/>
          </a:p>
        </p:txBody>
      </p:sp>
      <p:sp>
        <p:nvSpPr>
          <p:cNvPr id="8" name="Rectangle 7">
            <a:extLst>
              <a:ext uri="{FF2B5EF4-FFF2-40B4-BE49-F238E27FC236}">
                <a16:creationId xmlns:a16="http://schemas.microsoft.com/office/drawing/2014/main" id="{C449FAD9-373E-4E32-9873-6EBA49F217F3}"/>
              </a:ext>
            </a:extLst>
          </p:cNvPr>
          <p:cNvSpPr/>
          <p:nvPr/>
        </p:nvSpPr>
        <p:spPr>
          <a:xfrm>
            <a:off x="5250730" y="1065228"/>
            <a:ext cx="4845377" cy="3176837"/>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endParaRPr lang="en-IN" b="1" dirty="0"/>
          </a:p>
          <a:p>
            <a:r>
              <a:rPr lang="en-IN" b="1" dirty="0">
                <a:latin typeface="Algerian" panose="04020705040A02060702" pitchFamily="82" charset="0"/>
              </a:rPr>
              <a:t>Budget and schedule:</a:t>
            </a:r>
          </a:p>
          <a:p>
            <a:pPr marL="285750" indent="-285750">
              <a:buFont typeface="Arial" panose="020B0604020202020204" pitchFamily="34" charset="0"/>
              <a:buChar char="•"/>
            </a:pPr>
            <a:r>
              <a:rPr lang="en-IN" b="1" dirty="0"/>
              <a:t>Budget strategy: </a:t>
            </a:r>
            <a:r>
              <a:rPr lang="en-IN" dirty="0"/>
              <a:t>Daily budget (200/-)</a:t>
            </a:r>
          </a:p>
          <a:p>
            <a:pPr marL="285750" indent="-285750">
              <a:buFont typeface="Arial" panose="020B0604020202020204" pitchFamily="34" charset="0"/>
              <a:buChar char="•"/>
            </a:pPr>
            <a:r>
              <a:rPr lang="en-IN" b="1" dirty="0"/>
              <a:t>Start date: </a:t>
            </a:r>
            <a:r>
              <a:rPr lang="en-IN" dirty="0"/>
              <a:t>4</a:t>
            </a:r>
            <a:r>
              <a:rPr lang="en-IN" baseline="30000" dirty="0"/>
              <a:t>th</a:t>
            </a:r>
            <a:r>
              <a:rPr lang="en-IN" dirty="0"/>
              <a:t> Sep 2026, 8 am</a:t>
            </a:r>
          </a:p>
          <a:p>
            <a:pPr marL="285750" indent="-285750">
              <a:buFont typeface="Arial" panose="020B0604020202020204" pitchFamily="34" charset="0"/>
              <a:buChar char="•"/>
            </a:pPr>
            <a:r>
              <a:rPr lang="en-IN" b="1" dirty="0"/>
              <a:t>Location: </a:t>
            </a:r>
            <a:r>
              <a:rPr lang="en-IN" dirty="0"/>
              <a:t>India</a:t>
            </a:r>
          </a:p>
          <a:p>
            <a:pPr marL="285750" indent="-285750">
              <a:buFont typeface="Arial" panose="020B0604020202020204" pitchFamily="34" charset="0"/>
              <a:buChar char="•"/>
            </a:pPr>
            <a:r>
              <a:rPr lang="en-IN" b="1" dirty="0"/>
              <a:t>Minimum age: </a:t>
            </a:r>
            <a:r>
              <a:rPr lang="en-IN" dirty="0"/>
              <a:t>18</a:t>
            </a:r>
          </a:p>
          <a:p>
            <a:pPr marL="285750" indent="-285750">
              <a:buFont typeface="Arial" panose="020B0604020202020204" pitchFamily="34" charset="0"/>
              <a:buChar char="•"/>
            </a:pPr>
            <a:r>
              <a:rPr lang="en-IN" b="1" dirty="0"/>
              <a:t>Audience: </a:t>
            </a:r>
            <a:r>
              <a:rPr lang="en-IN" dirty="0"/>
              <a:t>Sweet </a:t>
            </a:r>
            <a:r>
              <a:rPr lang="en-IN" dirty="0" err="1"/>
              <a:t>karam</a:t>
            </a:r>
            <a:r>
              <a:rPr lang="en-IN" dirty="0"/>
              <a:t> coffee audience( food lover, coffee lover, families, working professional, gift buyers, online shoppers)</a:t>
            </a:r>
          </a:p>
          <a:p>
            <a:pPr marL="285750" indent="-285750">
              <a:buFont typeface="Arial" panose="020B0604020202020204" pitchFamily="34" charset="0"/>
              <a:buChar char="•"/>
            </a:pPr>
            <a:r>
              <a:rPr lang="en-IN" b="1" dirty="0"/>
              <a:t>Languages: </a:t>
            </a:r>
            <a:r>
              <a:rPr lang="en-IN" dirty="0"/>
              <a:t>all languages</a:t>
            </a:r>
          </a:p>
          <a:p>
            <a:endParaRPr lang="en-IN" dirty="0"/>
          </a:p>
          <a:p>
            <a:endParaRPr lang="en-IN" dirty="0"/>
          </a:p>
        </p:txBody>
      </p:sp>
      <p:sp>
        <p:nvSpPr>
          <p:cNvPr id="9" name="Rectangle 8">
            <a:extLst>
              <a:ext uri="{FF2B5EF4-FFF2-40B4-BE49-F238E27FC236}">
                <a16:creationId xmlns:a16="http://schemas.microsoft.com/office/drawing/2014/main" id="{1E0E8B19-CD78-471F-BF9B-ABB697692D63}"/>
              </a:ext>
            </a:extLst>
          </p:cNvPr>
          <p:cNvSpPr/>
          <p:nvPr/>
        </p:nvSpPr>
        <p:spPr>
          <a:xfrm>
            <a:off x="461918" y="4355894"/>
            <a:ext cx="4666268" cy="1427453"/>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r>
              <a:rPr lang="en-IN" b="1" dirty="0">
                <a:latin typeface="Algerian" panose="04020705040A02060702" pitchFamily="82" charset="0"/>
              </a:rPr>
              <a:t>Ad setup:</a:t>
            </a:r>
          </a:p>
          <a:p>
            <a:pPr marL="285750" indent="-285750">
              <a:buFont typeface="Arial" panose="020B0604020202020204" pitchFamily="34" charset="0"/>
              <a:buChar char="•"/>
            </a:pPr>
            <a:r>
              <a:rPr lang="en-IN" dirty="0"/>
              <a:t>Create ad </a:t>
            </a:r>
          </a:p>
          <a:p>
            <a:pPr marL="285750" indent="-285750">
              <a:buFont typeface="Arial" panose="020B0604020202020204" pitchFamily="34" charset="0"/>
              <a:buChar char="•"/>
            </a:pPr>
            <a:r>
              <a:rPr lang="en-IN" dirty="0"/>
              <a:t>Format: Single image or video</a:t>
            </a:r>
          </a:p>
          <a:p>
            <a:endParaRPr lang="en-IN" dirty="0"/>
          </a:p>
        </p:txBody>
      </p:sp>
      <p:sp>
        <p:nvSpPr>
          <p:cNvPr id="12" name="Rectangle 11">
            <a:extLst>
              <a:ext uri="{FF2B5EF4-FFF2-40B4-BE49-F238E27FC236}">
                <a16:creationId xmlns:a16="http://schemas.microsoft.com/office/drawing/2014/main" id="{1E020F28-2141-419F-B6DE-CC7F9E1069DD}"/>
              </a:ext>
            </a:extLst>
          </p:cNvPr>
          <p:cNvSpPr/>
          <p:nvPr/>
        </p:nvSpPr>
        <p:spPr>
          <a:xfrm>
            <a:off x="5271156" y="4329181"/>
            <a:ext cx="4796669" cy="2373277"/>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r>
              <a:rPr lang="en-IN" b="1" dirty="0">
                <a:latin typeface="Algerian" panose="04020705040A02060702" pitchFamily="82" charset="0"/>
              </a:rPr>
              <a:t>Ad Creative:</a:t>
            </a:r>
          </a:p>
          <a:p>
            <a:r>
              <a:rPr lang="en-US" b="1" dirty="0">
                <a:latin typeface="Calibri" panose="020F0502020204030204" pitchFamily="34" charset="0"/>
                <a:ea typeface="Calibri" panose="020F0502020204030204" pitchFamily="34" charset="0"/>
                <a:cs typeface="Calibri" panose="020F0502020204030204" pitchFamily="34" charset="0"/>
              </a:rPr>
              <a:t>H</a:t>
            </a:r>
            <a:r>
              <a:rPr lang="en-IN" b="1" dirty="0" err="1">
                <a:latin typeface="Calibri" panose="020F0502020204030204" pitchFamily="34" charset="0"/>
                <a:ea typeface="Calibri" panose="020F0502020204030204" pitchFamily="34" charset="0"/>
                <a:cs typeface="Calibri" panose="020F0502020204030204" pitchFamily="34" charset="0"/>
              </a:rPr>
              <a:t>eadline</a:t>
            </a:r>
            <a:r>
              <a:rPr lang="en-IN" b="1" dirty="0">
                <a:latin typeface="Calibri" panose="020F0502020204030204" pitchFamily="34" charset="0"/>
                <a:ea typeface="Calibri" panose="020F0502020204030204" pitchFamily="34" charset="0"/>
                <a:cs typeface="Calibri" panose="020F0502020204030204" pitchFamily="34" charset="0"/>
              </a:rPr>
              <a:t>: </a:t>
            </a:r>
            <a:r>
              <a:rPr lang="en-IN" dirty="0">
                <a:latin typeface="Calibri" panose="020F0502020204030204" pitchFamily="34" charset="0"/>
                <a:ea typeface="Calibri" panose="020F0502020204030204" pitchFamily="34" charset="0"/>
                <a:cs typeface="Calibri" panose="020F0502020204030204" pitchFamily="34" charset="0"/>
              </a:rPr>
              <a:t>Experience the Authentic taste of South Indian snacks &amp; filter coffee</a:t>
            </a:r>
          </a:p>
          <a:p>
            <a:r>
              <a:rPr lang="en-IN" b="1" dirty="0"/>
              <a:t>Media: </a:t>
            </a:r>
          </a:p>
          <a:p>
            <a:pPr marL="285750" indent="-285750">
              <a:buFont typeface="Arial" panose="020B0604020202020204" pitchFamily="34" charset="0"/>
              <a:buChar char="•"/>
            </a:pPr>
            <a:r>
              <a:rPr lang="en-IN" dirty="0"/>
              <a:t>Feeds, ads on Facebook Reels.</a:t>
            </a:r>
          </a:p>
          <a:p>
            <a:pPr marL="285750" indent="-285750">
              <a:buFont typeface="Arial" panose="020B0604020202020204" pitchFamily="34" charset="0"/>
              <a:buChar char="•"/>
            </a:pPr>
            <a:r>
              <a:rPr lang="en-IN" dirty="0"/>
              <a:t> Story status, Reels, in- stream for Reels, search results, app and sites.</a:t>
            </a:r>
          </a:p>
          <a:p>
            <a:pPr marL="285750" indent="-285750">
              <a:buFont typeface="Arial" panose="020B0604020202020204" pitchFamily="34" charset="0"/>
              <a:buChar char="•"/>
            </a:pPr>
            <a:r>
              <a:rPr lang="en-IN" dirty="0"/>
              <a:t>Facebook Search results.</a:t>
            </a:r>
          </a:p>
        </p:txBody>
      </p:sp>
      <p:sp>
        <p:nvSpPr>
          <p:cNvPr id="13" name="Rectangle 12">
            <a:extLst>
              <a:ext uri="{FF2B5EF4-FFF2-40B4-BE49-F238E27FC236}">
                <a16:creationId xmlns:a16="http://schemas.microsoft.com/office/drawing/2014/main" id="{11D0CEF9-9FEA-4F44-BD67-2A116B27E5AD}"/>
              </a:ext>
            </a:extLst>
          </p:cNvPr>
          <p:cNvSpPr/>
          <p:nvPr/>
        </p:nvSpPr>
        <p:spPr>
          <a:xfrm>
            <a:off x="386497" y="5976594"/>
            <a:ext cx="4647419" cy="725864"/>
          </a:xfrm>
          <a:prstGeom prst="rect">
            <a:avLst/>
          </a:prstGeom>
          <a:solidFill>
            <a:schemeClr val="accent2">
              <a:lumMod val="75000"/>
            </a:schemeClr>
          </a:solidFill>
        </p:spPr>
        <p:style>
          <a:lnRef idx="2">
            <a:schemeClr val="accent2"/>
          </a:lnRef>
          <a:fillRef idx="1">
            <a:schemeClr val="lt1"/>
          </a:fillRef>
          <a:effectRef idx="0">
            <a:schemeClr val="accent2"/>
          </a:effectRef>
          <a:fontRef idx="minor">
            <a:schemeClr val="dk1"/>
          </a:fontRef>
        </p:style>
        <p:txBody>
          <a:bodyPr rtlCol="0" anchor="ctr"/>
          <a:lstStyle/>
          <a:p>
            <a:pPr algn="ctr"/>
            <a:r>
              <a:rPr lang="en-IN" sz="2000" b="1" dirty="0">
                <a:solidFill>
                  <a:schemeClr val="bg1"/>
                </a:solidFill>
                <a:latin typeface="Cambria" panose="02040503050406030204" pitchFamily="18" charset="0"/>
                <a:ea typeface="Cambria" panose="02040503050406030204" pitchFamily="18" charset="0"/>
              </a:rPr>
              <a:t>CTA: LEARN MORE</a:t>
            </a:r>
          </a:p>
        </p:txBody>
      </p:sp>
    </p:spTree>
    <p:extLst>
      <p:ext uri="{BB962C8B-B14F-4D97-AF65-F5344CB8AC3E}">
        <p14:creationId xmlns:p14="http://schemas.microsoft.com/office/powerpoint/2010/main" val="414292206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28654526-CB4E-403B-95E7-E3670682936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54082" y="6985"/>
            <a:ext cx="1337918" cy="941168"/>
          </a:xfrm>
          <a:prstGeom prst="rect">
            <a:avLst/>
          </a:prstGeom>
        </p:spPr>
      </p:pic>
      <p:pic>
        <p:nvPicPr>
          <p:cNvPr id="7" name="Content Placeholder 5">
            <a:extLst>
              <a:ext uri="{FF2B5EF4-FFF2-40B4-BE49-F238E27FC236}">
                <a16:creationId xmlns:a16="http://schemas.microsoft.com/office/drawing/2014/main" id="{7A4B0A54-4019-40E2-B7B8-56316E735DE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429" y="-18854"/>
            <a:ext cx="1131216" cy="948153"/>
          </a:xfrm>
          <a:prstGeom prst="rect">
            <a:avLst/>
          </a:prstGeom>
        </p:spPr>
      </p:pic>
      <p:sp>
        <p:nvSpPr>
          <p:cNvPr id="4" name="Rectangle: Rounded Corners 3">
            <a:extLst>
              <a:ext uri="{FF2B5EF4-FFF2-40B4-BE49-F238E27FC236}">
                <a16:creationId xmlns:a16="http://schemas.microsoft.com/office/drawing/2014/main" id="{A21BA06D-9AA2-468B-A9CD-29F5EA6D24F9}"/>
              </a:ext>
            </a:extLst>
          </p:cNvPr>
          <p:cNvSpPr/>
          <p:nvPr/>
        </p:nvSpPr>
        <p:spPr>
          <a:xfrm>
            <a:off x="716438" y="1150067"/>
            <a:ext cx="4100660" cy="5547677"/>
          </a:xfrm>
          <a:prstGeom prst="roundRect">
            <a:avLst/>
          </a:prstGeom>
        </p:spPr>
        <p:style>
          <a:lnRef idx="2">
            <a:schemeClr val="accent2"/>
          </a:lnRef>
          <a:fillRef idx="1">
            <a:schemeClr val="lt1"/>
          </a:fillRef>
          <a:effectRef idx="0">
            <a:schemeClr val="accent2"/>
          </a:effectRef>
          <a:fontRef idx="minor">
            <a:schemeClr val="dk1"/>
          </a:fontRef>
        </p:style>
        <p:txBody>
          <a:bodyPr rtlCol="0" anchor="ctr"/>
          <a:lstStyle/>
          <a:p>
            <a:endParaRPr lang="en-IN" b="1" dirty="0"/>
          </a:p>
          <a:p>
            <a:endParaRPr lang="en-IN" b="1" dirty="0"/>
          </a:p>
          <a:p>
            <a:endParaRPr lang="en-IN" b="1" dirty="0"/>
          </a:p>
          <a:p>
            <a:r>
              <a:rPr lang="en-IN" b="1" dirty="0"/>
              <a:t>Happy Janmashtami, [Name]</a:t>
            </a:r>
            <a:endParaRPr lang="en-IN" dirty="0"/>
          </a:p>
          <a:p>
            <a:endParaRPr lang="en-IN" dirty="0"/>
          </a:p>
          <a:p>
            <a:r>
              <a:rPr lang="en-IN" dirty="0"/>
              <a:t>Celebrate your fast with Sweet Karam Coffee!</a:t>
            </a:r>
          </a:p>
          <a:p>
            <a:endParaRPr lang="en-IN" dirty="0"/>
          </a:p>
          <a:p>
            <a:pPr marL="285750" indent="-285750">
              <a:buFont typeface="Arial" panose="020B0604020202020204" pitchFamily="34" charset="0"/>
              <a:buChar char="•"/>
            </a:pPr>
            <a:r>
              <a:rPr lang="en-IN" dirty="0"/>
              <a:t>Ghee Mysore Pak at ₹239 (</a:t>
            </a:r>
            <a:r>
              <a:rPr lang="en-IN" strike="sngStrike" dirty="0"/>
              <a:t>₹299</a:t>
            </a:r>
            <a:r>
              <a:rPr lang="en-IN" dirty="0"/>
              <a:t>) </a:t>
            </a:r>
          </a:p>
          <a:p>
            <a:pPr marL="285750" indent="-285750">
              <a:buFont typeface="Arial" panose="020B0604020202020204" pitchFamily="34" charset="0"/>
              <a:buChar char="•"/>
            </a:pPr>
            <a:r>
              <a:rPr lang="en-IN" dirty="0"/>
              <a:t>Festive Combo at ₹999 (</a:t>
            </a:r>
            <a:r>
              <a:rPr lang="en-IN" strike="sngStrike" dirty="0"/>
              <a:t>₹1,187</a:t>
            </a:r>
            <a:r>
              <a:rPr lang="en-IN" dirty="0"/>
              <a:t>) </a:t>
            </a:r>
          </a:p>
          <a:p>
            <a:pPr marL="285750" indent="-285750">
              <a:buFont typeface="Arial" panose="020B0604020202020204" pitchFamily="34" charset="0"/>
              <a:buChar char="•"/>
            </a:pPr>
            <a:r>
              <a:rPr lang="en-IN" dirty="0"/>
              <a:t> Sweet </a:t>
            </a:r>
            <a:r>
              <a:rPr lang="en-IN" dirty="0" err="1"/>
              <a:t>Seedai</a:t>
            </a:r>
            <a:r>
              <a:rPr lang="en-IN" dirty="0"/>
              <a:t> at ₹359 (</a:t>
            </a:r>
            <a:r>
              <a:rPr lang="en-IN" strike="sngStrike" dirty="0"/>
              <a:t>₹450</a:t>
            </a:r>
            <a:r>
              <a:rPr lang="en-IN" dirty="0"/>
              <a:t>)</a:t>
            </a:r>
          </a:p>
          <a:p>
            <a:endParaRPr lang="en-IN" dirty="0"/>
          </a:p>
          <a:p>
            <a:r>
              <a:rPr lang="en-IN" b="1" dirty="0"/>
              <a:t>  FREE DELIVERY!</a:t>
            </a:r>
            <a:endParaRPr lang="en-IN" dirty="0"/>
          </a:p>
          <a:p>
            <a:endParaRPr lang="en-IN" dirty="0"/>
          </a:p>
          <a:p>
            <a:r>
              <a:rPr lang="en-IN" dirty="0"/>
              <a:t>Order now &amp; grab your </a:t>
            </a:r>
            <a:r>
              <a:rPr lang="en-IN" b="1" dirty="0"/>
              <a:t>exclusive festive offer!</a:t>
            </a:r>
            <a:endParaRPr lang="en-IN" dirty="0"/>
          </a:p>
          <a:p>
            <a:endParaRPr lang="en-IN" b="1" dirty="0"/>
          </a:p>
          <a:p>
            <a:r>
              <a:rPr lang="en-IN" b="1" dirty="0"/>
              <a:t>Sweet Karam Coffee – Experience South India</a:t>
            </a:r>
          </a:p>
          <a:p>
            <a:endParaRPr lang="en-IN" b="1" dirty="0"/>
          </a:p>
          <a:p>
            <a:endParaRPr lang="en-IN" b="1" dirty="0"/>
          </a:p>
          <a:p>
            <a:endParaRPr lang="en-IN" dirty="0"/>
          </a:p>
          <a:p>
            <a:endParaRPr lang="en-IN" dirty="0"/>
          </a:p>
        </p:txBody>
      </p:sp>
      <p:sp>
        <p:nvSpPr>
          <p:cNvPr id="5" name="Rectangle 4">
            <a:extLst>
              <a:ext uri="{FF2B5EF4-FFF2-40B4-BE49-F238E27FC236}">
                <a16:creationId xmlns:a16="http://schemas.microsoft.com/office/drawing/2014/main" id="{D4FC4F7D-A634-4E98-81F6-CBA3D6643011}"/>
              </a:ext>
            </a:extLst>
          </p:cNvPr>
          <p:cNvSpPr/>
          <p:nvPr/>
        </p:nvSpPr>
        <p:spPr>
          <a:xfrm>
            <a:off x="3026004" y="160255"/>
            <a:ext cx="6570483" cy="787897"/>
          </a:xfrm>
          <a:prstGeom prst="rect">
            <a:avLst/>
          </a:prstGeom>
        </p:spPr>
        <p:style>
          <a:lnRef idx="3">
            <a:schemeClr val="lt1"/>
          </a:lnRef>
          <a:fillRef idx="1">
            <a:schemeClr val="accent2"/>
          </a:fillRef>
          <a:effectRef idx="1">
            <a:schemeClr val="accent2"/>
          </a:effectRef>
          <a:fontRef idx="minor">
            <a:schemeClr val="lt1"/>
          </a:fontRef>
        </p:style>
        <p:txBody>
          <a:bodyPr rtlCol="0" anchor="ctr"/>
          <a:lstStyle/>
          <a:p>
            <a:pPr algn="ctr"/>
            <a:r>
              <a:rPr lang="en-US" sz="3200" b="1" dirty="0"/>
              <a:t>SMS MARKETING CAMPAIGN</a:t>
            </a:r>
            <a:endParaRPr lang="en-IN" sz="3200" b="1" dirty="0"/>
          </a:p>
        </p:txBody>
      </p:sp>
      <p:sp>
        <p:nvSpPr>
          <p:cNvPr id="3" name="Rectangle 2">
            <a:extLst>
              <a:ext uri="{FF2B5EF4-FFF2-40B4-BE49-F238E27FC236}">
                <a16:creationId xmlns:a16="http://schemas.microsoft.com/office/drawing/2014/main" id="{F5FE0A27-C2D6-489F-A9C2-9765333C3C20}"/>
              </a:ext>
            </a:extLst>
          </p:cNvPr>
          <p:cNvSpPr/>
          <p:nvPr/>
        </p:nvSpPr>
        <p:spPr>
          <a:xfrm>
            <a:off x="11406432" y="948153"/>
            <a:ext cx="785567" cy="5902862"/>
          </a:xfrm>
          <a:prstGeom prst="rect">
            <a:avLst/>
          </a:prstGeom>
        </p:spPr>
        <p:style>
          <a:lnRef idx="3">
            <a:schemeClr val="lt1"/>
          </a:lnRef>
          <a:fillRef idx="1">
            <a:schemeClr val="accent1"/>
          </a:fillRef>
          <a:effectRef idx="1">
            <a:schemeClr val="accent1"/>
          </a:effectRef>
          <a:fontRef idx="minor">
            <a:schemeClr val="lt1"/>
          </a:fontRef>
        </p:style>
        <p:txBody>
          <a:bodyPr vert="vert" rtlCol="0" anchor="ctr"/>
          <a:lstStyle/>
          <a:p>
            <a:pPr algn="ctr"/>
            <a:r>
              <a:rPr lang="en-US" sz="2800" b="1" dirty="0">
                <a:latin typeface="Algerian" panose="04020705040A02060702" pitchFamily="82" charset="0"/>
              </a:rPr>
              <a:t>SWEET KARAM COFFEE</a:t>
            </a:r>
            <a:endParaRPr lang="en-IN" sz="2800" b="1" dirty="0">
              <a:latin typeface="Algerian" panose="04020705040A02060702" pitchFamily="82" charset="0"/>
            </a:endParaRPr>
          </a:p>
        </p:txBody>
      </p:sp>
      <p:sp>
        <p:nvSpPr>
          <p:cNvPr id="8" name="Rectangle 7">
            <a:extLst>
              <a:ext uri="{FF2B5EF4-FFF2-40B4-BE49-F238E27FC236}">
                <a16:creationId xmlns:a16="http://schemas.microsoft.com/office/drawing/2014/main" id="{2D0D9689-9D65-4143-A3FF-E08D134D8CC4}"/>
              </a:ext>
            </a:extLst>
          </p:cNvPr>
          <p:cNvSpPr/>
          <p:nvPr/>
        </p:nvSpPr>
        <p:spPr>
          <a:xfrm>
            <a:off x="9390817" y="6311627"/>
            <a:ext cx="1739440" cy="461145"/>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r>
              <a:rPr lang="en-US" dirty="0"/>
              <a:t>Source: Chatgpt</a:t>
            </a:r>
            <a:endParaRPr lang="en-IN" dirty="0"/>
          </a:p>
        </p:txBody>
      </p:sp>
      <p:pic>
        <p:nvPicPr>
          <p:cNvPr id="11" name="Picture 10">
            <a:extLst>
              <a:ext uri="{FF2B5EF4-FFF2-40B4-BE49-F238E27FC236}">
                <a16:creationId xmlns:a16="http://schemas.microsoft.com/office/drawing/2014/main" id="{A94315FC-9D2F-47EA-8B60-FC5B0D197D9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137608" y="1125745"/>
            <a:ext cx="4100660" cy="5547677"/>
          </a:xfrm>
          <a:prstGeom prst="rect">
            <a:avLst/>
          </a:prstGeom>
        </p:spPr>
      </p:pic>
    </p:spTree>
    <p:extLst>
      <p:ext uri="{BB962C8B-B14F-4D97-AF65-F5344CB8AC3E}">
        <p14:creationId xmlns:p14="http://schemas.microsoft.com/office/powerpoint/2010/main" val="163138984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4B69CD57-7F0A-42FD-8B2C-CA24C07947F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54082" y="16413"/>
            <a:ext cx="1337918" cy="941168"/>
          </a:xfrm>
          <a:prstGeom prst="rect">
            <a:avLst/>
          </a:prstGeom>
        </p:spPr>
      </p:pic>
      <p:pic>
        <p:nvPicPr>
          <p:cNvPr id="7" name="Content Placeholder 5">
            <a:extLst>
              <a:ext uri="{FF2B5EF4-FFF2-40B4-BE49-F238E27FC236}">
                <a16:creationId xmlns:a16="http://schemas.microsoft.com/office/drawing/2014/main" id="{D04F7E31-2C2A-4EEE-B2CC-D338AE75103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429" y="-18854"/>
            <a:ext cx="1131216" cy="948153"/>
          </a:xfrm>
          <a:prstGeom prst="rect">
            <a:avLst/>
          </a:prstGeom>
        </p:spPr>
      </p:pic>
      <p:sp>
        <p:nvSpPr>
          <p:cNvPr id="4" name="Rectangle 3">
            <a:extLst>
              <a:ext uri="{FF2B5EF4-FFF2-40B4-BE49-F238E27FC236}">
                <a16:creationId xmlns:a16="http://schemas.microsoft.com/office/drawing/2014/main" id="{CF109ED3-D0F8-4967-8B3A-EE3AAAC6A6CB}"/>
              </a:ext>
            </a:extLst>
          </p:cNvPr>
          <p:cNvSpPr/>
          <p:nvPr/>
        </p:nvSpPr>
        <p:spPr>
          <a:xfrm>
            <a:off x="3214540" y="282804"/>
            <a:ext cx="5920033" cy="646495"/>
          </a:xfrm>
          <a:prstGeom prst="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en-IN" sz="2400" b="1" dirty="0">
                <a:solidFill>
                  <a:schemeClr val="tx1">
                    <a:lumMod val="95000"/>
                    <a:lumOff val="5000"/>
                  </a:schemeClr>
                </a:solidFill>
                <a:latin typeface="Bodoni MT Black" panose="02070A03080606020203" pitchFamily="18" charset="0"/>
              </a:rPr>
              <a:t>EMAIL MARKETING CAMPAIGN</a:t>
            </a:r>
          </a:p>
        </p:txBody>
      </p:sp>
      <p:sp>
        <p:nvSpPr>
          <p:cNvPr id="8" name="Rectangle: Rounded Corners 7">
            <a:extLst>
              <a:ext uri="{FF2B5EF4-FFF2-40B4-BE49-F238E27FC236}">
                <a16:creationId xmlns:a16="http://schemas.microsoft.com/office/drawing/2014/main" id="{3126BCC4-6A77-497E-AFA4-CDEF409F8959}"/>
              </a:ext>
            </a:extLst>
          </p:cNvPr>
          <p:cNvSpPr/>
          <p:nvPr/>
        </p:nvSpPr>
        <p:spPr>
          <a:xfrm>
            <a:off x="1033805" y="1142999"/>
            <a:ext cx="4581427" cy="5670223"/>
          </a:xfrm>
          <a:prstGeom prst="roundRect">
            <a:avLst/>
          </a:prstGeom>
        </p:spPr>
        <p:style>
          <a:lnRef idx="2">
            <a:schemeClr val="accent2"/>
          </a:lnRef>
          <a:fillRef idx="1">
            <a:schemeClr val="lt1"/>
          </a:fillRef>
          <a:effectRef idx="0">
            <a:schemeClr val="accent2"/>
          </a:effectRef>
          <a:fontRef idx="minor">
            <a:schemeClr val="dk1"/>
          </a:fontRef>
        </p:style>
        <p:txBody>
          <a:bodyPr rtlCol="0" anchor="ctr"/>
          <a:lstStyle/>
          <a:p>
            <a:endParaRPr lang="en-IN" dirty="0"/>
          </a:p>
          <a:p>
            <a:r>
              <a:rPr lang="en-IN" dirty="0"/>
              <a:t>   </a:t>
            </a:r>
          </a:p>
          <a:p>
            <a:endParaRPr lang="en-IN" b="1" dirty="0"/>
          </a:p>
          <a:p>
            <a:endParaRPr lang="en-IN" b="1" dirty="0"/>
          </a:p>
          <a:p>
            <a:r>
              <a:rPr lang="en-IN" b="1" dirty="0"/>
              <a:t>Happy Janmashtami, </a:t>
            </a:r>
            <a:r>
              <a:rPr lang="en-IN" dirty="0"/>
              <a:t>[ Name]</a:t>
            </a:r>
          </a:p>
          <a:p>
            <a:endParaRPr lang="en-IN" dirty="0"/>
          </a:p>
          <a:p>
            <a:r>
              <a:rPr lang="en-US" dirty="0"/>
              <a:t>G</a:t>
            </a:r>
            <a:r>
              <a:rPr lang="en-IN" dirty="0" err="1"/>
              <a:t>etting</a:t>
            </a:r>
            <a:r>
              <a:rPr lang="en-IN" dirty="0"/>
              <a:t> ready for your Janmashtami fast?</a:t>
            </a:r>
          </a:p>
          <a:p>
            <a:r>
              <a:rPr lang="en-US" dirty="0"/>
              <a:t>F</a:t>
            </a:r>
            <a:r>
              <a:rPr lang="en-IN" dirty="0" err="1"/>
              <a:t>ind</a:t>
            </a:r>
            <a:r>
              <a:rPr lang="en-IN" dirty="0"/>
              <a:t> all your essentials in one place!</a:t>
            </a:r>
          </a:p>
          <a:p>
            <a:endParaRPr lang="en-US" dirty="0"/>
          </a:p>
          <a:p>
            <a:pPr marL="285750" indent="-285750">
              <a:buFont typeface="Arial" panose="020B0604020202020204" pitchFamily="34" charset="0"/>
              <a:buChar char="•"/>
            </a:pPr>
            <a:r>
              <a:rPr lang="en-US" dirty="0"/>
              <a:t>G</a:t>
            </a:r>
            <a:r>
              <a:rPr lang="en-IN" dirty="0" err="1"/>
              <a:t>hee</a:t>
            </a:r>
            <a:r>
              <a:rPr lang="en-IN" dirty="0"/>
              <a:t> Mysore </a:t>
            </a:r>
            <a:r>
              <a:rPr lang="en-IN" dirty="0" err="1"/>
              <a:t>pak</a:t>
            </a:r>
            <a:r>
              <a:rPr lang="en-IN" dirty="0"/>
              <a:t> at </a:t>
            </a:r>
            <a:r>
              <a:rPr lang="en-IN" b="1" dirty="0"/>
              <a:t>₹239 </a:t>
            </a:r>
            <a:r>
              <a:rPr lang="en-IN" strike="sngStrike" dirty="0">
                <a:solidFill>
                  <a:schemeClr val="tx1">
                    <a:lumMod val="95000"/>
                    <a:lumOff val="5000"/>
                  </a:schemeClr>
                </a:solidFill>
              </a:rPr>
              <a:t>₹299</a:t>
            </a:r>
          </a:p>
          <a:p>
            <a:pPr marL="285750" indent="-285750">
              <a:buFont typeface="Arial" panose="020B0604020202020204" pitchFamily="34" charset="0"/>
              <a:buChar char="•"/>
            </a:pPr>
            <a:r>
              <a:rPr lang="en-US" dirty="0"/>
              <a:t> Festive</a:t>
            </a:r>
            <a:r>
              <a:rPr lang="en-IN" dirty="0"/>
              <a:t> special combo at </a:t>
            </a:r>
            <a:r>
              <a:rPr lang="en-IN" b="1" dirty="0"/>
              <a:t>₹999 </a:t>
            </a:r>
            <a:r>
              <a:rPr lang="en-IN" strike="sngStrike" dirty="0"/>
              <a:t>₹1187</a:t>
            </a:r>
          </a:p>
          <a:p>
            <a:pPr marL="285750" indent="-285750">
              <a:buFont typeface="Arial" panose="020B0604020202020204" pitchFamily="34" charset="0"/>
              <a:buChar char="•"/>
            </a:pPr>
            <a:r>
              <a:rPr lang="en-US" dirty="0"/>
              <a:t>S</a:t>
            </a:r>
            <a:r>
              <a:rPr lang="en-IN" dirty="0" err="1"/>
              <a:t>weet</a:t>
            </a:r>
            <a:r>
              <a:rPr lang="en-IN" dirty="0"/>
              <a:t> </a:t>
            </a:r>
            <a:r>
              <a:rPr lang="en-IN" dirty="0" err="1"/>
              <a:t>Seedai</a:t>
            </a:r>
            <a:r>
              <a:rPr lang="en-IN" dirty="0"/>
              <a:t> at</a:t>
            </a:r>
            <a:r>
              <a:rPr lang="en-IN" b="1" dirty="0"/>
              <a:t> ₹ 359 </a:t>
            </a:r>
            <a:r>
              <a:rPr lang="en-IN" strike="sngStrike" dirty="0"/>
              <a:t>₹450</a:t>
            </a:r>
          </a:p>
          <a:p>
            <a:endParaRPr lang="en-US" dirty="0"/>
          </a:p>
          <a:p>
            <a:r>
              <a:rPr lang="en-US" dirty="0"/>
              <a:t>F</a:t>
            </a:r>
            <a:r>
              <a:rPr lang="en-IN" dirty="0"/>
              <a:t>rom fasting snacks to cooking essentials, sweet, and more get everything delivered in free delivery.</a:t>
            </a:r>
          </a:p>
          <a:p>
            <a:endParaRPr lang="en-US" dirty="0"/>
          </a:p>
          <a:p>
            <a:r>
              <a:rPr lang="en-US" b="1" dirty="0"/>
              <a:t>O</a:t>
            </a:r>
            <a:r>
              <a:rPr lang="en-IN" b="1" dirty="0" err="1"/>
              <a:t>rder</a:t>
            </a:r>
            <a:r>
              <a:rPr lang="en-IN" b="1" dirty="0"/>
              <a:t> now and get exclusive offer</a:t>
            </a:r>
          </a:p>
          <a:p>
            <a:endParaRPr lang="en-US" dirty="0"/>
          </a:p>
          <a:p>
            <a:r>
              <a:rPr lang="en-US" dirty="0"/>
              <a:t>Best regards,</a:t>
            </a:r>
          </a:p>
          <a:p>
            <a:r>
              <a:rPr lang="en-US" b="1" dirty="0"/>
              <a:t>The Sweet Karam Coffee Team</a:t>
            </a:r>
            <a:r>
              <a:rPr lang="en-US" dirty="0"/>
              <a:t>.</a:t>
            </a:r>
            <a:endParaRPr lang="en-IN" dirty="0"/>
          </a:p>
          <a:p>
            <a:endParaRPr lang="en-IN" dirty="0"/>
          </a:p>
          <a:p>
            <a:endParaRPr lang="en-US" strike="sngStrike" dirty="0"/>
          </a:p>
          <a:p>
            <a:endParaRPr lang="en-IN" dirty="0"/>
          </a:p>
          <a:p>
            <a:endParaRPr lang="en-IN" dirty="0"/>
          </a:p>
        </p:txBody>
      </p:sp>
      <p:sp>
        <p:nvSpPr>
          <p:cNvPr id="9" name="Rectangle: Rounded Corners 8">
            <a:extLst>
              <a:ext uri="{FF2B5EF4-FFF2-40B4-BE49-F238E27FC236}">
                <a16:creationId xmlns:a16="http://schemas.microsoft.com/office/drawing/2014/main" id="{47D93830-F79C-4A74-97B5-0A69134BF1EC}"/>
              </a:ext>
            </a:extLst>
          </p:cNvPr>
          <p:cNvSpPr/>
          <p:nvPr/>
        </p:nvSpPr>
        <p:spPr>
          <a:xfrm>
            <a:off x="6096000" y="1187776"/>
            <a:ext cx="3868133" cy="5580668"/>
          </a:xfrm>
          <a:prstGeom prst="roundRect">
            <a:avLst/>
          </a:prstGeom>
          <a:blipFill dpi="0" rotWithShape="1">
            <a:blip r:embed="rId4">
              <a:extLst>
                <a:ext uri="{28A0092B-C50C-407E-A947-70E740481C1C}">
                  <a14:useLocalDpi xmlns:a14="http://schemas.microsoft.com/office/drawing/2010/main" val="0"/>
                </a:ext>
              </a:extLst>
            </a:blip>
            <a:srcRect/>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Rectangle 9">
            <a:extLst>
              <a:ext uri="{FF2B5EF4-FFF2-40B4-BE49-F238E27FC236}">
                <a16:creationId xmlns:a16="http://schemas.microsoft.com/office/drawing/2014/main" id="{976EE6DF-6261-404E-8E77-98C838AC40F0}"/>
              </a:ext>
            </a:extLst>
          </p:cNvPr>
          <p:cNvSpPr/>
          <p:nvPr/>
        </p:nvSpPr>
        <p:spPr>
          <a:xfrm>
            <a:off x="10454326" y="5825765"/>
            <a:ext cx="1737674" cy="650449"/>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r>
              <a:rPr lang="en-IN" dirty="0"/>
              <a:t>Source: Chatgpt</a:t>
            </a:r>
          </a:p>
        </p:txBody>
      </p:sp>
    </p:spTree>
    <p:extLst>
      <p:ext uri="{BB962C8B-B14F-4D97-AF65-F5344CB8AC3E}">
        <p14:creationId xmlns:p14="http://schemas.microsoft.com/office/powerpoint/2010/main" val="83560768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5DC2E9E5-A948-4001-B091-9FA81C34A34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429" y="-18854"/>
            <a:ext cx="1131216" cy="948153"/>
          </a:xfrm>
          <a:prstGeom prst="rect">
            <a:avLst/>
          </a:prstGeom>
        </p:spPr>
      </p:pic>
      <p:pic>
        <p:nvPicPr>
          <p:cNvPr id="7" name="Picture 6">
            <a:extLst>
              <a:ext uri="{FF2B5EF4-FFF2-40B4-BE49-F238E27FC236}">
                <a16:creationId xmlns:a16="http://schemas.microsoft.com/office/drawing/2014/main" id="{12659B6B-DE69-44F7-B6CF-C778BBE1F9E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854082" y="6986"/>
            <a:ext cx="1337918" cy="941168"/>
          </a:xfrm>
          <a:prstGeom prst="rect">
            <a:avLst/>
          </a:prstGeom>
        </p:spPr>
      </p:pic>
      <p:sp>
        <p:nvSpPr>
          <p:cNvPr id="4" name="Rectangle 3">
            <a:extLst>
              <a:ext uri="{FF2B5EF4-FFF2-40B4-BE49-F238E27FC236}">
                <a16:creationId xmlns:a16="http://schemas.microsoft.com/office/drawing/2014/main" id="{0A611828-4A95-4148-97FD-E63045EFD861}"/>
              </a:ext>
            </a:extLst>
          </p:cNvPr>
          <p:cNvSpPr/>
          <p:nvPr/>
        </p:nvSpPr>
        <p:spPr>
          <a:xfrm>
            <a:off x="3940404" y="75414"/>
            <a:ext cx="5288437" cy="603316"/>
          </a:xfrm>
          <a:prstGeom prst="rect">
            <a:avLst/>
          </a:prstGeom>
          <a:solidFill>
            <a:schemeClr val="accent6">
              <a:lumMod val="50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IN" sz="2800" b="1" dirty="0">
                <a:solidFill>
                  <a:schemeClr val="bg1"/>
                </a:solidFill>
              </a:rPr>
              <a:t>WhatsApp Marketing</a:t>
            </a:r>
          </a:p>
        </p:txBody>
      </p:sp>
      <p:sp>
        <p:nvSpPr>
          <p:cNvPr id="5" name="Rectangle: Rounded Corners 4">
            <a:extLst>
              <a:ext uri="{FF2B5EF4-FFF2-40B4-BE49-F238E27FC236}">
                <a16:creationId xmlns:a16="http://schemas.microsoft.com/office/drawing/2014/main" id="{8EDF2651-7DDA-4F93-9C25-D5E208A617A1}"/>
              </a:ext>
            </a:extLst>
          </p:cNvPr>
          <p:cNvSpPr/>
          <p:nvPr/>
        </p:nvSpPr>
        <p:spPr>
          <a:xfrm>
            <a:off x="1555423" y="1385740"/>
            <a:ext cx="3940404" cy="5269584"/>
          </a:xfrm>
          <a:prstGeom prst="roundRect">
            <a:avLst/>
          </a:prstGeom>
          <a:solidFill>
            <a:schemeClr val="accent6">
              <a:lumMod val="20000"/>
              <a:lumOff val="80000"/>
            </a:schemeClr>
          </a:solidFill>
        </p:spPr>
        <p:style>
          <a:lnRef idx="2">
            <a:schemeClr val="accent2"/>
          </a:lnRef>
          <a:fillRef idx="1">
            <a:schemeClr val="lt1"/>
          </a:fillRef>
          <a:effectRef idx="0">
            <a:schemeClr val="accent2"/>
          </a:effectRef>
          <a:fontRef idx="minor">
            <a:schemeClr val="dk1"/>
          </a:fontRef>
        </p:style>
        <p:txBody>
          <a:bodyPr rtlCol="0" anchor="ctr"/>
          <a:lstStyle/>
          <a:p>
            <a:endParaRPr lang="en-IN" b="1" dirty="0"/>
          </a:p>
          <a:p>
            <a:endParaRPr lang="en-IN" b="1" dirty="0"/>
          </a:p>
          <a:p>
            <a:endParaRPr lang="en-IN" b="1" dirty="0"/>
          </a:p>
          <a:p>
            <a:endParaRPr lang="en-IN" b="1" dirty="0"/>
          </a:p>
          <a:p>
            <a:endParaRPr lang="en-IN" b="1" dirty="0"/>
          </a:p>
          <a:p>
            <a:r>
              <a:rPr lang="en-IN" b="1" dirty="0"/>
              <a:t>Happy Janmashtami, [Name]</a:t>
            </a:r>
            <a:endParaRPr lang="en-IN" dirty="0"/>
          </a:p>
          <a:p>
            <a:endParaRPr lang="en-IN" dirty="0"/>
          </a:p>
          <a:p>
            <a:r>
              <a:rPr lang="en-IN" dirty="0"/>
              <a:t>Celebrate your fast with Sweet Karam Coffee!</a:t>
            </a:r>
          </a:p>
          <a:p>
            <a:endParaRPr lang="en-IN" dirty="0"/>
          </a:p>
          <a:p>
            <a:pPr marL="285750" indent="-285750">
              <a:buFont typeface="Arial" panose="020B0604020202020204" pitchFamily="34" charset="0"/>
              <a:buChar char="•"/>
            </a:pPr>
            <a:r>
              <a:rPr lang="en-IN" dirty="0"/>
              <a:t>Ghee Mysore Pak at ₹239 (</a:t>
            </a:r>
            <a:r>
              <a:rPr lang="en-IN" strike="sngStrike" dirty="0"/>
              <a:t>₹299</a:t>
            </a:r>
            <a:r>
              <a:rPr lang="en-IN" dirty="0"/>
              <a:t>) </a:t>
            </a:r>
          </a:p>
          <a:p>
            <a:pPr marL="285750" indent="-285750">
              <a:buFont typeface="Arial" panose="020B0604020202020204" pitchFamily="34" charset="0"/>
              <a:buChar char="•"/>
            </a:pPr>
            <a:r>
              <a:rPr lang="en-IN" dirty="0"/>
              <a:t>Festive Combo at ₹999 (</a:t>
            </a:r>
            <a:r>
              <a:rPr lang="en-IN" strike="sngStrike" dirty="0"/>
              <a:t>₹1,187</a:t>
            </a:r>
            <a:r>
              <a:rPr lang="en-IN" dirty="0"/>
              <a:t>) </a:t>
            </a:r>
          </a:p>
          <a:p>
            <a:pPr marL="285750" indent="-285750">
              <a:buFont typeface="Arial" panose="020B0604020202020204" pitchFamily="34" charset="0"/>
              <a:buChar char="•"/>
            </a:pPr>
            <a:r>
              <a:rPr lang="en-IN" dirty="0"/>
              <a:t> Sweet </a:t>
            </a:r>
            <a:r>
              <a:rPr lang="en-IN" dirty="0" err="1"/>
              <a:t>Seedai</a:t>
            </a:r>
            <a:r>
              <a:rPr lang="en-IN" dirty="0"/>
              <a:t> at ₹359 (</a:t>
            </a:r>
            <a:r>
              <a:rPr lang="en-IN" strike="sngStrike" dirty="0"/>
              <a:t>₹450</a:t>
            </a:r>
            <a:r>
              <a:rPr lang="en-IN" dirty="0"/>
              <a:t>)</a:t>
            </a:r>
          </a:p>
          <a:p>
            <a:endParaRPr lang="en-IN" dirty="0"/>
          </a:p>
          <a:p>
            <a:r>
              <a:rPr lang="en-IN" b="1" dirty="0"/>
              <a:t>  FREE DELIVERY!</a:t>
            </a:r>
            <a:endParaRPr lang="en-IN" dirty="0"/>
          </a:p>
          <a:p>
            <a:endParaRPr lang="en-IN" dirty="0"/>
          </a:p>
          <a:p>
            <a:r>
              <a:rPr lang="en-IN" dirty="0"/>
              <a:t>Order now &amp; grab your </a:t>
            </a:r>
            <a:r>
              <a:rPr lang="en-IN" b="1" dirty="0"/>
              <a:t>exclusive festive offer!</a:t>
            </a:r>
            <a:endParaRPr lang="en-IN" dirty="0"/>
          </a:p>
          <a:p>
            <a:endParaRPr lang="en-IN" b="1" dirty="0"/>
          </a:p>
          <a:p>
            <a:r>
              <a:rPr lang="en-IN" b="1" dirty="0"/>
              <a:t>Sweet Karam Coffee – Experience South India</a:t>
            </a:r>
          </a:p>
          <a:p>
            <a:endParaRPr lang="en-IN" b="1" dirty="0"/>
          </a:p>
          <a:p>
            <a:endParaRPr lang="en-IN" b="1" dirty="0"/>
          </a:p>
          <a:p>
            <a:endParaRPr lang="en-IN" dirty="0"/>
          </a:p>
          <a:p>
            <a:endParaRPr lang="en-IN" dirty="0"/>
          </a:p>
          <a:p>
            <a:endParaRPr lang="en-IN" b="1" dirty="0"/>
          </a:p>
        </p:txBody>
      </p:sp>
      <p:pic>
        <p:nvPicPr>
          <p:cNvPr id="14" name="Picture 13">
            <a:extLst>
              <a:ext uri="{FF2B5EF4-FFF2-40B4-BE49-F238E27FC236}">
                <a16:creationId xmlns:a16="http://schemas.microsoft.com/office/drawing/2014/main" id="{DF2E804E-302A-4A64-8355-F1D1B598BBE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841478" y="956818"/>
            <a:ext cx="3830424" cy="5745636"/>
          </a:xfrm>
          <a:prstGeom prst="rect">
            <a:avLst/>
          </a:prstGeom>
          <a:ln>
            <a:solidFill>
              <a:schemeClr val="accent6">
                <a:lumMod val="75000"/>
              </a:schemeClr>
            </a:solidFill>
          </a:ln>
        </p:spPr>
      </p:pic>
      <p:sp>
        <p:nvSpPr>
          <p:cNvPr id="15" name="Rectangle 14">
            <a:extLst>
              <a:ext uri="{FF2B5EF4-FFF2-40B4-BE49-F238E27FC236}">
                <a16:creationId xmlns:a16="http://schemas.microsoft.com/office/drawing/2014/main" id="{71D651A1-0F35-4030-BC07-E7A2465645A5}"/>
              </a:ext>
            </a:extLst>
          </p:cNvPr>
          <p:cNvSpPr/>
          <p:nvPr/>
        </p:nvSpPr>
        <p:spPr>
          <a:xfrm>
            <a:off x="11613823" y="956818"/>
            <a:ext cx="578177" cy="5894196"/>
          </a:xfrm>
          <a:prstGeom prst="rect">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algn="ctr"/>
            <a:r>
              <a:rPr lang="en-IN" sz="3200" b="1" dirty="0"/>
              <a:t>SWEET KARAM COFFEE</a:t>
            </a:r>
          </a:p>
        </p:txBody>
      </p:sp>
    </p:spTree>
    <p:extLst>
      <p:ext uri="{BB962C8B-B14F-4D97-AF65-F5344CB8AC3E}">
        <p14:creationId xmlns:p14="http://schemas.microsoft.com/office/powerpoint/2010/main" val="392836650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CB9D65E7-1F9F-45FC-8BB0-5A54B7829FB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429" y="-18854"/>
            <a:ext cx="1131216" cy="948153"/>
          </a:xfrm>
          <a:prstGeom prst="rect">
            <a:avLst/>
          </a:prstGeom>
        </p:spPr>
      </p:pic>
      <p:pic>
        <p:nvPicPr>
          <p:cNvPr id="7" name="Picture 6">
            <a:extLst>
              <a:ext uri="{FF2B5EF4-FFF2-40B4-BE49-F238E27FC236}">
                <a16:creationId xmlns:a16="http://schemas.microsoft.com/office/drawing/2014/main" id="{470A6CD4-93E8-4926-B9AC-7C958688C95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854082" y="11735"/>
            <a:ext cx="1337918" cy="941168"/>
          </a:xfrm>
          <a:prstGeom prst="rect">
            <a:avLst/>
          </a:prstGeom>
        </p:spPr>
      </p:pic>
      <p:sp>
        <p:nvSpPr>
          <p:cNvPr id="4" name="Rectangle 3">
            <a:extLst>
              <a:ext uri="{FF2B5EF4-FFF2-40B4-BE49-F238E27FC236}">
                <a16:creationId xmlns:a16="http://schemas.microsoft.com/office/drawing/2014/main" id="{74B5DC43-BF83-4940-AC23-217580C84146}"/>
              </a:ext>
            </a:extLst>
          </p:cNvPr>
          <p:cNvSpPr/>
          <p:nvPr/>
        </p:nvSpPr>
        <p:spPr>
          <a:xfrm>
            <a:off x="2488676" y="2469823"/>
            <a:ext cx="6749592" cy="1725105"/>
          </a:xfrm>
          <a:prstGeom prst="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4000" b="1" dirty="0">
                <a:solidFill>
                  <a:schemeClr val="bg1"/>
                </a:solidFill>
                <a:latin typeface="Calibri" panose="020F0502020204030204" pitchFamily="34" charset="0"/>
                <a:ea typeface="Calibri" panose="020F0502020204030204" pitchFamily="34" charset="0"/>
                <a:cs typeface="Calibri" panose="020F0502020204030204" pitchFamily="34" charset="0"/>
              </a:rPr>
              <a:t>LANDING PAGE STRUCTURE</a:t>
            </a:r>
            <a:endParaRPr lang="en-IN" sz="4000" b="1"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06634927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468C6C53-60FE-4C53-953A-F896130D53B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429" y="-47135"/>
            <a:ext cx="1131216" cy="948153"/>
          </a:xfrm>
          <a:prstGeom prst="rect">
            <a:avLst/>
          </a:prstGeom>
        </p:spPr>
      </p:pic>
      <p:pic>
        <p:nvPicPr>
          <p:cNvPr id="7" name="Picture 6">
            <a:extLst>
              <a:ext uri="{FF2B5EF4-FFF2-40B4-BE49-F238E27FC236}">
                <a16:creationId xmlns:a16="http://schemas.microsoft.com/office/drawing/2014/main" id="{3AE766AA-92B1-45CE-B255-AC1C0B655BA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854082" y="-16545"/>
            <a:ext cx="1337918" cy="941168"/>
          </a:xfrm>
          <a:prstGeom prst="rect">
            <a:avLst/>
          </a:prstGeom>
        </p:spPr>
      </p:pic>
      <p:graphicFrame>
        <p:nvGraphicFramePr>
          <p:cNvPr id="9" name="Table 8">
            <a:extLst>
              <a:ext uri="{FF2B5EF4-FFF2-40B4-BE49-F238E27FC236}">
                <a16:creationId xmlns:a16="http://schemas.microsoft.com/office/drawing/2014/main" id="{200845F1-B788-4BB6-B450-08F75A8FE6A6}"/>
              </a:ext>
            </a:extLst>
          </p:cNvPr>
          <p:cNvGraphicFramePr>
            <a:graphicFrameLocks noGrp="1"/>
          </p:cNvGraphicFramePr>
          <p:nvPr>
            <p:extLst>
              <p:ext uri="{D42A27DB-BD31-4B8C-83A1-F6EECF244321}">
                <p14:modId xmlns:p14="http://schemas.microsoft.com/office/powerpoint/2010/main" val="2433433482"/>
              </p:ext>
            </p:extLst>
          </p:nvPr>
        </p:nvGraphicFramePr>
        <p:xfrm>
          <a:off x="-1" y="1112363"/>
          <a:ext cx="5147033" cy="5722593"/>
        </p:xfrm>
        <a:graphic>
          <a:graphicData uri="http://schemas.openxmlformats.org/drawingml/2006/table">
            <a:tbl>
              <a:tblPr firstRow="1" bandRow="1">
                <a:tableStyleId>{5DA37D80-6434-44D0-A028-1B22A696006F}</a:tableStyleId>
              </a:tblPr>
              <a:tblGrid>
                <a:gridCol w="1763655">
                  <a:extLst>
                    <a:ext uri="{9D8B030D-6E8A-4147-A177-3AD203B41FA5}">
                      <a16:colId xmlns:a16="http://schemas.microsoft.com/office/drawing/2014/main" val="2817799697"/>
                    </a:ext>
                  </a:extLst>
                </a:gridCol>
                <a:gridCol w="3383378">
                  <a:extLst>
                    <a:ext uri="{9D8B030D-6E8A-4147-A177-3AD203B41FA5}">
                      <a16:colId xmlns:a16="http://schemas.microsoft.com/office/drawing/2014/main" val="3556609544"/>
                    </a:ext>
                  </a:extLst>
                </a:gridCol>
              </a:tblGrid>
              <a:tr h="46972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dirty="0">
                          <a:solidFill>
                            <a:schemeClr val="bg1"/>
                          </a:solidFill>
                        </a:rPr>
                        <a:t>SECTION</a:t>
                      </a:r>
                    </a:p>
                  </a:txBody>
                  <a:tcPr>
                    <a:solidFill>
                      <a:schemeClr val="accent2">
                        <a:lumMod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dirty="0">
                          <a:solidFill>
                            <a:schemeClr val="bg1"/>
                          </a:solidFill>
                        </a:rPr>
                        <a:t>CONTENT IDEA</a:t>
                      </a:r>
                    </a:p>
                  </a:txBody>
                  <a:tcPr>
                    <a:solidFill>
                      <a:schemeClr val="accent2">
                        <a:lumMod val="75000"/>
                      </a:schemeClr>
                    </a:solidFill>
                  </a:tcPr>
                </a:tc>
                <a:extLst>
                  <a:ext uri="{0D108BD9-81ED-4DB2-BD59-A6C34878D82A}">
                    <a16:rowId xmlns:a16="http://schemas.microsoft.com/office/drawing/2014/main" val="2704794666"/>
                  </a:ext>
                </a:extLst>
              </a:tr>
              <a:tr h="180138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Hero Section</a:t>
                      </a:r>
                    </a:p>
                    <a:p>
                      <a:endParaRPr lang="en-IN" dirty="0"/>
                    </a:p>
                  </a:txBody>
                  <a:tcPr/>
                </a:tc>
                <a:tc>
                  <a:txBody>
                    <a:bodyPr/>
                    <a:lstStyle/>
                    <a:p>
                      <a:r>
                        <a:rPr lang="en-IN" dirty="0"/>
                        <a:t>Headline: Make sweet Memories, One </a:t>
                      </a:r>
                      <a:r>
                        <a:rPr lang="en-IN" dirty="0" err="1"/>
                        <a:t>Modakam</a:t>
                      </a:r>
                      <a:r>
                        <a:rPr lang="en-IN" dirty="0"/>
                        <a:t> at a time.</a:t>
                      </a:r>
                    </a:p>
                    <a:p>
                      <a:r>
                        <a:rPr lang="en-IN" dirty="0"/>
                        <a:t>Hero Banner: Grand </a:t>
                      </a:r>
                      <a:r>
                        <a:rPr lang="en-IN" dirty="0" err="1"/>
                        <a:t>Ganesha</a:t>
                      </a:r>
                      <a:r>
                        <a:rPr lang="en-IN" dirty="0"/>
                        <a:t> Fest</a:t>
                      </a:r>
                    </a:p>
                    <a:p>
                      <a:r>
                        <a:rPr lang="en-IN" b="1" dirty="0"/>
                        <a:t>CTA Button: Order Now</a:t>
                      </a:r>
                    </a:p>
                  </a:txBody>
                  <a:tcPr/>
                </a:tc>
                <a:extLst>
                  <a:ext uri="{0D108BD9-81ED-4DB2-BD59-A6C34878D82A}">
                    <a16:rowId xmlns:a16="http://schemas.microsoft.com/office/drawing/2014/main" val="3479459549"/>
                  </a:ext>
                </a:extLst>
              </a:tr>
              <a:tr h="134515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Best Sellers </a:t>
                      </a:r>
                    </a:p>
                    <a:p>
                      <a:endParaRPr lang="en-IN" dirty="0"/>
                    </a:p>
                  </a:txBody>
                  <a:tcPr/>
                </a:tc>
                <a:tc>
                  <a:txBody>
                    <a:bodyPr/>
                    <a:lstStyle/>
                    <a:p>
                      <a:pPr marL="285750" indent="-285750">
                        <a:buFont typeface="Arial" panose="020B0604020202020204" pitchFamily="34" charset="0"/>
                        <a:buChar char="•"/>
                      </a:pPr>
                      <a:r>
                        <a:rPr lang="en-IN" dirty="0"/>
                        <a:t>Ghee Mysore </a:t>
                      </a:r>
                      <a:r>
                        <a:rPr lang="en-IN" dirty="0" err="1"/>
                        <a:t>pak</a:t>
                      </a:r>
                      <a:r>
                        <a:rPr lang="en-IN" dirty="0"/>
                        <a:t> ( Soft)</a:t>
                      </a:r>
                    </a:p>
                    <a:p>
                      <a:pPr marL="285750" indent="-285750">
                        <a:buFont typeface="Arial" panose="020B0604020202020204" pitchFamily="34" charset="0"/>
                        <a:buChar char="•"/>
                      </a:pPr>
                      <a:r>
                        <a:rPr lang="en-IN" dirty="0"/>
                        <a:t>Ganesh Chaturthi DIY </a:t>
                      </a:r>
                      <a:r>
                        <a:rPr lang="en-IN" dirty="0" err="1"/>
                        <a:t>Modakam</a:t>
                      </a:r>
                      <a:r>
                        <a:rPr lang="en-IN" dirty="0"/>
                        <a:t> Kit</a:t>
                      </a:r>
                    </a:p>
                    <a:p>
                      <a:pPr marL="285750" indent="-285750">
                        <a:buFont typeface="Arial" panose="020B0604020202020204" pitchFamily="34" charset="0"/>
                        <a:buChar char="•"/>
                      </a:pPr>
                      <a:r>
                        <a:rPr lang="en-IN" dirty="0"/>
                        <a:t>Classic Coconut Barfi</a:t>
                      </a:r>
                    </a:p>
                  </a:txBody>
                  <a:tcPr/>
                </a:tc>
                <a:extLst>
                  <a:ext uri="{0D108BD9-81ED-4DB2-BD59-A6C34878D82A}">
                    <a16:rowId xmlns:a16="http://schemas.microsoft.com/office/drawing/2014/main" val="2529496679"/>
                  </a:ext>
                </a:extLst>
              </a:tr>
              <a:tr h="115822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Trust and social proof</a:t>
                      </a:r>
                    </a:p>
                    <a:p>
                      <a:endParaRPr lang="en-IN" dirty="0"/>
                    </a:p>
                  </a:txBody>
                  <a:tcPr/>
                </a:tc>
                <a:tc>
                  <a:txBody>
                    <a:bodyPr/>
                    <a:lstStyle/>
                    <a:p>
                      <a:pPr marL="0" indent="0">
                        <a:buFont typeface="Arial" panose="020B0604020202020204" pitchFamily="34" charset="0"/>
                        <a:buNone/>
                      </a:pPr>
                      <a:r>
                        <a:rPr lang="en-IN" dirty="0"/>
                        <a:t>Trusted by 5 lakh+ happy Customers across India</a:t>
                      </a:r>
                    </a:p>
                    <a:p>
                      <a:pPr marL="0" indent="0">
                        <a:buFont typeface="Arial" panose="020B0604020202020204" pitchFamily="34" charset="0"/>
                        <a:buNone/>
                      </a:pPr>
                      <a:endParaRPr lang="en-IN" dirty="0"/>
                    </a:p>
                  </a:txBody>
                  <a:tcPr/>
                </a:tc>
                <a:extLst>
                  <a:ext uri="{0D108BD9-81ED-4DB2-BD59-A6C34878D82A}">
                    <a16:rowId xmlns:a16="http://schemas.microsoft.com/office/drawing/2014/main" val="2502177432"/>
                  </a:ext>
                </a:extLst>
              </a:tr>
              <a:tr h="94809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Customer Reviews</a:t>
                      </a:r>
                    </a:p>
                    <a:p>
                      <a:endParaRPr lang="en-IN" dirty="0"/>
                    </a:p>
                  </a:txBody>
                  <a:tcPr/>
                </a:tc>
                <a:tc>
                  <a:txBody>
                    <a:bodyPr/>
                    <a:lstStyle/>
                    <a:p>
                      <a:pPr marL="285750" indent="-285750">
                        <a:buFont typeface="Arial" panose="020B0604020202020204" pitchFamily="34" charset="0"/>
                        <a:buChar char="•"/>
                      </a:pPr>
                      <a:r>
                        <a:rPr lang="en-IN" dirty="0"/>
                        <a:t>Display Customer testimonials</a:t>
                      </a:r>
                    </a:p>
                    <a:p>
                      <a:pPr marL="285750" indent="-285750">
                        <a:buFont typeface="Arial" panose="020B0604020202020204" pitchFamily="34" charset="0"/>
                        <a:buChar char="•"/>
                      </a:pPr>
                      <a:r>
                        <a:rPr lang="en-IN" dirty="0"/>
                        <a:t>Rating &amp; Reviews</a:t>
                      </a:r>
                    </a:p>
                  </a:txBody>
                  <a:tcPr/>
                </a:tc>
                <a:extLst>
                  <a:ext uri="{0D108BD9-81ED-4DB2-BD59-A6C34878D82A}">
                    <a16:rowId xmlns:a16="http://schemas.microsoft.com/office/drawing/2014/main" val="3062441126"/>
                  </a:ext>
                </a:extLst>
              </a:tr>
            </a:tbl>
          </a:graphicData>
        </a:graphic>
      </p:graphicFrame>
      <p:sp>
        <p:nvSpPr>
          <p:cNvPr id="10" name="Rectangle 9">
            <a:extLst>
              <a:ext uri="{FF2B5EF4-FFF2-40B4-BE49-F238E27FC236}">
                <a16:creationId xmlns:a16="http://schemas.microsoft.com/office/drawing/2014/main" id="{0AEFD5FD-16CD-4BC3-9C8B-12442D8530EB}"/>
              </a:ext>
            </a:extLst>
          </p:cNvPr>
          <p:cNvSpPr/>
          <p:nvPr/>
        </p:nvSpPr>
        <p:spPr>
          <a:xfrm>
            <a:off x="5194169" y="1113156"/>
            <a:ext cx="3660056" cy="2875175"/>
          </a:xfrm>
          <a:prstGeom prst="rect">
            <a:avLst/>
          </a:prstGeom>
          <a:blipFill dpi="0" rotWithShape="1">
            <a:blip r:embed="rId4">
              <a:extLst>
                <a:ext uri="{28A0092B-C50C-407E-A947-70E740481C1C}">
                  <a14:useLocalDpi xmlns:a14="http://schemas.microsoft.com/office/drawing/2010/main" val="0"/>
                </a:ext>
              </a:extLst>
            </a:blip>
            <a:srcRect/>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Rectangle 10">
            <a:extLst>
              <a:ext uri="{FF2B5EF4-FFF2-40B4-BE49-F238E27FC236}">
                <a16:creationId xmlns:a16="http://schemas.microsoft.com/office/drawing/2014/main" id="{17F95CB3-E311-4088-93A8-762147B9CBF5}"/>
              </a:ext>
            </a:extLst>
          </p:cNvPr>
          <p:cNvSpPr/>
          <p:nvPr/>
        </p:nvSpPr>
        <p:spPr>
          <a:xfrm>
            <a:off x="8901361" y="1102937"/>
            <a:ext cx="3221510" cy="5722594"/>
          </a:xfrm>
          <a:prstGeom prst="rect">
            <a:avLst/>
          </a:prstGeom>
          <a:blipFill dpi="0" rotWithShape="1">
            <a:blip r:embed="rId5">
              <a:extLst>
                <a:ext uri="{28A0092B-C50C-407E-A947-70E740481C1C}">
                  <a14:useLocalDpi xmlns:a14="http://schemas.microsoft.com/office/drawing/2010/main" val="0"/>
                </a:ext>
              </a:extLst>
            </a:blip>
            <a:srcRect/>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Rectangle 11">
            <a:extLst>
              <a:ext uri="{FF2B5EF4-FFF2-40B4-BE49-F238E27FC236}">
                <a16:creationId xmlns:a16="http://schemas.microsoft.com/office/drawing/2014/main" id="{AA110BB7-925F-4D4E-BA93-068570AC71E1}"/>
              </a:ext>
            </a:extLst>
          </p:cNvPr>
          <p:cNvSpPr/>
          <p:nvPr/>
        </p:nvSpPr>
        <p:spPr>
          <a:xfrm>
            <a:off x="5194168" y="4015818"/>
            <a:ext cx="3662743" cy="2819138"/>
          </a:xfrm>
          <a:prstGeom prst="rect">
            <a:avLst/>
          </a:prstGeom>
          <a:blipFill dpi="0" rotWithShape="1">
            <a:blip r:embed="rId6">
              <a:extLst>
                <a:ext uri="{28A0092B-C50C-407E-A947-70E740481C1C}">
                  <a14:useLocalDpi xmlns:a14="http://schemas.microsoft.com/office/drawing/2010/main" val="0"/>
                </a:ext>
              </a:extLst>
            </a:blip>
            <a:srcRect/>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Rectangle 12">
            <a:extLst>
              <a:ext uri="{FF2B5EF4-FFF2-40B4-BE49-F238E27FC236}">
                <a16:creationId xmlns:a16="http://schemas.microsoft.com/office/drawing/2014/main" id="{30D3444A-40E9-4564-A553-780F03353B6C}"/>
              </a:ext>
            </a:extLst>
          </p:cNvPr>
          <p:cNvSpPr/>
          <p:nvPr/>
        </p:nvSpPr>
        <p:spPr>
          <a:xfrm>
            <a:off x="4034669" y="226444"/>
            <a:ext cx="5175316" cy="499422"/>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IN" sz="2400" b="1" dirty="0"/>
              <a:t>LANDING PAGE STRUCTURE</a:t>
            </a:r>
          </a:p>
        </p:txBody>
      </p:sp>
    </p:spTree>
    <p:extLst>
      <p:ext uri="{BB962C8B-B14F-4D97-AF65-F5344CB8AC3E}">
        <p14:creationId xmlns:p14="http://schemas.microsoft.com/office/powerpoint/2010/main" val="32770880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E091BD2-0247-47FB-8512-EFEDBC47E6D0}"/>
              </a:ext>
            </a:extLst>
          </p:cNvPr>
          <p:cNvSpPr/>
          <p:nvPr/>
        </p:nvSpPr>
        <p:spPr>
          <a:xfrm>
            <a:off x="4034669" y="217016"/>
            <a:ext cx="5175316" cy="499422"/>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IN" sz="2800" b="1" dirty="0"/>
              <a:t>LANDING PAGE STRUCTURE</a:t>
            </a:r>
          </a:p>
        </p:txBody>
      </p:sp>
      <p:graphicFrame>
        <p:nvGraphicFramePr>
          <p:cNvPr id="6" name="Table 5">
            <a:extLst>
              <a:ext uri="{FF2B5EF4-FFF2-40B4-BE49-F238E27FC236}">
                <a16:creationId xmlns:a16="http://schemas.microsoft.com/office/drawing/2014/main" id="{1AB1143B-BE3F-4D62-9EB8-DE17EBF3E697}"/>
              </a:ext>
            </a:extLst>
          </p:cNvPr>
          <p:cNvGraphicFramePr>
            <a:graphicFrameLocks noGrp="1"/>
          </p:cNvGraphicFramePr>
          <p:nvPr>
            <p:extLst>
              <p:ext uri="{D42A27DB-BD31-4B8C-83A1-F6EECF244321}">
                <p14:modId xmlns:p14="http://schemas.microsoft.com/office/powerpoint/2010/main" val="1166728291"/>
              </p:ext>
            </p:extLst>
          </p:nvPr>
        </p:nvGraphicFramePr>
        <p:xfrm>
          <a:off x="14667" y="1159498"/>
          <a:ext cx="5452881" cy="5694061"/>
        </p:xfrm>
        <a:graphic>
          <a:graphicData uri="http://schemas.openxmlformats.org/drawingml/2006/table">
            <a:tbl>
              <a:tblPr firstRow="1" bandRow="1">
                <a:tableStyleId>{5DA37D80-6434-44D0-A028-1B22A696006F}</a:tableStyleId>
              </a:tblPr>
              <a:tblGrid>
                <a:gridCol w="1989550">
                  <a:extLst>
                    <a:ext uri="{9D8B030D-6E8A-4147-A177-3AD203B41FA5}">
                      <a16:colId xmlns:a16="http://schemas.microsoft.com/office/drawing/2014/main" val="1018924407"/>
                    </a:ext>
                  </a:extLst>
                </a:gridCol>
                <a:gridCol w="3463331">
                  <a:extLst>
                    <a:ext uri="{9D8B030D-6E8A-4147-A177-3AD203B41FA5}">
                      <a16:colId xmlns:a16="http://schemas.microsoft.com/office/drawing/2014/main" val="323076868"/>
                    </a:ext>
                  </a:extLst>
                </a:gridCol>
              </a:tblGrid>
              <a:tr h="67825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dirty="0">
                          <a:solidFill>
                            <a:schemeClr val="bg1"/>
                          </a:solidFill>
                        </a:rPr>
                        <a:t>SECTION</a:t>
                      </a:r>
                    </a:p>
                    <a:p>
                      <a:endParaRPr lang="en-IN" dirty="0"/>
                    </a:p>
                  </a:txBody>
                  <a:tcPr>
                    <a:solidFill>
                      <a:schemeClr val="accent2">
                        <a:lumMod val="75000"/>
                      </a:schemeClr>
                    </a:solidFill>
                  </a:tcPr>
                </a:tc>
                <a:tc>
                  <a:txBody>
                    <a:bodyPr/>
                    <a:lstStyle/>
                    <a:p>
                      <a:pPr algn="ctr"/>
                      <a:r>
                        <a:rPr lang="en-IN" dirty="0">
                          <a:solidFill>
                            <a:schemeClr val="bg1"/>
                          </a:solidFill>
                        </a:rPr>
                        <a:t>CONTENT IDEA</a:t>
                      </a:r>
                    </a:p>
                  </a:txBody>
                  <a:tcPr>
                    <a:solidFill>
                      <a:schemeClr val="accent2">
                        <a:lumMod val="75000"/>
                      </a:schemeClr>
                    </a:solidFill>
                  </a:tcPr>
                </a:tc>
                <a:extLst>
                  <a:ext uri="{0D108BD9-81ED-4DB2-BD59-A6C34878D82A}">
                    <a16:rowId xmlns:a16="http://schemas.microsoft.com/office/drawing/2014/main" val="2643618886"/>
                  </a:ext>
                </a:extLst>
              </a:tr>
              <a:tr h="107880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Featured Categories</a:t>
                      </a:r>
                    </a:p>
                    <a:p>
                      <a:endParaRPr lang="en-IN" dirty="0"/>
                    </a:p>
                  </a:txBody>
                  <a:tcPr/>
                </a:tc>
                <a:tc>
                  <a:txBody>
                    <a:bodyPr/>
                    <a:lstStyle/>
                    <a:p>
                      <a:pPr marL="285750" indent="-285750">
                        <a:buFont typeface="Arial" panose="020B0604020202020204" pitchFamily="34" charset="0"/>
                        <a:buChar char="•"/>
                      </a:pPr>
                      <a:r>
                        <a:rPr lang="en-IN" dirty="0"/>
                        <a:t>Highlighted main categories.</a:t>
                      </a:r>
                    </a:p>
                    <a:p>
                      <a:pPr marL="285750" indent="-285750">
                        <a:buFont typeface="Arial" panose="020B0604020202020204" pitchFamily="34" charset="0"/>
                        <a:buChar char="•"/>
                      </a:pPr>
                      <a:r>
                        <a:rPr lang="en-IN" dirty="0"/>
                        <a:t>Easy navigation for users.</a:t>
                      </a:r>
                    </a:p>
                  </a:txBody>
                  <a:tcPr/>
                </a:tc>
                <a:extLst>
                  <a:ext uri="{0D108BD9-81ED-4DB2-BD59-A6C34878D82A}">
                    <a16:rowId xmlns:a16="http://schemas.microsoft.com/office/drawing/2014/main" val="2845034092"/>
                  </a:ext>
                </a:extLst>
              </a:tr>
              <a:tr h="107880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Brand Stories</a:t>
                      </a:r>
                    </a:p>
                    <a:p>
                      <a:endParaRPr lang="en-IN" dirty="0"/>
                    </a:p>
                  </a:txBody>
                  <a:tcPr/>
                </a:tc>
                <a:tc>
                  <a:txBody>
                    <a:bodyPr/>
                    <a:lstStyle/>
                    <a:p>
                      <a:pPr marL="285750" indent="-285750">
                        <a:buFont typeface="Arial" panose="020B0604020202020204" pitchFamily="34" charset="0"/>
                        <a:buChar char="•"/>
                      </a:pPr>
                      <a:r>
                        <a:rPr lang="en-IN" dirty="0"/>
                        <a:t>Shared Brand story.</a:t>
                      </a:r>
                    </a:p>
                    <a:p>
                      <a:pPr marL="285750" indent="-285750">
                        <a:buFont typeface="Arial" panose="020B0604020202020204" pitchFamily="34" charset="0"/>
                        <a:buChar char="•"/>
                      </a:pPr>
                      <a:r>
                        <a:rPr lang="en-IN" dirty="0"/>
                        <a:t>Connect emotionally with customers.</a:t>
                      </a:r>
                    </a:p>
                  </a:txBody>
                  <a:tcPr/>
                </a:tc>
                <a:extLst>
                  <a:ext uri="{0D108BD9-81ED-4DB2-BD59-A6C34878D82A}">
                    <a16:rowId xmlns:a16="http://schemas.microsoft.com/office/drawing/2014/main" val="657554864"/>
                  </a:ext>
                </a:extLst>
              </a:tr>
              <a:tr h="140244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Blog Section</a:t>
                      </a:r>
                    </a:p>
                    <a:p>
                      <a:endParaRPr lang="en-IN" dirty="0"/>
                    </a:p>
                  </a:txBody>
                  <a:tcPr/>
                </a:tc>
                <a:tc>
                  <a:txBody>
                    <a:bodyPr/>
                    <a:lstStyle/>
                    <a:p>
                      <a:pPr marL="285750" indent="-285750">
                        <a:buFont typeface="Arial" panose="020B0604020202020204" pitchFamily="34" charset="0"/>
                        <a:buChar char="•"/>
                      </a:pPr>
                      <a:r>
                        <a:rPr lang="en-IN" dirty="0"/>
                        <a:t>Shared Blog, recipes and festival contents.</a:t>
                      </a:r>
                    </a:p>
                    <a:p>
                      <a:pPr marL="285750" indent="-285750">
                        <a:buFont typeface="Arial" panose="020B0604020202020204" pitchFamily="34" charset="0"/>
                        <a:buChar char="•"/>
                      </a:pPr>
                      <a:r>
                        <a:rPr lang="en-IN" dirty="0"/>
                        <a:t>Educate and engage users.</a:t>
                      </a:r>
                    </a:p>
                  </a:txBody>
                  <a:tcPr/>
                </a:tc>
                <a:extLst>
                  <a:ext uri="{0D108BD9-81ED-4DB2-BD59-A6C34878D82A}">
                    <a16:rowId xmlns:a16="http://schemas.microsoft.com/office/drawing/2014/main" val="1159028146"/>
                  </a:ext>
                </a:extLst>
              </a:tr>
              <a:tr h="1455750">
                <a:tc>
                  <a:txBody>
                    <a:bodyPr/>
                    <a:lstStyle/>
                    <a:p>
                      <a:r>
                        <a:rPr lang="en-IN" dirty="0"/>
                        <a:t>Contact</a:t>
                      </a:r>
                    </a:p>
                  </a:txBody>
                  <a:tcPr/>
                </a:tc>
                <a:tc>
                  <a:txBody>
                    <a:bodyPr/>
                    <a:lstStyle/>
                    <a:p>
                      <a:pPr marL="285750" indent="-285750">
                        <a:buFont typeface="Arial" panose="020B0604020202020204" pitchFamily="34" charset="0"/>
                        <a:buChar char="•"/>
                      </a:pPr>
                      <a:r>
                        <a:rPr lang="en-IN" dirty="0"/>
                        <a:t>App download and social media links</a:t>
                      </a:r>
                    </a:p>
                    <a:p>
                      <a:pPr marL="285750" indent="-285750">
                        <a:buFont typeface="Arial" panose="020B0604020202020204" pitchFamily="34" charset="0"/>
                        <a:buChar char="•"/>
                      </a:pPr>
                      <a:r>
                        <a:rPr lang="en-IN" dirty="0"/>
                        <a:t>Company info </a:t>
                      </a:r>
                    </a:p>
                  </a:txBody>
                  <a:tcPr/>
                </a:tc>
                <a:extLst>
                  <a:ext uri="{0D108BD9-81ED-4DB2-BD59-A6C34878D82A}">
                    <a16:rowId xmlns:a16="http://schemas.microsoft.com/office/drawing/2014/main" val="3621597680"/>
                  </a:ext>
                </a:extLst>
              </a:tr>
            </a:tbl>
          </a:graphicData>
        </a:graphic>
      </p:graphicFrame>
      <p:sp>
        <p:nvSpPr>
          <p:cNvPr id="7" name="Rectangle 6">
            <a:extLst>
              <a:ext uri="{FF2B5EF4-FFF2-40B4-BE49-F238E27FC236}">
                <a16:creationId xmlns:a16="http://schemas.microsoft.com/office/drawing/2014/main" id="{D19280B4-1611-4156-BA09-D184C0A6592F}"/>
              </a:ext>
            </a:extLst>
          </p:cNvPr>
          <p:cNvSpPr/>
          <p:nvPr/>
        </p:nvSpPr>
        <p:spPr>
          <a:xfrm>
            <a:off x="5481691" y="1159498"/>
            <a:ext cx="5656081" cy="2081956"/>
          </a:xfrm>
          <a:prstGeom prst="rect">
            <a:avLst/>
          </a:prstGeom>
          <a:blipFill dpi="0" rotWithShape="1">
            <a:blip r:embed="rId2">
              <a:extLst>
                <a:ext uri="{28A0092B-C50C-407E-A947-70E740481C1C}">
                  <a14:useLocalDpi xmlns:a14="http://schemas.microsoft.com/office/drawing/2010/main" val="0"/>
                </a:ext>
              </a:extLst>
            </a:blip>
            <a:srcRect/>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Rectangle 9">
            <a:extLst>
              <a:ext uri="{FF2B5EF4-FFF2-40B4-BE49-F238E27FC236}">
                <a16:creationId xmlns:a16="http://schemas.microsoft.com/office/drawing/2014/main" id="{F38A43AB-2FA6-49A0-BB57-2C0C4C99044B}"/>
              </a:ext>
            </a:extLst>
          </p:cNvPr>
          <p:cNvSpPr/>
          <p:nvPr/>
        </p:nvSpPr>
        <p:spPr>
          <a:xfrm>
            <a:off x="5481692" y="3266394"/>
            <a:ext cx="2719628" cy="1798163"/>
          </a:xfrm>
          <a:prstGeom prst="rect">
            <a:avLst/>
          </a:prstGeom>
          <a:blipFill dpi="0" rotWithShape="1">
            <a:blip r:embed="rId3">
              <a:extLst>
                <a:ext uri="{28A0092B-C50C-407E-A947-70E740481C1C}">
                  <a14:useLocalDpi xmlns:a14="http://schemas.microsoft.com/office/drawing/2010/main" val="0"/>
                </a:ext>
              </a:extLst>
            </a:blip>
            <a:srcRect/>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Rectangle 10">
            <a:extLst>
              <a:ext uri="{FF2B5EF4-FFF2-40B4-BE49-F238E27FC236}">
                <a16:creationId xmlns:a16="http://schemas.microsoft.com/office/drawing/2014/main" id="{A3575426-86F2-48A1-B58C-FE9E58873C4C}"/>
              </a:ext>
            </a:extLst>
          </p:cNvPr>
          <p:cNvSpPr/>
          <p:nvPr/>
        </p:nvSpPr>
        <p:spPr>
          <a:xfrm>
            <a:off x="8215464" y="3284069"/>
            <a:ext cx="2922309" cy="1762812"/>
          </a:xfrm>
          <a:prstGeom prst="rect">
            <a:avLst/>
          </a:prstGeom>
          <a:blipFill dpi="0" rotWithShape="1">
            <a:blip r:embed="rId4">
              <a:extLst>
                <a:ext uri="{28A0092B-C50C-407E-A947-70E740481C1C}">
                  <a14:useLocalDpi xmlns:a14="http://schemas.microsoft.com/office/drawing/2010/main" val="0"/>
                </a:ext>
              </a:extLst>
            </a:blip>
            <a:srcRect/>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Rectangle 11">
            <a:extLst>
              <a:ext uri="{FF2B5EF4-FFF2-40B4-BE49-F238E27FC236}">
                <a16:creationId xmlns:a16="http://schemas.microsoft.com/office/drawing/2014/main" id="{B2932B78-9ADF-4D97-A02D-6734E0C1CEE3}"/>
              </a:ext>
            </a:extLst>
          </p:cNvPr>
          <p:cNvSpPr/>
          <p:nvPr/>
        </p:nvSpPr>
        <p:spPr>
          <a:xfrm>
            <a:off x="5486396" y="5046881"/>
            <a:ext cx="5651376" cy="1803073"/>
          </a:xfrm>
          <a:prstGeom prst="rect">
            <a:avLst/>
          </a:prstGeom>
          <a:blipFill dpi="0" rotWithShape="1">
            <a:blip r:embed="rId5">
              <a:extLst>
                <a:ext uri="{28A0092B-C50C-407E-A947-70E740481C1C}">
                  <a14:useLocalDpi xmlns:a14="http://schemas.microsoft.com/office/drawing/2010/main" val="0"/>
                </a:ext>
              </a:extLst>
            </a:blip>
            <a:srcRect/>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Rectangle 12">
            <a:extLst>
              <a:ext uri="{FF2B5EF4-FFF2-40B4-BE49-F238E27FC236}">
                <a16:creationId xmlns:a16="http://schemas.microsoft.com/office/drawing/2014/main" id="{3F159D04-DE42-455A-B68D-20A987D97DF0}"/>
              </a:ext>
            </a:extLst>
          </p:cNvPr>
          <p:cNvSpPr/>
          <p:nvPr/>
        </p:nvSpPr>
        <p:spPr>
          <a:xfrm>
            <a:off x="11434713" y="1159498"/>
            <a:ext cx="742620" cy="568102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algn="ctr"/>
            <a:r>
              <a:rPr lang="en-IN" sz="3200" b="1" dirty="0"/>
              <a:t>SWEET KARAM COFFEE</a:t>
            </a:r>
          </a:p>
        </p:txBody>
      </p:sp>
      <p:pic>
        <p:nvPicPr>
          <p:cNvPr id="14" name="Picture 13">
            <a:extLst>
              <a:ext uri="{FF2B5EF4-FFF2-40B4-BE49-F238E27FC236}">
                <a16:creationId xmlns:a16="http://schemas.microsoft.com/office/drawing/2014/main" id="{12B1463B-D6F7-4C05-AEB1-CE76FB5D9B5D}"/>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0854082" y="11736"/>
            <a:ext cx="1337918" cy="941168"/>
          </a:xfrm>
          <a:prstGeom prst="rect">
            <a:avLst/>
          </a:prstGeom>
        </p:spPr>
      </p:pic>
      <p:pic>
        <p:nvPicPr>
          <p:cNvPr id="15" name="Content Placeholder 5">
            <a:extLst>
              <a:ext uri="{FF2B5EF4-FFF2-40B4-BE49-F238E27FC236}">
                <a16:creationId xmlns:a16="http://schemas.microsoft.com/office/drawing/2014/main" id="{ED112678-B8C7-4688-9B90-05D04CE04812}"/>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429" y="9427"/>
            <a:ext cx="1131216" cy="948153"/>
          </a:xfrm>
          <a:prstGeom prst="rect">
            <a:avLst/>
          </a:prstGeom>
        </p:spPr>
      </p:pic>
    </p:spTree>
    <p:extLst>
      <p:ext uri="{BB962C8B-B14F-4D97-AF65-F5344CB8AC3E}">
        <p14:creationId xmlns:p14="http://schemas.microsoft.com/office/powerpoint/2010/main" val="89929528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A4E267B7-C0D1-4DEB-AD3C-50EA729B2CA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429" y="-18854"/>
            <a:ext cx="1131216" cy="948153"/>
          </a:xfrm>
          <a:prstGeom prst="rect">
            <a:avLst/>
          </a:prstGeom>
        </p:spPr>
      </p:pic>
      <p:pic>
        <p:nvPicPr>
          <p:cNvPr id="7" name="Picture 6">
            <a:extLst>
              <a:ext uri="{FF2B5EF4-FFF2-40B4-BE49-F238E27FC236}">
                <a16:creationId xmlns:a16="http://schemas.microsoft.com/office/drawing/2014/main" id="{6E8857E3-0EE3-47A5-901D-A8C325E1DD2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854082" y="11735"/>
            <a:ext cx="1337918" cy="941168"/>
          </a:xfrm>
          <a:prstGeom prst="rect">
            <a:avLst/>
          </a:prstGeom>
        </p:spPr>
      </p:pic>
      <p:sp>
        <p:nvSpPr>
          <p:cNvPr id="4" name="Rectangle 3">
            <a:extLst>
              <a:ext uri="{FF2B5EF4-FFF2-40B4-BE49-F238E27FC236}">
                <a16:creationId xmlns:a16="http://schemas.microsoft.com/office/drawing/2014/main" id="{CCEE24E6-85F7-4AA9-A91E-BCD6B78BEDDD}"/>
              </a:ext>
            </a:extLst>
          </p:cNvPr>
          <p:cNvSpPr/>
          <p:nvPr/>
        </p:nvSpPr>
        <p:spPr>
          <a:xfrm>
            <a:off x="2790334" y="2083324"/>
            <a:ext cx="7249212" cy="1498862"/>
          </a:xfrm>
          <a:prstGeom prst="rect">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IN" sz="3200" b="1" dirty="0">
                <a:latin typeface="Algerian" panose="04020705040A02060702" pitchFamily="82" charset="0"/>
              </a:rPr>
              <a:t>KPIs, accountability &amp; team Structure</a:t>
            </a:r>
          </a:p>
        </p:txBody>
      </p:sp>
    </p:spTree>
    <p:extLst>
      <p:ext uri="{BB962C8B-B14F-4D97-AF65-F5344CB8AC3E}">
        <p14:creationId xmlns:p14="http://schemas.microsoft.com/office/powerpoint/2010/main" val="260065716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BCD8B39C-663F-4128-90DB-F0FD75C8CF6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429" y="-18854"/>
            <a:ext cx="953249" cy="948153"/>
          </a:xfrm>
          <a:prstGeom prst="rect">
            <a:avLst/>
          </a:prstGeom>
        </p:spPr>
      </p:pic>
      <p:pic>
        <p:nvPicPr>
          <p:cNvPr id="7" name="Picture 6">
            <a:extLst>
              <a:ext uri="{FF2B5EF4-FFF2-40B4-BE49-F238E27FC236}">
                <a16:creationId xmlns:a16="http://schemas.microsoft.com/office/drawing/2014/main" id="{078BEE8C-70FE-4EB0-8B35-AF65F71028A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854082" y="11735"/>
            <a:ext cx="1127432" cy="941168"/>
          </a:xfrm>
          <a:prstGeom prst="rect">
            <a:avLst/>
          </a:prstGeom>
        </p:spPr>
      </p:pic>
      <p:sp>
        <p:nvSpPr>
          <p:cNvPr id="4" name="Rectangle 3">
            <a:extLst>
              <a:ext uri="{FF2B5EF4-FFF2-40B4-BE49-F238E27FC236}">
                <a16:creationId xmlns:a16="http://schemas.microsoft.com/office/drawing/2014/main" id="{A4B80A4D-F1F8-4087-AED9-E756BE1B6058}"/>
              </a:ext>
            </a:extLst>
          </p:cNvPr>
          <p:cNvSpPr/>
          <p:nvPr/>
        </p:nvSpPr>
        <p:spPr>
          <a:xfrm>
            <a:off x="3346516" y="179109"/>
            <a:ext cx="5139602" cy="523946"/>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IN" sz="3200" b="1" dirty="0"/>
              <a:t>KPIs USED IN JOURNEY</a:t>
            </a:r>
          </a:p>
        </p:txBody>
      </p:sp>
      <p:graphicFrame>
        <p:nvGraphicFramePr>
          <p:cNvPr id="5" name="Table 4">
            <a:extLst>
              <a:ext uri="{FF2B5EF4-FFF2-40B4-BE49-F238E27FC236}">
                <a16:creationId xmlns:a16="http://schemas.microsoft.com/office/drawing/2014/main" id="{C0468473-4EB4-4838-BE41-F8DD5BCB7ABC}"/>
              </a:ext>
            </a:extLst>
          </p:cNvPr>
          <p:cNvGraphicFramePr>
            <a:graphicFrameLocks noGrp="1"/>
          </p:cNvGraphicFramePr>
          <p:nvPr>
            <p:extLst>
              <p:ext uri="{D42A27DB-BD31-4B8C-83A1-F6EECF244321}">
                <p14:modId xmlns:p14="http://schemas.microsoft.com/office/powerpoint/2010/main" val="3984368757"/>
              </p:ext>
            </p:extLst>
          </p:nvPr>
        </p:nvGraphicFramePr>
        <p:xfrm>
          <a:off x="9429" y="1014142"/>
          <a:ext cx="12182572" cy="5818224"/>
        </p:xfrm>
        <a:graphic>
          <a:graphicData uri="http://schemas.openxmlformats.org/drawingml/2006/table">
            <a:tbl>
              <a:tblPr firstRow="1" bandRow="1">
                <a:tableStyleId>{93296810-A885-4BE3-A3E7-6D5BEEA58F35}</a:tableStyleId>
              </a:tblPr>
              <a:tblGrid>
                <a:gridCol w="3654607">
                  <a:extLst>
                    <a:ext uri="{9D8B030D-6E8A-4147-A177-3AD203B41FA5}">
                      <a16:colId xmlns:a16="http://schemas.microsoft.com/office/drawing/2014/main" val="172198166"/>
                    </a:ext>
                  </a:extLst>
                </a:gridCol>
                <a:gridCol w="2797024">
                  <a:extLst>
                    <a:ext uri="{9D8B030D-6E8A-4147-A177-3AD203B41FA5}">
                      <a16:colId xmlns:a16="http://schemas.microsoft.com/office/drawing/2014/main" val="3391352000"/>
                    </a:ext>
                  </a:extLst>
                </a:gridCol>
                <a:gridCol w="5730941">
                  <a:extLst>
                    <a:ext uri="{9D8B030D-6E8A-4147-A177-3AD203B41FA5}">
                      <a16:colId xmlns:a16="http://schemas.microsoft.com/office/drawing/2014/main" val="326744851"/>
                    </a:ext>
                  </a:extLst>
                </a:gridCol>
              </a:tblGrid>
              <a:tr h="687393">
                <a:tc>
                  <a:txBody>
                    <a:bodyPr/>
                    <a:lstStyle/>
                    <a:p>
                      <a:r>
                        <a:rPr lang="en-IN" dirty="0"/>
                        <a:t>Journey Stage</a:t>
                      </a:r>
                    </a:p>
                  </a:txBody>
                  <a:tcPr/>
                </a:tc>
                <a:tc>
                  <a:txBody>
                    <a:bodyPr/>
                    <a:lstStyle/>
                    <a:p>
                      <a:r>
                        <a:rPr lang="en-IN" dirty="0"/>
                        <a:t>Category</a:t>
                      </a:r>
                    </a:p>
                  </a:txBody>
                  <a:tcPr/>
                </a:tc>
                <a:tc>
                  <a:txBody>
                    <a:bodyPr/>
                    <a:lstStyle/>
                    <a:p>
                      <a:r>
                        <a:rPr lang="en-IN" dirty="0"/>
                        <a:t>Key Performance Indicators</a:t>
                      </a:r>
                    </a:p>
                  </a:txBody>
                  <a:tcPr/>
                </a:tc>
                <a:extLst>
                  <a:ext uri="{0D108BD9-81ED-4DB2-BD59-A6C34878D82A}">
                    <a16:rowId xmlns:a16="http://schemas.microsoft.com/office/drawing/2014/main" val="435360274"/>
                  </a:ext>
                </a:extLst>
              </a:tr>
              <a:tr h="756132">
                <a:tc>
                  <a:txBody>
                    <a:bodyPr/>
                    <a:lstStyle/>
                    <a:p>
                      <a:r>
                        <a:rPr lang="en-IN" sz="1400" dirty="0"/>
                        <a:t>Awareness</a:t>
                      </a:r>
                    </a:p>
                  </a:txBody>
                  <a:tcPr/>
                </a:tc>
                <a:tc>
                  <a:txBody>
                    <a:bodyPr/>
                    <a:lstStyle/>
                    <a:p>
                      <a:r>
                        <a:rPr lang="en-IN" sz="1400" dirty="0"/>
                        <a:t>Reach &amp; Visibility </a:t>
                      </a:r>
                    </a:p>
                  </a:txBody>
                  <a:tcPr/>
                </a:tc>
                <a:tc>
                  <a:txBody>
                    <a:bodyPr/>
                    <a:lstStyle/>
                    <a:p>
                      <a:pPr marL="285750" indent="-285750">
                        <a:buFont typeface="Arial" panose="020B0604020202020204" pitchFamily="34" charset="0"/>
                        <a:buChar char="•"/>
                      </a:pPr>
                      <a:r>
                        <a:rPr lang="en-US" sz="1400" dirty="0"/>
                        <a:t>Website Traffic + Ad Reach.</a:t>
                      </a:r>
                    </a:p>
                    <a:p>
                      <a:pPr marL="285750" indent="-285750">
                        <a:buFont typeface="Arial" panose="020B0604020202020204" pitchFamily="34" charset="0"/>
                        <a:buChar char="•"/>
                      </a:pPr>
                      <a:r>
                        <a:rPr lang="en-US" sz="1400" dirty="0"/>
                        <a:t>Social Media Reach/Impressions. </a:t>
                      </a:r>
                    </a:p>
                    <a:p>
                      <a:pPr marL="285750" indent="-285750">
                        <a:buFont typeface="Arial" panose="020B0604020202020204" pitchFamily="34" charset="0"/>
                        <a:buChar char="•"/>
                      </a:pPr>
                      <a:r>
                        <a:rPr lang="en-US" sz="1400" dirty="0"/>
                        <a:t>Brand Search Volume.</a:t>
                      </a:r>
                      <a:endParaRPr lang="en-IN" sz="1400" dirty="0"/>
                    </a:p>
                  </a:txBody>
                  <a:tcPr/>
                </a:tc>
                <a:extLst>
                  <a:ext uri="{0D108BD9-81ED-4DB2-BD59-A6C34878D82A}">
                    <a16:rowId xmlns:a16="http://schemas.microsoft.com/office/drawing/2014/main" val="2299000638"/>
                  </a:ext>
                </a:extLst>
              </a:tr>
              <a:tr h="870698">
                <a:tc>
                  <a:txBody>
                    <a:bodyPr/>
                    <a:lstStyle/>
                    <a:p>
                      <a:r>
                        <a:rPr lang="en-IN" sz="1400" dirty="0"/>
                        <a:t>Interest</a:t>
                      </a:r>
                    </a:p>
                  </a:txBody>
                  <a:tcPr/>
                </a:tc>
                <a:tc>
                  <a:txBody>
                    <a:bodyPr/>
                    <a:lstStyle/>
                    <a:p>
                      <a:r>
                        <a:rPr lang="en-IN" sz="1400" dirty="0"/>
                        <a:t>Engagement &amp; Curiosity</a:t>
                      </a:r>
                    </a:p>
                  </a:txBody>
                  <a:tcPr/>
                </a:tc>
                <a:tc>
                  <a:txBody>
                    <a:bodyPr/>
                    <a:lstStyle/>
                    <a:p>
                      <a:pPr marL="285750" indent="-285750">
                        <a:buFont typeface="Arial" panose="020B0604020202020204" pitchFamily="34" charset="0"/>
                        <a:buChar char="•"/>
                      </a:pPr>
                      <a:r>
                        <a:rPr lang="en-US" sz="1400" dirty="0"/>
                        <a:t>Time on Site + Ad Click-Through Rate (CTR).</a:t>
                      </a:r>
                    </a:p>
                    <a:p>
                      <a:pPr marL="285750" indent="-285750">
                        <a:buFont typeface="Arial" panose="020B0604020202020204" pitchFamily="34" charset="0"/>
                        <a:buChar char="•"/>
                      </a:pPr>
                      <a:r>
                        <a:rPr lang="en-US" sz="1400" dirty="0"/>
                        <a:t>Blog Reads / Recipe Views</a:t>
                      </a:r>
                    </a:p>
                    <a:p>
                      <a:pPr marL="285750" indent="-285750">
                        <a:buFont typeface="Arial" panose="020B0604020202020204" pitchFamily="34" charset="0"/>
                        <a:buChar char="•"/>
                      </a:pPr>
                      <a:r>
                        <a:rPr lang="en-US" sz="1400" dirty="0"/>
                        <a:t>Video Views on </a:t>
                      </a:r>
                      <a:r>
                        <a:rPr lang="en-US" sz="1400" dirty="0" err="1"/>
                        <a:t>Modakam</a:t>
                      </a:r>
                      <a:r>
                        <a:rPr lang="en-US" sz="1400" dirty="0"/>
                        <a:t> Making Content</a:t>
                      </a:r>
                      <a:endParaRPr lang="en-IN" sz="1400" dirty="0"/>
                    </a:p>
                  </a:txBody>
                  <a:tcPr/>
                </a:tc>
                <a:extLst>
                  <a:ext uri="{0D108BD9-81ED-4DB2-BD59-A6C34878D82A}">
                    <a16:rowId xmlns:a16="http://schemas.microsoft.com/office/drawing/2014/main" val="3441586924"/>
                  </a:ext>
                </a:extLst>
              </a:tr>
              <a:tr h="641566">
                <a:tc>
                  <a:txBody>
                    <a:bodyPr/>
                    <a:lstStyle/>
                    <a:p>
                      <a:r>
                        <a:rPr lang="en-IN" sz="1400" dirty="0"/>
                        <a:t>Consideration</a:t>
                      </a:r>
                    </a:p>
                  </a:txBody>
                  <a:tcPr/>
                </a:tc>
                <a:tc>
                  <a:txBody>
                    <a:bodyPr/>
                    <a:lstStyle/>
                    <a:p>
                      <a:r>
                        <a:rPr lang="en-IN" sz="1400" dirty="0"/>
                        <a:t>Intent</a:t>
                      </a:r>
                    </a:p>
                  </a:txBody>
                  <a:tcPr/>
                </a:tc>
                <a:tc>
                  <a:txBody>
                    <a:bodyPr/>
                    <a:lstStyle/>
                    <a:p>
                      <a:pPr marL="285750" indent="-285750">
                        <a:buFont typeface="Arial" panose="020B0604020202020204" pitchFamily="34" charset="0"/>
                        <a:buChar char="•"/>
                      </a:pPr>
                      <a:r>
                        <a:rPr lang="en-US" sz="1400" dirty="0"/>
                        <a:t>Add-to-Cart Rate/ Wishlist Rate </a:t>
                      </a:r>
                    </a:p>
                    <a:p>
                      <a:pPr marL="285750" indent="-285750">
                        <a:buFont typeface="Arial" panose="020B0604020202020204" pitchFamily="34" charset="0"/>
                        <a:buChar char="•"/>
                      </a:pPr>
                      <a:r>
                        <a:rPr lang="en-US" sz="1400" dirty="0"/>
                        <a:t>FAQ + Call-to-Action Clicks (Order Now / Sign Up)</a:t>
                      </a:r>
                      <a:endParaRPr lang="en-IN" sz="1400" dirty="0"/>
                    </a:p>
                  </a:txBody>
                  <a:tcPr/>
                </a:tc>
                <a:extLst>
                  <a:ext uri="{0D108BD9-81ED-4DB2-BD59-A6C34878D82A}">
                    <a16:rowId xmlns:a16="http://schemas.microsoft.com/office/drawing/2014/main" val="2641081643"/>
                  </a:ext>
                </a:extLst>
              </a:tr>
              <a:tr h="641566">
                <a:tc>
                  <a:txBody>
                    <a:bodyPr/>
                    <a:lstStyle/>
                    <a:p>
                      <a:r>
                        <a:rPr lang="en-IN" sz="1400" dirty="0"/>
                        <a:t>Conversion</a:t>
                      </a:r>
                    </a:p>
                  </a:txBody>
                  <a:tcPr/>
                </a:tc>
                <a:tc>
                  <a:txBody>
                    <a:bodyPr/>
                    <a:lstStyle/>
                    <a:p>
                      <a:r>
                        <a:rPr lang="en-IN" sz="1400" dirty="0"/>
                        <a:t>Transactions</a:t>
                      </a:r>
                    </a:p>
                  </a:txBody>
                  <a:tcPr/>
                </a:tc>
                <a:tc>
                  <a:txBody>
                    <a:bodyPr/>
                    <a:lstStyle/>
                    <a:p>
                      <a:pPr marL="285750" indent="-285750">
                        <a:buFont typeface="Arial" panose="020B0604020202020204" pitchFamily="34" charset="0"/>
                        <a:buChar char="•"/>
                      </a:pPr>
                      <a:r>
                        <a:rPr lang="en-US" sz="1400" dirty="0"/>
                        <a:t>Orders Placed (</a:t>
                      </a:r>
                      <a:r>
                        <a:rPr lang="en-US" sz="1400" dirty="0" err="1"/>
                        <a:t>e.g</a:t>
                      </a:r>
                      <a:r>
                        <a:rPr lang="en-US" sz="1400" dirty="0"/>
                        <a:t> Kai murukku, ABC milk mix)</a:t>
                      </a:r>
                    </a:p>
                    <a:p>
                      <a:pPr marL="285750" indent="-285750">
                        <a:buFont typeface="Arial" panose="020B0604020202020204" pitchFamily="34" charset="0"/>
                        <a:buChar char="•"/>
                      </a:pPr>
                      <a:r>
                        <a:rPr lang="en-US" sz="1400" dirty="0"/>
                        <a:t>Cost per Conversion (CPC) </a:t>
                      </a:r>
                    </a:p>
                    <a:p>
                      <a:pPr marL="285750" indent="-285750">
                        <a:buFont typeface="Arial" panose="020B0604020202020204" pitchFamily="34" charset="0"/>
                        <a:buChar char="•"/>
                      </a:pPr>
                      <a:r>
                        <a:rPr lang="en-US" sz="1400" dirty="0"/>
                        <a:t> Conversion Rate (Website / App)</a:t>
                      </a:r>
                      <a:endParaRPr lang="en-IN" sz="1400" dirty="0"/>
                    </a:p>
                  </a:txBody>
                  <a:tcPr/>
                </a:tc>
                <a:extLst>
                  <a:ext uri="{0D108BD9-81ED-4DB2-BD59-A6C34878D82A}">
                    <a16:rowId xmlns:a16="http://schemas.microsoft.com/office/drawing/2014/main" val="2164584357"/>
                  </a:ext>
                </a:extLst>
              </a:tr>
              <a:tr h="790500">
                <a:tc>
                  <a:txBody>
                    <a:bodyPr/>
                    <a:lstStyle/>
                    <a:p>
                      <a:r>
                        <a:rPr lang="en-IN" sz="1400" dirty="0"/>
                        <a:t>Delivery &amp; Fulfilment</a:t>
                      </a:r>
                    </a:p>
                  </a:txBody>
                  <a:tcPr/>
                </a:tc>
                <a:tc>
                  <a:txBody>
                    <a:bodyPr/>
                    <a:lstStyle/>
                    <a:p>
                      <a:r>
                        <a:rPr lang="en-IN" sz="1400" dirty="0"/>
                        <a:t>Experience</a:t>
                      </a:r>
                    </a:p>
                  </a:txBody>
                  <a:tcPr/>
                </a:tc>
                <a:tc>
                  <a:txBody>
                    <a:bodyPr/>
                    <a:lstStyle/>
                    <a:p>
                      <a:pPr marL="285750" indent="-285750">
                        <a:buFont typeface="Arial" panose="020B0604020202020204" pitchFamily="34" charset="0"/>
                        <a:buChar char="•"/>
                      </a:pPr>
                      <a:r>
                        <a:rPr lang="en-US" sz="1400" dirty="0"/>
                        <a:t>Order Fulfilment Rate </a:t>
                      </a:r>
                    </a:p>
                    <a:p>
                      <a:pPr marL="285750" indent="-285750">
                        <a:buFont typeface="Arial" panose="020B0604020202020204" pitchFamily="34" charset="0"/>
                        <a:buChar char="•"/>
                      </a:pPr>
                      <a:r>
                        <a:rPr lang="en-US" sz="1400" dirty="0"/>
                        <a:t> Refund/Return Rate </a:t>
                      </a:r>
                    </a:p>
                    <a:p>
                      <a:pPr marL="285750" indent="-285750">
                        <a:buFont typeface="Arial" panose="020B0604020202020204" pitchFamily="34" charset="0"/>
                        <a:buChar char="•"/>
                      </a:pPr>
                      <a:r>
                        <a:rPr lang="en-US" sz="1400" dirty="0"/>
                        <a:t> Delivery Turnaround Time</a:t>
                      </a:r>
                      <a:endParaRPr lang="en-IN" sz="1400" dirty="0"/>
                    </a:p>
                  </a:txBody>
                  <a:tcPr/>
                </a:tc>
                <a:extLst>
                  <a:ext uri="{0D108BD9-81ED-4DB2-BD59-A6C34878D82A}">
                    <a16:rowId xmlns:a16="http://schemas.microsoft.com/office/drawing/2014/main" val="595794123"/>
                  </a:ext>
                </a:extLst>
              </a:tr>
              <a:tr h="790500">
                <a:tc>
                  <a:txBody>
                    <a:bodyPr/>
                    <a:lstStyle/>
                    <a:p>
                      <a:r>
                        <a:rPr lang="en-IN" sz="1400" dirty="0"/>
                        <a:t>Retention</a:t>
                      </a:r>
                    </a:p>
                  </a:txBody>
                  <a:tcPr/>
                </a:tc>
                <a:tc>
                  <a:txBody>
                    <a:bodyPr/>
                    <a:lstStyle/>
                    <a:p>
                      <a:r>
                        <a:rPr lang="en-IN" sz="1400" dirty="0"/>
                        <a:t>Repeat Use</a:t>
                      </a:r>
                    </a:p>
                  </a:txBody>
                  <a:tcPr/>
                </a:tc>
                <a:tc>
                  <a:txBody>
                    <a:bodyPr/>
                    <a:lstStyle/>
                    <a:p>
                      <a:pPr marL="285750" indent="-285750">
                        <a:buFont typeface="Arial" panose="020B0604020202020204" pitchFamily="34" charset="0"/>
                        <a:buChar char="•"/>
                      </a:pPr>
                      <a:r>
                        <a:rPr lang="en-US" sz="1400" dirty="0"/>
                        <a:t>Repeat Purchase Rate</a:t>
                      </a:r>
                    </a:p>
                    <a:p>
                      <a:pPr marL="285750" indent="-285750">
                        <a:buFont typeface="Arial" panose="020B0604020202020204" pitchFamily="34" charset="0"/>
                        <a:buChar char="•"/>
                      </a:pPr>
                      <a:r>
                        <a:rPr lang="en-US" sz="1400" dirty="0"/>
                        <a:t> Email/WhatsApp Engagement</a:t>
                      </a:r>
                    </a:p>
                    <a:p>
                      <a:pPr marL="285750" indent="-285750">
                        <a:buFont typeface="Arial" panose="020B0604020202020204" pitchFamily="34" charset="0"/>
                        <a:buChar char="•"/>
                      </a:pPr>
                      <a:r>
                        <a:rPr lang="en-US" sz="1400" dirty="0"/>
                        <a:t>Subscription/Reward Program Usage</a:t>
                      </a:r>
                      <a:endParaRPr lang="en-IN" sz="1400" dirty="0"/>
                    </a:p>
                  </a:txBody>
                  <a:tcPr/>
                </a:tc>
                <a:extLst>
                  <a:ext uri="{0D108BD9-81ED-4DB2-BD59-A6C34878D82A}">
                    <a16:rowId xmlns:a16="http://schemas.microsoft.com/office/drawing/2014/main" val="1963740249"/>
                  </a:ext>
                </a:extLst>
              </a:tr>
              <a:tr h="549915">
                <a:tc>
                  <a:txBody>
                    <a:bodyPr/>
                    <a:lstStyle/>
                    <a:p>
                      <a:r>
                        <a:rPr lang="en-IN" sz="1400" dirty="0"/>
                        <a:t>Advocacy</a:t>
                      </a:r>
                    </a:p>
                  </a:txBody>
                  <a:tcPr/>
                </a:tc>
                <a:tc>
                  <a:txBody>
                    <a:bodyPr/>
                    <a:lstStyle/>
                    <a:p>
                      <a:r>
                        <a:rPr lang="en-IN" sz="1400" dirty="0"/>
                        <a:t>Reputation</a:t>
                      </a:r>
                    </a:p>
                  </a:txBody>
                  <a:tcPr/>
                </a:tc>
                <a:tc>
                  <a:txBody>
                    <a:bodyPr/>
                    <a:lstStyle/>
                    <a:p>
                      <a:pPr marL="285750" indent="-285750">
                        <a:buFont typeface="Arial" panose="020B0604020202020204" pitchFamily="34" charset="0"/>
                        <a:buChar char="•"/>
                      </a:pPr>
                      <a:r>
                        <a:rPr lang="en-US" sz="1400" dirty="0"/>
                        <a:t>Customer Reviews &amp; Ratings </a:t>
                      </a:r>
                    </a:p>
                    <a:p>
                      <a:pPr marL="285750" indent="-285750">
                        <a:buFont typeface="Arial" panose="020B0604020202020204" pitchFamily="34" charset="0"/>
                        <a:buChar char="•"/>
                      </a:pPr>
                      <a:r>
                        <a:rPr lang="en-US" sz="1400" dirty="0"/>
                        <a:t>User Referral Participation</a:t>
                      </a:r>
                      <a:endParaRPr lang="en-IN" sz="1400" dirty="0"/>
                    </a:p>
                  </a:txBody>
                  <a:tcPr/>
                </a:tc>
                <a:extLst>
                  <a:ext uri="{0D108BD9-81ED-4DB2-BD59-A6C34878D82A}">
                    <a16:rowId xmlns:a16="http://schemas.microsoft.com/office/drawing/2014/main" val="641900906"/>
                  </a:ext>
                </a:extLst>
              </a:tr>
            </a:tbl>
          </a:graphicData>
        </a:graphic>
      </p:graphicFrame>
    </p:spTree>
    <p:extLst>
      <p:ext uri="{BB962C8B-B14F-4D97-AF65-F5344CB8AC3E}">
        <p14:creationId xmlns:p14="http://schemas.microsoft.com/office/powerpoint/2010/main" val="253540929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ACC9B294-C93F-430A-94E3-D7CB5CABBCD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429" y="-18854"/>
            <a:ext cx="1131216" cy="948153"/>
          </a:xfrm>
          <a:prstGeom prst="rect">
            <a:avLst/>
          </a:prstGeom>
        </p:spPr>
      </p:pic>
      <p:pic>
        <p:nvPicPr>
          <p:cNvPr id="7" name="Picture 6">
            <a:extLst>
              <a:ext uri="{FF2B5EF4-FFF2-40B4-BE49-F238E27FC236}">
                <a16:creationId xmlns:a16="http://schemas.microsoft.com/office/drawing/2014/main" id="{C7D734DF-B344-4E9D-8F48-51C87E75752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854082" y="11735"/>
            <a:ext cx="1337918" cy="941168"/>
          </a:xfrm>
          <a:prstGeom prst="rect">
            <a:avLst/>
          </a:prstGeom>
        </p:spPr>
      </p:pic>
      <p:graphicFrame>
        <p:nvGraphicFramePr>
          <p:cNvPr id="9" name="Table 8">
            <a:extLst>
              <a:ext uri="{FF2B5EF4-FFF2-40B4-BE49-F238E27FC236}">
                <a16:creationId xmlns:a16="http://schemas.microsoft.com/office/drawing/2014/main" id="{4CA41BE8-CB9E-4876-8DC5-7D9B660C2001}"/>
              </a:ext>
            </a:extLst>
          </p:cNvPr>
          <p:cNvGraphicFramePr>
            <a:graphicFrameLocks noGrp="1"/>
          </p:cNvGraphicFramePr>
          <p:nvPr>
            <p:extLst>
              <p:ext uri="{D42A27DB-BD31-4B8C-83A1-F6EECF244321}">
                <p14:modId xmlns:p14="http://schemas.microsoft.com/office/powerpoint/2010/main" val="1632869280"/>
              </p:ext>
            </p:extLst>
          </p:nvPr>
        </p:nvGraphicFramePr>
        <p:xfrm>
          <a:off x="1216058" y="1049609"/>
          <a:ext cx="9982985" cy="5578063"/>
        </p:xfrm>
        <a:graphic>
          <a:graphicData uri="http://schemas.openxmlformats.org/drawingml/2006/table">
            <a:tbl>
              <a:tblPr firstRow="1" bandRow="1">
                <a:tableStyleId>{BDBED569-4797-4DF1-A0F4-6AAB3CD982D8}</a:tableStyleId>
              </a:tblPr>
              <a:tblGrid>
                <a:gridCol w="9982985">
                  <a:extLst>
                    <a:ext uri="{9D8B030D-6E8A-4147-A177-3AD203B41FA5}">
                      <a16:colId xmlns:a16="http://schemas.microsoft.com/office/drawing/2014/main" val="1916689"/>
                    </a:ext>
                  </a:extLst>
                </a:gridCol>
              </a:tblGrid>
              <a:tr h="370840">
                <a:tc>
                  <a:txBody>
                    <a:bodyPr/>
                    <a:lstStyle/>
                    <a:p>
                      <a:r>
                        <a:rPr lang="en-IN" dirty="0"/>
                        <a:t>Organic Traffic</a:t>
                      </a:r>
                    </a:p>
                  </a:txBody>
                  <a:tcPr/>
                </a:tc>
                <a:extLst>
                  <a:ext uri="{0D108BD9-81ED-4DB2-BD59-A6C34878D82A}">
                    <a16:rowId xmlns:a16="http://schemas.microsoft.com/office/drawing/2014/main" val="2984326795"/>
                  </a:ext>
                </a:extLst>
              </a:tr>
              <a:tr h="370840">
                <a:tc>
                  <a:txBody>
                    <a:bodyPr/>
                    <a:lstStyle/>
                    <a:p>
                      <a:r>
                        <a:rPr lang="en-IN" dirty="0"/>
                        <a:t>Conversion Rate</a:t>
                      </a:r>
                    </a:p>
                  </a:txBody>
                  <a:tcPr/>
                </a:tc>
                <a:extLst>
                  <a:ext uri="{0D108BD9-81ED-4DB2-BD59-A6C34878D82A}">
                    <a16:rowId xmlns:a16="http://schemas.microsoft.com/office/drawing/2014/main" val="1053821870"/>
                  </a:ext>
                </a:extLst>
              </a:tr>
              <a:tr h="386303">
                <a:tc>
                  <a:txBody>
                    <a:bodyPr/>
                    <a:lstStyle/>
                    <a:p>
                      <a:r>
                        <a:rPr lang="en-IN" dirty="0"/>
                        <a:t>Crawlability</a:t>
                      </a:r>
                    </a:p>
                  </a:txBody>
                  <a:tcPr/>
                </a:tc>
                <a:extLst>
                  <a:ext uri="{0D108BD9-81ED-4DB2-BD59-A6C34878D82A}">
                    <a16:rowId xmlns:a16="http://schemas.microsoft.com/office/drawing/2014/main" val="3013399936"/>
                  </a:ext>
                </a:extLst>
              </a:tr>
              <a:tr h="370840">
                <a:tc>
                  <a:txBody>
                    <a:bodyPr/>
                    <a:lstStyle/>
                    <a:p>
                      <a:r>
                        <a:rPr lang="en-IN" dirty="0"/>
                        <a:t>Keyword Rankings</a:t>
                      </a:r>
                    </a:p>
                  </a:txBody>
                  <a:tcPr/>
                </a:tc>
                <a:extLst>
                  <a:ext uri="{0D108BD9-81ED-4DB2-BD59-A6C34878D82A}">
                    <a16:rowId xmlns:a16="http://schemas.microsoft.com/office/drawing/2014/main" val="4228517705"/>
                  </a:ext>
                </a:extLst>
              </a:tr>
              <a:tr h="370840">
                <a:tc>
                  <a:txBody>
                    <a:bodyPr/>
                    <a:lstStyle/>
                    <a:p>
                      <a:r>
                        <a:rPr lang="en-IN" dirty="0"/>
                        <a:t>Quality of Inbound Links</a:t>
                      </a:r>
                    </a:p>
                  </a:txBody>
                  <a:tcPr/>
                </a:tc>
                <a:extLst>
                  <a:ext uri="{0D108BD9-81ED-4DB2-BD59-A6C34878D82A}">
                    <a16:rowId xmlns:a16="http://schemas.microsoft.com/office/drawing/2014/main" val="1263406480"/>
                  </a:ext>
                </a:extLst>
              </a:tr>
              <a:tr h="370840">
                <a:tc>
                  <a:txBody>
                    <a:bodyPr/>
                    <a:lstStyle/>
                    <a:p>
                      <a:r>
                        <a:rPr lang="en-IN" dirty="0"/>
                        <a:t>Local SEO Metrics</a:t>
                      </a:r>
                    </a:p>
                  </a:txBody>
                  <a:tcPr/>
                </a:tc>
                <a:extLst>
                  <a:ext uri="{0D108BD9-81ED-4DB2-BD59-A6C34878D82A}">
                    <a16:rowId xmlns:a16="http://schemas.microsoft.com/office/drawing/2014/main" val="341028023"/>
                  </a:ext>
                </a:extLst>
              </a:tr>
              <a:tr h="370840">
                <a:tc>
                  <a:txBody>
                    <a:bodyPr/>
                    <a:lstStyle/>
                    <a:p>
                      <a:r>
                        <a:rPr lang="en-IN" dirty="0"/>
                        <a:t>Click-Through rate (CTR)</a:t>
                      </a:r>
                    </a:p>
                  </a:txBody>
                  <a:tcPr/>
                </a:tc>
                <a:extLst>
                  <a:ext uri="{0D108BD9-81ED-4DB2-BD59-A6C34878D82A}">
                    <a16:rowId xmlns:a16="http://schemas.microsoft.com/office/drawing/2014/main" val="4276560864"/>
                  </a:ext>
                </a:extLst>
              </a:tr>
              <a:tr h="370840">
                <a:tc>
                  <a:txBody>
                    <a:bodyPr/>
                    <a:lstStyle/>
                    <a:p>
                      <a:r>
                        <a:rPr lang="en-IN" dirty="0"/>
                        <a:t>UX Performance</a:t>
                      </a:r>
                    </a:p>
                  </a:txBody>
                  <a:tcPr/>
                </a:tc>
                <a:extLst>
                  <a:ext uri="{0D108BD9-81ED-4DB2-BD59-A6C34878D82A}">
                    <a16:rowId xmlns:a16="http://schemas.microsoft.com/office/drawing/2014/main" val="2747142105"/>
                  </a:ext>
                </a:extLst>
              </a:tr>
              <a:tr h="370840">
                <a:tc>
                  <a:txBody>
                    <a:bodyPr/>
                    <a:lstStyle/>
                    <a:p>
                      <a:r>
                        <a:rPr lang="en-IN" dirty="0"/>
                        <a:t>Site Ranking</a:t>
                      </a:r>
                    </a:p>
                  </a:txBody>
                  <a:tcPr/>
                </a:tc>
                <a:extLst>
                  <a:ext uri="{0D108BD9-81ED-4DB2-BD59-A6C34878D82A}">
                    <a16:rowId xmlns:a16="http://schemas.microsoft.com/office/drawing/2014/main" val="935331198"/>
                  </a:ext>
                </a:extLst>
              </a:tr>
              <a:tr h="370840">
                <a:tc>
                  <a:txBody>
                    <a:bodyPr/>
                    <a:lstStyle/>
                    <a:p>
                      <a:r>
                        <a:rPr lang="en-IN" dirty="0"/>
                        <a:t>Bounce Rate</a:t>
                      </a:r>
                    </a:p>
                  </a:txBody>
                  <a:tcPr/>
                </a:tc>
                <a:extLst>
                  <a:ext uri="{0D108BD9-81ED-4DB2-BD59-A6C34878D82A}">
                    <a16:rowId xmlns:a16="http://schemas.microsoft.com/office/drawing/2014/main" val="1582664540"/>
                  </a:ext>
                </a:extLst>
              </a:tr>
              <a:tr h="370840">
                <a:tc>
                  <a:txBody>
                    <a:bodyPr/>
                    <a:lstStyle/>
                    <a:p>
                      <a:r>
                        <a:rPr lang="en-IN" dirty="0"/>
                        <a:t>Page Speed</a:t>
                      </a:r>
                    </a:p>
                  </a:txBody>
                  <a:tcPr/>
                </a:tc>
                <a:extLst>
                  <a:ext uri="{0D108BD9-81ED-4DB2-BD59-A6C34878D82A}">
                    <a16:rowId xmlns:a16="http://schemas.microsoft.com/office/drawing/2014/main" val="2643187282"/>
                  </a:ext>
                </a:extLst>
              </a:tr>
              <a:tr h="370840">
                <a:tc>
                  <a:txBody>
                    <a:bodyPr/>
                    <a:lstStyle/>
                    <a:p>
                      <a:r>
                        <a:rPr lang="en-IN" dirty="0"/>
                        <a:t>Domain Authority</a:t>
                      </a:r>
                    </a:p>
                  </a:txBody>
                  <a:tcPr/>
                </a:tc>
                <a:extLst>
                  <a:ext uri="{0D108BD9-81ED-4DB2-BD59-A6C34878D82A}">
                    <a16:rowId xmlns:a16="http://schemas.microsoft.com/office/drawing/2014/main" val="54670431"/>
                  </a:ext>
                </a:extLst>
              </a:tr>
              <a:tr h="370840">
                <a:tc>
                  <a:txBody>
                    <a:bodyPr/>
                    <a:lstStyle/>
                    <a:p>
                      <a:r>
                        <a:rPr lang="en-IN" dirty="0"/>
                        <a:t>Session Duration &amp; Pages / Session</a:t>
                      </a:r>
                    </a:p>
                  </a:txBody>
                  <a:tcPr/>
                </a:tc>
                <a:extLst>
                  <a:ext uri="{0D108BD9-81ED-4DB2-BD59-A6C34878D82A}">
                    <a16:rowId xmlns:a16="http://schemas.microsoft.com/office/drawing/2014/main" val="419455107"/>
                  </a:ext>
                </a:extLst>
              </a:tr>
              <a:tr h="370840">
                <a:tc>
                  <a:txBody>
                    <a:bodyPr/>
                    <a:lstStyle/>
                    <a:p>
                      <a:r>
                        <a:rPr lang="en-IN" dirty="0"/>
                        <a:t>Indexed pages</a:t>
                      </a:r>
                    </a:p>
                  </a:txBody>
                  <a:tcPr/>
                </a:tc>
                <a:extLst>
                  <a:ext uri="{0D108BD9-81ED-4DB2-BD59-A6C34878D82A}">
                    <a16:rowId xmlns:a16="http://schemas.microsoft.com/office/drawing/2014/main" val="2157054066"/>
                  </a:ext>
                </a:extLst>
              </a:tr>
              <a:tr h="370840">
                <a:tc>
                  <a:txBody>
                    <a:bodyPr/>
                    <a:lstStyle/>
                    <a:p>
                      <a:r>
                        <a:rPr lang="en-IN" dirty="0"/>
                        <a:t>Content Performance</a:t>
                      </a:r>
                    </a:p>
                  </a:txBody>
                  <a:tcPr/>
                </a:tc>
                <a:extLst>
                  <a:ext uri="{0D108BD9-81ED-4DB2-BD59-A6C34878D82A}">
                    <a16:rowId xmlns:a16="http://schemas.microsoft.com/office/drawing/2014/main" val="544725332"/>
                  </a:ext>
                </a:extLst>
              </a:tr>
            </a:tbl>
          </a:graphicData>
        </a:graphic>
      </p:graphicFrame>
      <p:sp>
        <p:nvSpPr>
          <p:cNvPr id="10" name="Rectangle 9">
            <a:extLst>
              <a:ext uri="{FF2B5EF4-FFF2-40B4-BE49-F238E27FC236}">
                <a16:creationId xmlns:a16="http://schemas.microsoft.com/office/drawing/2014/main" id="{A72A8857-FE62-4D32-B445-0AD002001F7E}"/>
              </a:ext>
            </a:extLst>
          </p:cNvPr>
          <p:cNvSpPr/>
          <p:nvPr/>
        </p:nvSpPr>
        <p:spPr>
          <a:xfrm>
            <a:off x="3026005" y="37710"/>
            <a:ext cx="6023728" cy="5710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800" b="1" dirty="0">
                <a:latin typeface="Times New Roman" panose="02020603050405020304" pitchFamily="18" charset="0"/>
                <a:cs typeface="Times New Roman" panose="02020603050405020304" pitchFamily="18" charset="0"/>
              </a:rPr>
              <a:t>SEO KPIs to TRACK</a:t>
            </a:r>
          </a:p>
        </p:txBody>
      </p:sp>
      <p:sp>
        <p:nvSpPr>
          <p:cNvPr id="11" name="Rectangle 10">
            <a:extLst>
              <a:ext uri="{FF2B5EF4-FFF2-40B4-BE49-F238E27FC236}">
                <a16:creationId xmlns:a16="http://schemas.microsoft.com/office/drawing/2014/main" id="{8B290702-2F37-479B-9642-2CB452311CD8}"/>
              </a:ext>
            </a:extLst>
          </p:cNvPr>
          <p:cNvSpPr/>
          <p:nvPr/>
        </p:nvSpPr>
        <p:spPr>
          <a:xfrm>
            <a:off x="0" y="952903"/>
            <a:ext cx="584462" cy="590981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IN" sz="2800" b="1" dirty="0">
                <a:latin typeface="Calibri" panose="020F0502020204030204" pitchFamily="34" charset="0"/>
                <a:ea typeface="Calibri" panose="020F0502020204030204" pitchFamily="34" charset="0"/>
                <a:cs typeface="Calibri" panose="020F0502020204030204" pitchFamily="34" charset="0"/>
              </a:rPr>
              <a:t>SWEET KARAM COFFEE</a:t>
            </a:r>
          </a:p>
        </p:txBody>
      </p:sp>
    </p:spTree>
    <p:extLst>
      <p:ext uri="{BB962C8B-B14F-4D97-AF65-F5344CB8AC3E}">
        <p14:creationId xmlns:p14="http://schemas.microsoft.com/office/powerpoint/2010/main" val="163508503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8811A019-0A9A-4072-B099-C54CF1D8B2A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429" y="-18854"/>
            <a:ext cx="1131216" cy="948153"/>
          </a:xfrm>
          <a:prstGeom prst="rect">
            <a:avLst/>
          </a:prstGeom>
        </p:spPr>
      </p:pic>
      <p:pic>
        <p:nvPicPr>
          <p:cNvPr id="7" name="Picture 6">
            <a:extLst>
              <a:ext uri="{FF2B5EF4-FFF2-40B4-BE49-F238E27FC236}">
                <a16:creationId xmlns:a16="http://schemas.microsoft.com/office/drawing/2014/main" id="{60406E84-354D-49E8-8091-A2387C7930D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854082" y="11735"/>
            <a:ext cx="1337918" cy="941168"/>
          </a:xfrm>
          <a:prstGeom prst="rect">
            <a:avLst/>
          </a:prstGeom>
        </p:spPr>
      </p:pic>
      <p:sp>
        <p:nvSpPr>
          <p:cNvPr id="14" name="Rectangle 13">
            <a:extLst>
              <a:ext uri="{FF2B5EF4-FFF2-40B4-BE49-F238E27FC236}">
                <a16:creationId xmlns:a16="http://schemas.microsoft.com/office/drawing/2014/main" id="{E5E9A995-0983-4960-BEB6-A23D81B9E59F}"/>
              </a:ext>
            </a:extLst>
          </p:cNvPr>
          <p:cNvSpPr/>
          <p:nvPr/>
        </p:nvSpPr>
        <p:spPr>
          <a:xfrm>
            <a:off x="3695307" y="179109"/>
            <a:ext cx="5901180" cy="58446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latin typeface="Calibri" panose="020F0502020204030204" pitchFamily="34" charset="0"/>
                <a:ea typeface="Calibri" panose="020F0502020204030204" pitchFamily="34" charset="0"/>
                <a:cs typeface="Calibri" panose="020F0502020204030204" pitchFamily="34" charset="0"/>
              </a:rPr>
              <a:t>ORGANISATION TEAM STRUCTURE</a:t>
            </a:r>
          </a:p>
        </p:txBody>
      </p:sp>
      <p:graphicFrame>
        <p:nvGraphicFramePr>
          <p:cNvPr id="15" name="Diagram 14">
            <a:extLst>
              <a:ext uri="{FF2B5EF4-FFF2-40B4-BE49-F238E27FC236}">
                <a16:creationId xmlns:a16="http://schemas.microsoft.com/office/drawing/2014/main" id="{3F61CDC2-F79E-4400-AEBE-A158BF2562D5}"/>
              </a:ext>
            </a:extLst>
          </p:cNvPr>
          <p:cNvGraphicFramePr/>
          <p:nvPr>
            <p:extLst>
              <p:ext uri="{D42A27DB-BD31-4B8C-83A1-F6EECF244321}">
                <p14:modId xmlns:p14="http://schemas.microsoft.com/office/powerpoint/2010/main" val="1632912382"/>
              </p:ext>
            </p:extLst>
          </p:nvPr>
        </p:nvGraphicFramePr>
        <p:xfrm>
          <a:off x="2032000" y="1143872"/>
          <a:ext cx="8128000" cy="5418667"/>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16" name="Rectangle: Rounded Corners 15">
            <a:extLst>
              <a:ext uri="{FF2B5EF4-FFF2-40B4-BE49-F238E27FC236}">
                <a16:creationId xmlns:a16="http://schemas.microsoft.com/office/drawing/2014/main" id="{2B703F1F-F4F3-4CD0-9CA7-4A2F927FED3A}"/>
              </a:ext>
            </a:extLst>
          </p:cNvPr>
          <p:cNvSpPr/>
          <p:nvPr/>
        </p:nvSpPr>
        <p:spPr>
          <a:xfrm>
            <a:off x="2139885" y="1404594"/>
            <a:ext cx="2055043" cy="1743959"/>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IN" dirty="0"/>
              <a:t>Approx. 8 to 10 people are working on the project. </a:t>
            </a:r>
          </a:p>
        </p:txBody>
      </p:sp>
      <p:sp>
        <p:nvSpPr>
          <p:cNvPr id="17" name="Rectangle 16">
            <a:extLst>
              <a:ext uri="{FF2B5EF4-FFF2-40B4-BE49-F238E27FC236}">
                <a16:creationId xmlns:a16="http://schemas.microsoft.com/office/drawing/2014/main" id="{4F079BF6-0250-4CD6-9412-8B31ABB66350}"/>
              </a:ext>
            </a:extLst>
          </p:cNvPr>
          <p:cNvSpPr/>
          <p:nvPr/>
        </p:nvSpPr>
        <p:spPr>
          <a:xfrm>
            <a:off x="9424" y="952903"/>
            <a:ext cx="622169" cy="5905097"/>
          </a:xfrm>
          <a:prstGeom prst="rect">
            <a:avLst/>
          </a:prstGeom>
        </p:spPr>
        <p:style>
          <a:lnRef idx="0">
            <a:schemeClr val="accent2"/>
          </a:lnRef>
          <a:fillRef idx="3">
            <a:schemeClr val="accent2"/>
          </a:fillRef>
          <a:effectRef idx="3">
            <a:schemeClr val="accent2"/>
          </a:effectRef>
          <a:fontRef idx="minor">
            <a:schemeClr val="lt1"/>
          </a:fontRef>
        </p:style>
        <p:txBody>
          <a:bodyPr vert="vert270" rtlCol="0" anchor="ctr"/>
          <a:lstStyle/>
          <a:p>
            <a:pPr algn="ctr"/>
            <a:r>
              <a:rPr lang="en-IN" sz="2800" b="1" dirty="0"/>
              <a:t>SWEET KARAM COFFEE</a:t>
            </a:r>
          </a:p>
        </p:txBody>
      </p:sp>
    </p:spTree>
    <p:extLst>
      <p:ext uri="{BB962C8B-B14F-4D97-AF65-F5344CB8AC3E}">
        <p14:creationId xmlns:p14="http://schemas.microsoft.com/office/powerpoint/2010/main" val="238422340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D2174713-238E-4BDE-A52F-64F6A0B7451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429" y="-18854"/>
            <a:ext cx="1131216" cy="948153"/>
          </a:xfrm>
          <a:prstGeom prst="rect">
            <a:avLst/>
          </a:prstGeom>
        </p:spPr>
      </p:pic>
      <p:pic>
        <p:nvPicPr>
          <p:cNvPr id="7" name="Picture 6">
            <a:extLst>
              <a:ext uri="{FF2B5EF4-FFF2-40B4-BE49-F238E27FC236}">
                <a16:creationId xmlns:a16="http://schemas.microsoft.com/office/drawing/2014/main" id="{64D68D19-AAF5-4E21-AF0A-C71F5C5C1D2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854082" y="11735"/>
            <a:ext cx="1337918" cy="941168"/>
          </a:xfrm>
          <a:prstGeom prst="rect">
            <a:avLst/>
          </a:prstGeom>
        </p:spPr>
      </p:pic>
      <p:sp>
        <p:nvSpPr>
          <p:cNvPr id="4" name="Rectangle 3">
            <a:extLst>
              <a:ext uri="{FF2B5EF4-FFF2-40B4-BE49-F238E27FC236}">
                <a16:creationId xmlns:a16="http://schemas.microsoft.com/office/drawing/2014/main" id="{1C6A3DFA-FE54-4C9A-A3FD-6CB6EAFA3952}"/>
              </a:ext>
            </a:extLst>
          </p:cNvPr>
          <p:cNvSpPr/>
          <p:nvPr/>
        </p:nvSpPr>
        <p:spPr>
          <a:xfrm>
            <a:off x="3337089" y="282804"/>
            <a:ext cx="5703216" cy="5373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ORGANISATION TEAM STRUCTURE</a:t>
            </a:r>
          </a:p>
        </p:txBody>
      </p:sp>
      <p:pic>
        <p:nvPicPr>
          <p:cNvPr id="8" name="Graphic 7" descr="Users">
            <a:extLst>
              <a:ext uri="{FF2B5EF4-FFF2-40B4-BE49-F238E27FC236}">
                <a16:creationId xmlns:a16="http://schemas.microsoft.com/office/drawing/2014/main" id="{01F4946B-D422-4411-A5E1-4BD3DD5C5AA5}"/>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743959" y="2971799"/>
            <a:ext cx="1076228" cy="1006311"/>
          </a:xfrm>
          <a:prstGeom prst="rect">
            <a:avLst/>
          </a:prstGeom>
        </p:spPr>
      </p:pic>
      <p:pic>
        <p:nvPicPr>
          <p:cNvPr id="9" name="Graphic 8" descr="Users">
            <a:extLst>
              <a:ext uri="{FF2B5EF4-FFF2-40B4-BE49-F238E27FC236}">
                <a16:creationId xmlns:a16="http://schemas.microsoft.com/office/drawing/2014/main" id="{8A746027-121A-4CAA-8387-8644BA7D87F7}"/>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498156" y="1229412"/>
            <a:ext cx="1076228" cy="1006311"/>
          </a:xfrm>
          <a:prstGeom prst="rect">
            <a:avLst/>
          </a:prstGeom>
        </p:spPr>
      </p:pic>
      <p:pic>
        <p:nvPicPr>
          <p:cNvPr id="10" name="Graphic 9" descr="Users">
            <a:extLst>
              <a:ext uri="{FF2B5EF4-FFF2-40B4-BE49-F238E27FC236}">
                <a16:creationId xmlns:a16="http://schemas.microsoft.com/office/drawing/2014/main" id="{F9A01CA5-D986-4447-8626-1DBB26B96C5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688263" y="3854584"/>
            <a:ext cx="1076228" cy="1006311"/>
          </a:xfrm>
          <a:prstGeom prst="rect">
            <a:avLst/>
          </a:prstGeom>
        </p:spPr>
      </p:pic>
      <p:cxnSp>
        <p:nvCxnSpPr>
          <p:cNvPr id="18" name="Connector: Elbow 17">
            <a:extLst>
              <a:ext uri="{FF2B5EF4-FFF2-40B4-BE49-F238E27FC236}">
                <a16:creationId xmlns:a16="http://schemas.microsoft.com/office/drawing/2014/main" id="{ADD1020E-8FD5-4E63-9235-7D7BC6EAAE3B}"/>
              </a:ext>
            </a:extLst>
          </p:cNvPr>
          <p:cNvCxnSpPr>
            <a:cxnSpLocks/>
            <a:stCxn id="8" idx="3"/>
          </p:cNvCxnSpPr>
          <p:nvPr/>
        </p:nvCxnSpPr>
        <p:spPr>
          <a:xfrm>
            <a:off x="2820187" y="3474955"/>
            <a:ext cx="2006337" cy="710546"/>
          </a:xfrm>
          <a:prstGeom prst="bentConnector3">
            <a:avLst>
              <a:gd name="adj1" fmla="val 50001"/>
            </a:avLst>
          </a:prstGeom>
          <a:ln>
            <a:tailEnd type="triangle"/>
          </a:ln>
        </p:spPr>
        <p:style>
          <a:lnRef idx="2">
            <a:schemeClr val="dk1"/>
          </a:lnRef>
          <a:fillRef idx="0">
            <a:schemeClr val="dk1"/>
          </a:fillRef>
          <a:effectRef idx="1">
            <a:schemeClr val="dk1"/>
          </a:effectRef>
          <a:fontRef idx="minor">
            <a:schemeClr val="tx1"/>
          </a:fontRef>
        </p:style>
      </p:cxnSp>
      <p:cxnSp>
        <p:nvCxnSpPr>
          <p:cNvPr id="21" name="Connector: Elbow 20">
            <a:extLst>
              <a:ext uri="{FF2B5EF4-FFF2-40B4-BE49-F238E27FC236}">
                <a16:creationId xmlns:a16="http://schemas.microsoft.com/office/drawing/2014/main" id="{FAC2C685-9409-40CA-AF40-9512BF5A7642}"/>
              </a:ext>
            </a:extLst>
          </p:cNvPr>
          <p:cNvCxnSpPr>
            <a:cxnSpLocks/>
          </p:cNvCxnSpPr>
          <p:nvPr/>
        </p:nvCxnSpPr>
        <p:spPr>
          <a:xfrm rot="5400000" flipH="1" flipV="1">
            <a:off x="3415256" y="2397158"/>
            <a:ext cx="1611981" cy="795782"/>
          </a:xfrm>
          <a:prstGeom prst="bentConnector3">
            <a:avLst/>
          </a:prstGeom>
          <a:ln>
            <a:tailEnd type="triangle"/>
          </a:ln>
        </p:spPr>
        <p:style>
          <a:lnRef idx="2">
            <a:schemeClr val="dk1"/>
          </a:lnRef>
          <a:fillRef idx="0">
            <a:schemeClr val="dk1"/>
          </a:fillRef>
          <a:effectRef idx="1">
            <a:schemeClr val="dk1"/>
          </a:effectRef>
          <a:fontRef idx="minor">
            <a:schemeClr val="tx1"/>
          </a:fontRef>
        </p:style>
      </p:cxnSp>
      <p:sp>
        <p:nvSpPr>
          <p:cNvPr id="25" name="TextBox 24">
            <a:extLst>
              <a:ext uri="{FF2B5EF4-FFF2-40B4-BE49-F238E27FC236}">
                <a16:creationId xmlns:a16="http://schemas.microsoft.com/office/drawing/2014/main" id="{22A90A2F-77DD-4B50-AB0C-B7753B682F00}"/>
              </a:ext>
            </a:extLst>
          </p:cNvPr>
          <p:cNvSpPr txBox="1"/>
          <p:nvPr/>
        </p:nvSpPr>
        <p:spPr>
          <a:xfrm>
            <a:off x="630815" y="3967216"/>
            <a:ext cx="3054285" cy="923330"/>
          </a:xfrm>
          <a:prstGeom prst="rect">
            <a:avLst/>
          </a:prstGeom>
          <a:noFill/>
        </p:spPr>
        <p:txBody>
          <a:bodyPr wrap="square" rtlCol="0">
            <a:spAutoFit/>
          </a:bodyPr>
          <a:lstStyle/>
          <a:p>
            <a:r>
              <a:rPr lang="en-US" b="1" dirty="0"/>
              <a:t>Digital Marketing Head + All department Heads (e.g. PPC, SEO, SMM, Design, etc.)</a:t>
            </a:r>
            <a:endParaRPr lang="en-IN" b="1" dirty="0"/>
          </a:p>
        </p:txBody>
      </p:sp>
      <p:sp>
        <p:nvSpPr>
          <p:cNvPr id="26" name="TextBox 25">
            <a:extLst>
              <a:ext uri="{FF2B5EF4-FFF2-40B4-BE49-F238E27FC236}">
                <a16:creationId xmlns:a16="http://schemas.microsoft.com/office/drawing/2014/main" id="{9F981D2C-27D2-4565-A0A6-43C1ADD45443}"/>
              </a:ext>
            </a:extLst>
          </p:cNvPr>
          <p:cNvSpPr txBox="1"/>
          <p:nvPr/>
        </p:nvSpPr>
        <p:spPr>
          <a:xfrm>
            <a:off x="4600286" y="4748284"/>
            <a:ext cx="1904210" cy="369332"/>
          </a:xfrm>
          <a:prstGeom prst="rect">
            <a:avLst/>
          </a:prstGeom>
          <a:noFill/>
        </p:spPr>
        <p:txBody>
          <a:bodyPr wrap="square" rtlCol="0">
            <a:spAutoFit/>
          </a:bodyPr>
          <a:lstStyle/>
          <a:p>
            <a:r>
              <a:rPr lang="en-IN" b="1" dirty="0"/>
              <a:t>Project Managers</a:t>
            </a:r>
          </a:p>
        </p:txBody>
      </p:sp>
      <p:sp>
        <p:nvSpPr>
          <p:cNvPr id="27" name="TextBox 26">
            <a:extLst>
              <a:ext uri="{FF2B5EF4-FFF2-40B4-BE49-F238E27FC236}">
                <a16:creationId xmlns:a16="http://schemas.microsoft.com/office/drawing/2014/main" id="{8843FA6A-3576-4742-AB3E-D33774B1D2ED}"/>
              </a:ext>
            </a:extLst>
          </p:cNvPr>
          <p:cNvSpPr txBox="1"/>
          <p:nvPr/>
        </p:nvSpPr>
        <p:spPr>
          <a:xfrm>
            <a:off x="4783320" y="2051057"/>
            <a:ext cx="1677972" cy="369332"/>
          </a:xfrm>
          <a:prstGeom prst="rect">
            <a:avLst/>
          </a:prstGeom>
          <a:noFill/>
        </p:spPr>
        <p:txBody>
          <a:bodyPr wrap="square" rtlCol="0">
            <a:spAutoFit/>
          </a:bodyPr>
          <a:lstStyle/>
          <a:p>
            <a:r>
              <a:rPr lang="en-IN" b="1" dirty="0"/>
              <a:t>Strategist</a:t>
            </a:r>
          </a:p>
        </p:txBody>
      </p:sp>
      <p:sp>
        <p:nvSpPr>
          <p:cNvPr id="28" name="Rectangle 27">
            <a:extLst>
              <a:ext uri="{FF2B5EF4-FFF2-40B4-BE49-F238E27FC236}">
                <a16:creationId xmlns:a16="http://schemas.microsoft.com/office/drawing/2014/main" id="{F9F1468E-B0C4-4CB9-9545-C3567931C78B}"/>
              </a:ext>
            </a:extLst>
          </p:cNvPr>
          <p:cNvSpPr/>
          <p:nvPr/>
        </p:nvSpPr>
        <p:spPr>
          <a:xfrm>
            <a:off x="9775598" y="1376313"/>
            <a:ext cx="1182181" cy="527901"/>
          </a:xfrm>
          <a:prstGeom prst="rect">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SEO</a:t>
            </a:r>
          </a:p>
        </p:txBody>
      </p:sp>
      <p:sp>
        <p:nvSpPr>
          <p:cNvPr id="29" name="Rectangle 28">
            <a:extLst>
              <a:ext uri="{FF2B5EF4-FFF2-40B4-BE49-F238E27FC236}">
                <a16:creationId xmlns:a16="http://schemas.microsoft.com/office/drawing/2014/main" id="{60F6A4A6-E995-4EA5-9781-3F22F5D31D49}"/>
              </a:ext>
            </a:extLst>
          </p:cNvPr>
          <p:cNvSpPr/>
          <p:nvPr/>
        </p:nvSpPr>
        <p:spPr>
          <a:xfrm>
            <a:off x="9447227" y="1905786"/>
            <a:ext cx="1864940" cy="527901"/>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SOCIAL MEDIA</a:t>
            </a:r>
          </a:p>
        </p:txBody>
      </p:sp>
      <p:sp>
        <p:nvSpPr>
          <p:cNvPr id="30" name="Rectangle 29">
            <a:extLst>
              <a:ext uri="{FF2B5EF4-FFF2-40B4-BE49-F238E27FC236}">
                <a16:creationId xmlns:a16="http://schemas.microsoft.com/office/drawing/2014/main" id="{91172778-807E-48EC-B64B-6D15A20ECB04}"/>
              </a:ext>
            </a:extLst>
          </p:cNvPr>
          <p:cNvSpPr/>
          <p:nvPr/>
        </p:nvSpPr>
        <p:spPr>
          <a:xfrm>
            <a:off x="9846640" y="2441547"/>
            <a:ext cx="1055804" cy="527901"/>
          </a:xfrm>
          <a:prstGeom prst="rect">
            <a:avLst/>
          </a:prstGeom>
          <a:solidFill>
            <a:schemeClr val="accent5">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PPC</a:t>
            </a:r>
          </a:p>
        </p:txBody>
      </p:sp>
      <p:sp>
        <p:nvSpPr>
          <p:cNvPr id="31" name="Rectangle 30">
            <a:extLst>
              <a:ext uri="{FF2B5EF4-FFF2-40B4-BE49-F238E27FC236}">
                <a16:creationId xmlns:a16="http://schemas.microsoft.com/office/drawing/2014/main" id="{800C58B2-2403-4F81-BB80-D44AAE224691}"/>
              </a:ext>
            </a:extLst>
          </p:cNvPr>
          <p:cNvSpPr/>
          <p:nvPr/>
        </p:nvSpPr>
        <p:spPr>
          <a:xfrm>
            <a:off x="9729144" y="3491053"/>
            <a:ext cx="1483839" cy="527901"/>
          </a:xfrm>
          <a:prstGeom prst="rect">
            <a:avLst/>
          </a:prstGeom>
          <a:solidFill>
            <a:schemeClr val="accent5">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ANIMATION</a:t>
            </a:r>
          </a:p>
        </p:txBody>
      </p:sp>
      <p:sp>
        <p:nvSpPr>
          <p:cNvPr id="32" name="Rectangle 31">
            <a:extLst>
              <a:ext uri="{FF2B5EF4-FFF2-40B4-BE49-F238E27FC236}">
                <a16:creationId xmlns:a16="http://schemas.microsoft.com/office/drawing/2014/main" id="{2865D269-F0F4-422A-86AE-883E27C21F8A}"/>
              </a:ext>
            </a:extLst>
          </p:cNvPr>
          <p:cNvSpPr/>
          <p:nvPr/>
        </p:nvSpPr>
        <p:spPr>
          <a:xfrm>
            <a:off x="9395380" y="2975730"/>
            <a:ext cx="2069872" cy="527901"/>
          </a:xfrm>
          <a:prstGeom prst="rect">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MOTION GRAPHIC</a:t>
            </a:r>
          </a:p>
        </p:txBody>
      </p:sp>
      <p:sp>
        <p:nvSpPr>
          <p:cNvPr id="33" name="Rectangle 32">
            <a:extLst>
              <a:ext uri="{FF2B5EF4-FFF2-40B4-BE49-F238E27FC236}">
                <a16:creationId xmlns:a16="http://schemas.microsoft.com/office/drawing/2014/main" id="{65A995C9-6E36-4ECF-AB55-D9839621F13C}"/>
              </a:ext>
            </a:extLst>
          </p:cNvPr>
          <p:cNvSpPr/>
          <p:nvPr/>
        </p:nvSpPr>
        <p:spPr>
          <a:xfrm>
            <a:off x="9734058" y="4547311"/>
            <a:ext cx="1483839" cy="527901"/>
          </a:xfrm>
          <a:prstGeom prst="rect">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COPYRIGHT</a:t>
            </a:r>
          </a:p>
        </p:txBody>
      </p:sp>
      <p:sp>
        <p:nvSpPr>
          <p:cNvPr id="34" name="Rectangle 33">
            <a:extLst>
              <a:ext uri="{FF2B5EF4-FFF2-40B4-BE49-F238E27FC236}">
                <a16:creationId xmlns:a16="http://schemas.microsoft.com/office/drawing/2014/main" id="{0DB09C87-D593-427B-B454-B4A8B595D0CA}"/>
              </a:ext>
            </a:extLst>
          </p:cNvPr>
          <p:cNvSpPr/>
          <p:nvPr/>
        </p:nvSpPr>
        <p:spPr>
          <a:xfrm>
            <a:off x="9653048" y="4017387"/>
            <a:ext cx="1621411" cy="527901"/>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CONTENT</a:t>
            </a:r>
          </a:p>
        </p:txBody>
      </p:sp>
      <p:sp>
        <p:nvSpPr>
          <p:cNvPr id="35" name="Rectangle 34">
            <a:extLst>
              <a:ext uri="{FF2B5EF4-FFF2-40B4-BE49-F238E27FC236}">
                <a16:creationId xmlns:a16="http://schemas.microsoft.com/office/drawing/2014/main" id="{99071255-086D-41DD-8D66-57D50540C129}"/>
              </a:ext>
            </a:extLst>
          </p:cNvPr>
          <p:cNvSpPr/>
          <p:nvPr/>
        </p:nvSpPr>
        <p:spPr>
          <a:xfrm>
            <a:off x="9992308" y="5075212"/>
            <a:ext cx="957509" cy="527901"/>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TECH</a:t>
            </a:r>
          </a:p>
        </p:txBody>
      </p:sp>
    </p:spTree>
    <p:extLst>
      <p:ext uri="{BB962C8B-B14F-4D97-AF65-F5344CB8AC3E}">
        <p14:creationId xmlns:p14="http://schemas.microsoft.com/office/powerpoint/2010/main" val="268456093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5">
            <a:extLst>
              <a:ext uri="{FF2B5EF4-FFF2-40B4-BE49-F238E27FC236}">
                <a16:creationId xmlns:a16="http://schemas.microsoft.com/office/drawing/2014/main" id="{70ABCC82-234B-4563-86B4-083035B4219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429" y="-18854"/>
            <a:ext cx="1131216" cy="948153"/>
          </a:xfrm>
          <a:prstGeom prst="rect">
            <a:avLst/>
          </a:prstGeom>
        </p:spPr>
      </p:pic>
      <p:pic>
        <p:nvPicPr>
          <p:cNvPr id="6" name="Picture 5">
            <a:extLst>
              <a:ext uri="{FF2B5EF4-FFF2-40B4-BE49-F238E27FC236}">
                <a16:creationId xmlns:a16="http://schemas.microsoft.com/office/drawing/2014/main" id="{6D13CCD8-3851-460C-B6C1-D401AE2C2F2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854082" y="6985"/>
            <a:ext cx="1337918" cy="941168"/>
          </a:xfrm>
          <a:prstGeom prst="rect">
            <a:avLst/>
          </a:prstGeom>
        </p:spPr>
      </p:pic>
      <p:sp>
        <p:nvSpPr>
          <p:cNvPr id="5" name="Rectangle 4">
            <a:extLst>
              <a:ext uri="{FF2B5EF4-FFF2-40B4-BE49-F238E27FC236}">
                <a16:creationId xmlns:a16="http://schemas.microsoft.com/office/drawing/2014/main" id="{ED694C74-7034-401B-8EF7-6B414289C3C7}"/>
              </a:ext>
            </a:extLst>
          </p:cNvPr>
          <p:cNvSpPr/>
          <p:nvPr/>
        </p:nvSpPr>
        <p:spPr>
          <a:xfrm>
            <a:off x="3940404" y="235670"/>
            <a:ext cx="5062194" cy="622169"/>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IN" sz="2800" b="1" dirty="0">
                <a:solidFill>
                  <a:schemeClr val="bg1"/>
                </a:solidFill>
              </a:rPr>
              <a:t>ACCOUNTABILITY</a:t>
            </a:r>
          </a:p>
        </p:txBody>
      </p:sp>
      <p:sp>
        <p:nvSpPr>
          <p:cNvPr id="7" name="TextBox 6">
            <a:extLst>
              <a:ext uri="{FF2B5EF4-FFF2-40B4-BE49-F238E27FC236}">
                <a16:creationId xmlns:a16="http://schemas.microsoft.com/office/drawing/2014/main" id="{B595BCD6-AAE9-4B7A-8084-EA1E91A237EC}"/>
              </a:ext>
            </a:extLst>
          </p:cNvPr>
          <p:cNvSpPr txBox="1"/>
          <p:nvPr/>
        </p:nvSpPr>
        <p:spPr>
          <a:xfrm>
            <a:off x="1979629" y="1847654"/>
            <a:ext cx="8371002" cy="4199611"/>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sz="2000" dirty="0"/>
              <a:t>Weekly work update to track campaign progress, user engagement, and platform performance. </a:t>
            </a:r>
          </a:p>
          <a:p>
            <a:pPr marL="285750" indent="-285750">
              <a:lnSpc>
                <a:spcPct val="150000"/>
              </a:lnSpc>
              <a:buFont typeface="Arial" panose="020B0604020202020204" pitchFamily="34" charset="0"/>
              <a:buChar char="•"/>
            </a:pPr>
            <a:r>
              <a:rPr lang="en-US" sz="2000" dirty="0"/>
              <a:t> Bi-monthly, a detailed strategy meeting to review and refine marketing &amp; user outreach plans — ensuring it is a co-creation process.</a:t>
            </a:r>
          </a:p>
          <a:p>
            <a:pPr marL="285750" indent="-285750">
              <a:lnSpc>
                <a:spcPct val="150000"/>
              </a:lnSpc>
              <a:buFont typeface="Arial" panose="020B0604020202020204" pitchFamily="34" charset="0"/>
              <a:buChar char="•"/>
            </a:pPr>
            <a:r>
              <a:rPr lang="en-US" sz="2000" dirty="0"/>
              <a:t>Monthly Review Meetings: Deep-dive into KPIs, keywords, user queries, and content (blogs, recipes, videos) — what’s working, what’s missing, corrective actions.</a:t>
            </a:r>
          </a:p>
          <a:p>
            <a:pPr marL="285750" indent="-285750">
              <a:lnSpc>
                <a:spcPct val="150000"/>
              </a:lnSpc>
              <a:buFont typeface="Arial" panose="020B0604020202020204" pitchFamily="34" charset="0"/>
              <a:buChar char="•"/>
            </a:pPr>
            <a:r>
              <a:rPr lang="en-US" sz="2000" dirty="0"/>
              <a:t> Ensures all promotions are accurate, transparent, user-friendly, and free from misleading claims about products.</a:t>
            </a:r>
            <a:endParaRPr lang="en-IN" sz="2000" dirty="0"/>
          </a:p>
        </p:txBody>
      </p:sp>
      <p:sp>
        <p:nvSpPr>
          <p:cNvPr id="8" name="Rectangle 7">
            <a:extLst>
              <a:ext uri="{FF2B5EF4-FFF2-40B4-BE49-F238E27FC236}">
                <a16:creationId xmlns:a16="http://schemas.microsoft.com/office/drawing/2014/main" id="{18CCB187-2F68-4A60-A1C1-FE580EBBD46B}"/>
              </a:ext>
            </a:extLst>
          </p:cNvPr>
          <p:cNvSpPr/>
          <p:nvPr/>
        </p:nvSpPr>
        <p:spPr>
          <a:xfrm>
            <a:off x="9425" y="948153"/>
            <a:ext cx="754144" cy="5909847"/>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vert="vert270" rtlCol="0" anchor="ctr"/>
          <a:lstStyle/>
          <a:p>
            <a:pPr algn="ctr"/>
            <a:r>
              <a:rPr lang="en-IN" sz="3200" b="1" dirty="0">
                <a:latin typeface="Algerian" panose="04020705040A02060702" pitchFamily="82" charset="0"/>
              </a:rPr>
              <a:t>SWEET KARAM COFFEE</a:t>
            </a:r>
          </a:p>
        </p:txBody>
      </p:sp>
    </p:spTree>
    <p:extLst>
      <p:ext uri="{BB962C8B-B14F-4D97-AF65-F5344CB8AC3E}">
        <p14:creationId xmlns:p14="http://schemas.microsoft.com/office/powerpoint/2010/main" val="58062044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B05BCF11-C900-4B58-A74B-C933D2A8D20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54082" y="6985"/>
            <a:ext cx="1337918" cy="941168"/>
          </a:xfrm>
          <a:prstGeom prst="rect">
            <a:avLst/>
          </a:prstGeom>
        </p:spPr>
      </p:pic>
      <p:pic>
        <p:nvPicPr>
          <p:cNvPr id="7" name="Content Placeholder 5">
            <a:extLst>
              <a:ext uri="{FF2B5EF4-FFF2-40B4-BE49-F238E27FC236}">
                <a16:creationId xmlns:a16="http://schemas.microsoft.com/office/drawing/2014/main" id="{8D69EA03-98A8-4F57-A5DE-150FE13E42B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429" y="-18854"/>
            <a:ext cx="1131216" cy="948153"/>
          </a:xfrm>
          <a:prstGeom prst="rect">
            <a:avLst/>
          </a:prstGeom>
        </p:spPr>
      </p:pic>
      <p:sp>
        <p:nvSpPr>
          <p:cNvPr id="4" name="TextBox 3">
            <a:extLst>
              <a:ext uri="{FF2B5EF4-FFF2-40B4-BE49-F238E27FC236}">
                <a16:creationId xmlns:a16="http://schemas.microsoft.com/office/drawing/2014/main" id="{274071F0-F3FF-469E-9DC1-FBFD41436881}"/>
              </a:ext>
            </a:extLst>
          </p:cNvPr>
          <p:cNvSpPr txBox="1"/>
          <p:nvPr/>
        </p:nvSpPr>
        <p:spPr>
          <a:xfrm>
            <a:off x="3780148" y="292231"/>
            <a:ext cx="4232636" cy="523220"/>
          </a:xfrm>
          <a:prstGeom prst="rect">
            <a:avLst/>
          </a:prstGeom>
        </p:spPr>
        <p:style>
          <a:lnRef idx="1">
            <a:schemeClr val="accent2"/>
          </a:lnRef>
          <a:fillRef idx="3">
            <a:schemeClr val="accent2"/>
          </a:fillRef>
          <a:effectRef idx="2">
            <a:schemeClr val="accent2"/>
          </a:effectRef>
          <a:fontRef idx="minor">
            <a:schemeClr val="lt1"/>
          </a:fontRef>
        </p:style>
        <p:txBody>
          <a:bodyPr wrap="square" rtlCol="0">
            <a:spAutoFit/>
          </a:bodyPr>
          <a:lstStyle/>
          <a:p>
            <a:pPr algn="ctr"/>
            <a:r>
              <a:rPr lang="en-IN" sz="2800" b="1" dirty="0"/>
              <a:t>ACCOUNTABILITY</a:t>
            </a:r>
          </a:p>
        </p:txBody>
      </p:sp>
      <p:graphicFrame>
        <p:nvGraphicFramePr>
          <p:cNvPr id="5" name="Diagram 4">
            <a:extLst>
              <a:ext uri="{FF2B5EF4-FFF2-40B4-BE49-F238E27FC236}">
                <a16:creationId xmlns:a16="http://schemas.microsoft.com/office/drawing/2014/main" id="{B8CB121B-546F-41D8-99D0-EA43375AE316}"/>
              </a:ext>
            </a:extLst>
          </p:cNvPr>
          <p:cNvGraphicFramePr/>
          <p:nvPr>
            <p:extLst>
              <p:ext uri="{D42A27DB-BD31-4B8C-83A1-F6EECF244321}">
                <p14:modId xmlns:p14="http://schemas.microsoft.com/office/powerpoint/2010/main" val="578206699"/>
              </p:ext>
            </p:extLst>
          </p:nvPr>
        </p:nvGraphicFramePr>
        <p:xfrm>
          <a:off x="193774" y="1351261"/>
          <a:ext cx="5667079" cy="5418667"/>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graphicFrame>
        <p:nvGraphicFramePr>
          <p:cNvPr id="8" name="Diagram 7">
            <a:extLst>
              <a:ext uri="{FF2B5EF4-FFF2-40B4-BE49-F238E27FC236}">
                <a16:creationId xmlns:a16="http://schemas.microsoft.com/office/drawing/2014/main" id="{DEB4C188-1FE4-416D-B4F0-91510A9BD16C}"/>
              </a:ext>
            </a:extLst>
          </p:cNvPr>
          <p:cNvGraphicFramePr/>
          <p:nvPr>
            <p:extLst>
              <p:ext uri="{D42A27DB-BD31-4B8C-83A1-F6EECF244321}">
                <p14:modId xmlns:p14="http://schemas.microsoft.com/office/powerpoint/2010/main" val="3619568570"/>
              </p:ext>
            </p:extLst>
          </p:nvPr>
        </p:nvGraphicFramePr>
        <p:xfrm>
          <a:off x="6935509" y="1447098"/>
          <a:ext cx="5536153" cy="5418667"/>
        </p:xfrm>
        <a:graphic>
          <a:graphicData uri="http://schemas.openxmlformats.org/drawingml/2006/diagram">
            <dgm:relIds xmlns:dgm="http://schemas.openxmlformats.org/drawingml/2006/diagram" xmlns:r="http://schemas.openxmlformats.org/officeDocument/2006/relationships" r:dm="rId9" r:lo="rId10" r:qs="rId11" r:cs="rId12"/>
          </a:graphicData>
        </a:graphic>
      </p:graphicFrame>
    </p:spTree>
    <p:extLst>
      <p:ext uri="{BB962C8B-B14F-4D97-AF65-F5344CB8AC3E}">
        <p14:creationId xmlns:p14="http://schemas.microsoft.com/office/powerpoint/2010/main" val="71077091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CDEC1232-5D2B-42B8-9FF0-DFCE0BCFF88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54082" y="6985"/>
            <a:ext cx="1337918" cy="941168"/>
          </a:xfrm>
          <a:prstGeom prst="rect">
            <a:avLst/>
          </a:prstGeom>
        </p:spPr>
      </p:pic>
      <p:pic>
        <p:nvPicPr>
          <p:cNvPr id="9" name="Content Placeholder 5">
            <a:extLst>
              <a:ext uri="{FF2B5EF4-FFF2-40B4-BE49-F238E27FC236}">
                <a16:creationId xmlns:a16="http://schemas.microsoft.com/office/drawing/2014/main" id="{C04E89D5-B28D-488F-9CEC-4BB2B14DEA8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429" y="9427"/>
            <a:ext cx="1131216" cy="948153"/>
          </a:xfrm>
          <a:prstGeom prst="rect">
            <a:avLst/>
          </a:prstGeom>
        </p:spPr>
      </p:pic>
      <p:sp>
        <p:nvSpPr>
          <p:cNvPr id="4" name="Rectangle 3">
            <a:extLst>
              <a:ext uri="{FF2B5EF4-FFF2-40B4-BE49-F238E27FC236}">
                <a16:creationId xmlns:a16="http://schemas.microsoft.com/office/drawing/2014/main" id="{4762961A-F900-4735-A32D-9C250E37C8A7}"/>
              </a:ext>
            </a:extLst>
          </p:cNvPr>
          <p:cNvSpPr/>
          <p:nvPr/>
        </p:nvSpPr>
        <p:spPr>
          <a:xfrm>
            <a:off x="3591612" y="197963"/>
            <a:ext cx="4769963" cy="612742"/>
          </a:xfrm>
          <a:prstGeom prst="rect">
            <a:avLst/>
          </a:prstGeom>
          <a:solidFill>
            <a:schemeClr val="accent2">
              <a:lumMod val="50000"/>
            </a:schemeClr>
          </a:solidFill>
        </p:spPr>
        <p:style>
          <a:lnRef idx="1">
            <a:schemeClr val="accent2"/>
          </a:lnRef>
          <a:fillRef idx="3">
            <a:schemeClr val="accent2"/>
          </a:fillRef>
          <a:effectRef idx="2">
            <a:schemeClr val="accent2"/>
          </a:effectRef>
          <a:fontRef idx="minor">
            <a:schemeClr val="lt1"/>
          </a:fontRef>
        </p:style>
        <p:txBody>
          <a:bodyPr rtlCol="0" anchor="ctr"/>
          <a:lstStyle/>
          <a:p>
            <a:pPr algn="ctr"/>
            <a:r>
              <a:rPr lang="en-IN" sz="2800" b="1" dirty="0"/>
              <a:t>ACTIVITIES</a:t>
            </a:r>
          </a:p>
        </p:txBody>
      </p:sp>
      <p:sp>
        <p:nvSpPr>
          <p:cNvPr id="2" name="TextBox 1">
            <a:extLst>
              <a:ext uri="{FF2B5EF4-FFF2-40B4-BE49-F238E27FC236}">
                <a16:creationId xmlns:a16="http://schemas.microsoft.com/office/drawing/2014/main" id="{302883DD-7E49-4AB9-8EC5-183F953969EA}"/>
              </a:ext>
            </a:extLst>
          </p:cNvPr>
          <p:cNvSpPr txBox="1"/>
          <p:nvPr/>
        </p:nvSpPr>
        <p:spPr>
          <a:xfrm>
            <a:off x="1555423" y="1414021"/>
            <a:ext cx="10331777" cy="4661276"/>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sz="2000" b="1" dirty="0"/>
              <a:t>SEO &amp; Content Marketing – </a:t>
            </a:r>
            <a:r>
              <a:rPr lang="en-US" sz="2000" dirty="0"/>
              <a:t>Improving keywords, website content, blogs and FAQs to increase organic traffic.</a:t>
            </a:r>
          </a:p>
          <a:p>
            <a:pPr marL="285750" indent="-285750">
              <a:lnSpc>
                <a:spcPct val="150000"/>
              </a:lnSpc>
              <a:buFont typeface="Arial" panose="020B0604020202020204" pitchFamily="34" charset="0"/>
              <a:buChar char="•"/>
            </a:pPr>
            <a:r>
              <a:rPr lang="en-US" sz="2000" b="1" dirty="0"/>
              <a:t>Google &amp; Meta Ads – </a:t>
            </a:r>
            <a:r>
              <a:rPr lang="en-US" sz="2000" dirty="0"/>
              <a:t>Running targeted ads to reach people interested in South Indian sweets, snacks and filter coffee.</a:t>
            </a:r>
          </a:p>
          <a:p>
            <a:pPr marL="285750" indent="-285750">
              <a:lnSpc>
                <a:spcPct val="150000"/>
              </a:lnSpc>
              <a:buFont typeface="Arial" panose="020B0604020202020204" pitchFamily="34" charset="0"/>
              <a:buChar char="•"/>
            </a:pPr>
            <a:r>
              <a:rPr lang="en-US" sz="2000" b="1" dirty="0"/>
              <a:t>Social Media Marketing – </a:t>
            </a:r>
            <a:r>
              <a:rPr lang="en-US" sz="2000" dirty="0"/>
              <a:t>Posting reels, product highlights, customer reviews and festival-related content on Instagram, Facebook and YouTube.</a:t>
            </a:r>
          </a:p>
          <a:p>
            <a:pPr marL="285750" indent="-285750">
              <a:lnSpc>
                <a:spcPct val="150000"/>
              </a:lnSpc>
              <a:buFont typeface="Arial" panose="020B0604020202020204" pitchFamily="34" charset="0"/>
              <a:buChar char="•"/>
            </a:pPr>
            <a:r>
              <a:rPr lang="en-US" sz="2000" b="1" dirty="0"/>
              <a:t>Customer Engagement – </a:t>
            </a:r>
            <a:r>
              <a:rPr lang="en-US" sz="2000" dirty="0"/>
              <a:t>Using WhatsApp, email and SMS to share offers, new products and stay connected with customers.</a:t>
            </a:r>
          </a:p>
          <a:p>
            <a:pPr marL="285750" indent="-285750">
              <a:lnSpc>
                <a:spcPct val="150000"/>
              </a:lnSpc>
              <a:buFont typeface="Arial" panose="020B0604020202020204" pitchFamily="34" charset="0"/>
              <a:buChar char="•"/>
            </a:pPr>
            <a:r>
              <a:rPr lang="en-US" sz="2000" b="1" dirty="0"/>
              <a:t>Website Improvement – </a:t>
            </a:r>
            <a:r>
              <a:rPr lang="en-US" sz="2000" dirty="0"/>
              <a:t>Improving page speed, landing pages, navigation and call-to-action buttons to make shopping easier.</a:t>
            </a:r>
            <a:endParaRPr lang="en-IN" sz="2000" dirty="0"/>
          </a:p>
        </p:txBody>
      </p:sp>
      <p:sp>
        <p:nvSpPr>
          <p:cNvPr id="7" name="Rectangle 6">
            <a:extLst>
              <a:ext uri="{FF2B5EF4-FFF2-40B4-BE49-F238E27FC236}">
                <a16:creationId xmlns:a16="http://schemas.microsoft.com/office/drawing/2014/main" id="{7F46141D-5661-4C4F-BF32-2E3B7286D4CD}"/>
              </a:ext>
            </a:extLst>
          </p:cNvPr>
          <p:cNvSpPr/>
          <p:nvPr/>
        </p:nvSpPr>
        <p:spPr>
          <a:xfrm>
            <a:off x="0" y="952903"/>
            <a:ext cx="584462" cy="5909810"/>
          </a:xfrm>
          <a:prstGeom prst="rect">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IN" sz="2800" b="1" dirty="0">
                <a:latin typeface="Calibri" panose="020F0502020204030204" pitchFamily="34" charset="0"/>
                <a:ea typeface="Calibri" panose="020F0502020204030204" pitchFamily="34" charset="0"/>
                <a:cs typeface="Calibri" panose="020F0502020204030204" pitchFamily="34" charset="0"/>
              </a:rPr>
              <a:t>SWEET KARAM COFFEE</a:t>
            </a:r>
          </a:p>
        </p:txBody>
      </p:sp>
    </p:spTree>
    <p:extLst>
      <p:ext uri="{BB962C8B-B14F-4D97-AF65-F5344CB8AC3E}">
        <p14:creationId xmlns:p14="http://schemas.microsoft.com/office/powerpoint/2010/main" val="317689319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B156AEE4-3FBA-4F68-A7C0-EA463982F2E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54082" y="6985"/>
            <a:ext cx="1337918" cy="941168"/>
          </a:xfrm>
          <a:prstGeom prst="rect">
            <a:avLst/>
          </a:prstGeom>
        </p:spPr>
      </p:pic>
      <p:pic>
        <p:nvPicPr>
          <p:cNvPr id="7" name="Content Placeholder 5">
            <a:extLst>
              <a:ext uri="{FF2B5EF4-FFF2-40B4-BE49-F238E27FC236}">
                <a16:creationId xmlns:a16="http://schemas.microsoft.com/office/drawing/2014/main" id="{5B7AC108-9A82-423E-8371-4DBEA2E44AC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429" y="-18854"/>
            <a:ext cx="1131216" cy="948153"/>
          </a:xfrm>
          <a:prstGeom prst="rect">
            <a:avLst/>
          </a:prstGeom>
        </p:spPr>
      </p:pic>
      <p:pic>
        <p:nvPicPr>
          <p:cNvPr id="14" name="Picture 13">
            <a:extLst>
              <a:ext uri="{FF2B5EF4-FFF2-40B4-BE49-F238E27FC236}">
                <a16:creationId xmlns:a16="http://schemas.microsoft.com/office/drawing/2014/main" id="{637FAE4A-5CA8-4A92-8EDC-875CA4AE4706}"/>
              </a:ext>
            </a:extLst>
          </p:cNvPr>
          <p:cNvPicPr>
            <a:picLocks noChangeAspect="1"/>
          </p:cNvPicPr>
          <p:nvPr/>
        </p:nvPicPr>
        <p:blipFill>
          <a:blip r:embed="rId4">
            <a:extLst>
              <a:ext uri="{28A0092B-C50C-407E-A947-70E740481C1C}">
                <a14:useLocalDpi xmlns:a14="http://schemas.microsoft.com/office/drawing/2010/main" val="0"/>
              </a:ext>
              <a:ext uri="{837473B0-CC2E-450A-ABE3-18F120FF3D39}">
                <a1611:picAttrSrcUrl xmlns:a1611="http://schemas.microsoft.com/office/drawing/2016/11/main" r:id="rId5"/>
              </a:ext>
            </a:extLst>
          </a:blip>
          <a:stretch>
            <a:fillRect/>
          </a:stretch>
        </p:blipFill>
        <p:spPr>
          <a:xfrm>
            <a:off x="1524000" y="381000"/>
            <a:ext cx="9165996" cy="6096000"/>
          </a:xfrm>
          <a:prstGeom prst="rect">
            <a:avLst/>
          </a:prstGeom>
        </p:spPr>
      </p:pic>
      <p:sp>
        <p:nvSpPr>
          <p:cNvPr id="15" name="TextBox 14">
            <a:extLst>
              <a:ext uri="{FF2B5EF4-FFF2-40B4-BE49-F238E27FC236}">
                <a16:creationId xmlns:a16="http://schemas.microsoft.com/office/drawing/2014/main" id="{C565A0A0-933E-4DEC-91FD-DB6A328F3D0F}"/>
              </a:ext>
            </a:extLst>
          </p:cNvPr>
          <p:cNvSpPr txBox="1"/>
          <p:nvPr/>
        </p:nvSpPr>
        <p:spPr>
          <a:xfrm>
            <a:off x="3893270" y="1480009"/>
            <a:ext cx="4449451" cy="523220"/>
          </a:xfrm>
          <a:prstGeom prst="rect">
            <a:avLst/>
          </a:prstGeom>
          <a:noFill/>
        </p:spPr>
        <p:txBody>
          <a:bodyPr wrap="square" rtlCol="0">
            <a:spAutoFit/>
          </a:bodyPr>
          <a:lstStyle/>
          <a:p>
            <a:pPr algn="ctr"/>
            <a:r>
              <a:rPr lang="en-IN" sz="2800" b="1" dirty="0">
                <a:solidFill>
                  <a:schemeClr val="bg1"/>
                </a:solidFill>
                <a:latin typeface="Georgia" panose="02040502050405020303" pitchFamily="18" charset="0"/>
              </a:rPr>
              <a:t>THANK YOU</a:t>
            </a:r>
          </a:p>
        </p:txBody>
      </p:sp>
      <p:sp>
        <p:nvSpPr>
          <p:cNvPr id="17" name="TextBox 16">
            <a:extLst>
              <a:ext uri="{FF2B5EF4-FFF2-40B4-BE49-F238E27FC236}">
                <a16:creationId xmlns:a16="http://schemas.microsoft.com/office/drawing/2014/main" id="{F91699C9-E210-411D-AF9E-45C60CB501B5}"/>
              </a:ext>
            </a:extLst>
          </p:cNvPr>
          <p:cNvSpPr txBox="1"/>
          <p:nvPr/>
        </p:nvSpPr>
        <p:spPr>
          <a:xfrm>
            <a:off x="7890235" y="4958499"/>
            <a:ext cx="2554664" cy="830997"/>
          </a:xfrm>
          <a:prstGeom prst="rect">
            <a:avLst/>
          </a:prstGeom>
          <a:noFill/>
        </p:spPr>
        <p:txBody>
          <a:bodyPr wrap="square" rtlCol="0">
            <a:spAutoFit/>
          </a:bodyPr>
          <a:lstStyle/>
          <a:p>
            <a:r>
              <a:rPr lang="en-IN" sz="2400" b="1" dirty="0">
                <a:solidFill>
                  <a:schemeClr val="bg1"/>
                </a:solidFill>
              </a:rPr>
              <a:t>Presented by</a:t>
            </a:r>
          </a:p>
          <a:p>
            <a:r>
              <a:rPr lang="en-IN" sz="2400" b="1" dirty="0">
                <a:solidFill>
                  <a:schemeClr val="bg1"/>
                </a:solidFill>
              </a:rPr>
              <a:t>Puja </a:t>
            </a:r>
            <a:r>
              <a:rPr lang="en-IN" sz="2400" b="1" dirty="0" err="1">
                <a:solidFill>
                  <a:schemeClr val="bg1"/>
                </a:solidFill>
              </a:rPr>
              <a:t>Karmakar</a:t>
            </a:r>
            <a:endParaRPr lang="en-IN" b="1" dirty="0">
              <a:solidFill>
                <a:schemeClr val="bg1"/>
              </a:solidFill>
            </a:endParaRPr>
          </a:p>
        </p:txBody>
      </p:sp>
    </p:spTree>
    <p:extLst>
      <p:ext uri="{BB962C8B-B14F-4D97-AF65-F5344CB8AC3E}">
        <p14:creationId xmlns:p14="http://schemas.microsoft.com/office/powerpoint/2010/main" val="245693270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 Boardroom</Template>
  <TotalTime>7083</TotalTime>
  <Words>6554</Words>
  <Application>Microsoft Office PowerPoint</Application>
  <PresentationFormat>Widescreen</PresentationFormat>
  <Paragraphs>1060</Paragraphs>
  <Slides>67</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67</vt:i4>
      </vt:variant>
    </vt:vector>
  </HeadingPairs>
  <TitlesOfParts>
    <vt:vector size="78" baseType="lpstr">
      <vt:lpstr>Algerian</vt:lpstr>
      <vt:lpstr>Arial</vt:lpstr>
      <vt:lpstr>Bell MT</vt:lpstr>
      <vt:lpstr>Bodoni MT Black</vt:lpstr>
      <vt:lpstr>Calibri</vt:lpstr>
      <vt:lpstr>Calibri Light</vt:lpstr>
      <vt:lpstr>Cambria</vt:lpstr>
      <vt:lpstr>Georgia</vt:lpstr>
      <vt:lpstr>Lucida Calligraphy</vt:lpstr>
      <vt:lpstr>Times New Roman</vt:lpstr>
      <vt:lpstr>Office Theme</vt:lpstr>
      <vt:lpstr>PowerPoint Presentation</vt:lpstr>
      <vt:lpstr>      ABOUT US</vt:lpstr>
      <vt:lpstr>   TABLE OF CONTENTS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SWEET KAREM COFFEE</dc:title>
  <dc:creator>PUJA PC</dc:creator>
  <cp:lastModifiedBy>PUJA PC</cp:lastModifiedBy>
  <cp:revision>301</cp:revision>
  <dcterms:created xsi:type="dcterms:W3CDTF">2026-08-26T04:49:16Z</dcterms:created>
  <dcterms:modified xsi:type="dcterms:W3CDTF">2026-09-24T14:16:06Z</dcterms:modified>
</cp:coreProperties>
</file>